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8-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97280"/>
            <a:ext cx="22860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PIERRE FABRE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6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Étape 4.2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Estimation PKPD (Simeoni, irinotécan)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des paramètres k1 et k2 — Validation du script 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91824"/>
          </a:solidFill>
          <a:ln w="12700">
            <a:solidFill>
              <a:srgbClr val="0918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8A"/>
                </a:solidFill>
              </a:rPr>
              <a:t>Mars 2026  |  Modèle de Simeoni  |  k1 = 0.638  |  k2 = 0.00106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du stage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script R capable d'estimer les paramètres PKPD d'un ADC (Antibody-Drug Conjugate) en développement chez Pierre Fabre, à partir de données précliniques sur souris.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43000"/>
            <a:ext cx="2651760" cy="7315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script est découpé en 5 étapes progressives. L'étape 4.2 est la dernière validation avant l'application au vrai projet confidentiel.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14300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4300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 des données publiques d'irinotécan (chimiothérapie colorectale) avant application à l'ADC du Projet Pierre Fabre.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modèle de Simeoni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73736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proliférantes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w₁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73736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endommagées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w₂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73736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endommagées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w₃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097280"/>
            <a:ext cx="173736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endommagées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w₄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377440" y="1645920"/>
            <a:ext cx="228600" cy="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508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604C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1645920"/>
            <a:ext cx="228600" cy="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1508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604C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645920"/>
            <a:ext cx="228600" cy="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508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604C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75320" y="1645920"/>
            <a:ext cx="0" cy="64008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04C"/>
                </a:solidFill>
              </a:rPr>
              <a:t>Mort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604C"/>
                </a:solidFill>
              </a:rPr>
              <a:t>cellulaire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08760" y="1097280"/>
            <a:ext cx="0" cy="457200"/>
          </a:xfrm>
          <a:prstGeom prst="line">
            <a:avLst/>
          </a:prstGeom>
          <a:noFill/>
          <a:ln w="25400">
            <a:solidFill>
              <a:srgbClr val="E8604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005840" y="868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04C"/>
                </a:solidFill>
              </a:rPr>
              <a:t>k₂ · C(t)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606040"/>
            <a:ext cx="54864" cy="59436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k₂ — Puissance du médicament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2880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la vitesse à laquelle le médicament transfère les cellules proliférantes vers les compartiments de dommages. Plus k₂ est élevé, plus l'effet cytotoxique est fort.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429000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k₁ — Vitesse de mort cellulaire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3703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la vitesse à laquelle les cellules endommagées meurent effectivement. Contrôle la dynamique du transit entre les 3 compartiments de dommages.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251960"/>
            <a:ext cx="54864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251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w₀ — Masse tumorale initiale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526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 du modèle. Doit être extrait des données expérimentales — une valeur arbitraire conduit à un décalage systématique du modèle.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Problèmes identifiés dans le script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822960" cy="1188720"/>
          </a:xfrm>
          <a:prstGeom prst="rect">
            <a:avLst/>
          </a:prstGeom>
          <a:solidFill>
            <a:srgbClr val="E8604C">
              <a:alpha val="15000"/>
            </a:srgbClr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Masse tumorale initiale w₀ incorrecte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508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Fixée arbitrairement à 0.081 g dans le script, alors que les vraies données démarrent à 0.114 g. Le modèle démarre en décalage systématique avec les observations, biaisant toute l'estimation.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377440"/>
            <a:ext cx="822960" cy="1188720"/>
          </a:xfrm>
          <a:prstGeom prst="rect">
            <a:avLst/>
          </a:prstGeom>
          <a:solidFill>
            <a:srgbClr val="E8604C">
              <a:alpha val="15000"/>
            </a:srgbClr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de mesure mal placé dans PD60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834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de mesure était mal ordonné dans le fichier de données PD60. Le solveur ODE plantait silencieusement — sans aucun message d'erreur — aboutissant à des courbes parasites.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0332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03320"/>
            <a:ext cx="822960" cy="1188720"/>
          </a:xfrm>
          <a:prstGeom prst="rect">
            <a:avLst/>
          </a:prstGeom>
          <a:solidFill>
            <a:srgbClr val="E8604C">
              <a:alpha val="15000"/>
            </a:srgbClr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033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840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Optimiseur local piégé dans un faux minimum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1605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L'optimiseur nlminb utilisé est local : il convergeait vers un minimum où les deux doses (45 et 60 mg/kg) donnaient des courbes quasi-identiques — ce qui est biologiquement absurde.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Corrections apportées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822960" cy="118872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143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 de w₀ depuis les données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1481328"/>
            <a:ext cx="502920" cy="20116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481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011680" y="148132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fixé arbitrairement à 0.081 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737360"/>
            <a:ext cx="50292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7373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APRÈS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011680" y="17099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sur les premières mesures pour estimer w₀ = 0.114 g directement depuis les données expérimentales.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377440"/>
            <a:ext cx="822960" cy="118872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7744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2468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 systématique des données à la lecture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63040" y="2807208"/>
            <a:ext cx="502920" cy="20116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28072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AVANT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011680" y="280720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contrôle de l'ordre des mesures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63040" y="3063240"/>
            <a:ext cx="50292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3063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APRÈS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011680" y="303580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tri par temps (order(time)) à chaque chargement de fichier PD, garantissant que le solveur ODE reçoit toujours des données ordonnées.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703320"/>
            <a:ext cx="822960" cy="118872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033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3794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Remplacement de nlminb par DEoptim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463040" y="4133088"/>
            <a:ext cx="502920" cy="201168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4133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AVANT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011680" y="413308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locale nlminb → faux minimum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63040" y="4389120"/>
            <a:ext cx="50292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4389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APRÈS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011680" y="436168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 explore l'espace des paramètres en entier (algorithme évolutionnaire global) avant de converger — standard pour les problèmes PKPD non-linéaires.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Résultats — Comparaison avant / après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097280" cy="25603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109728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APRÈS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1872"/>
            <a:ext cx="4114800" cy="26060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61872"/>
            <a:ext cx="4114800" cy="2606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40233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4C"/>
                </a:solidFill>
              </a:rPr>
              <a:t>0.31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029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k₁ AVANT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60320" y="40233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032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0.638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5603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k₁ APRÈS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17720" y="40233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1772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04C"/>
                </a:solidFill>
              </a:rPr>
              <a:t>0.000675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6177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k₂ AVANT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675120" y="40233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75120" y="4069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0.00106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6751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A8A"/>
                </a:solidFill>
              </a:rPr>
              <a:t>k₂ APRÈS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2920" y="48463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deux doses sont maintenant clairement différenciées, cohérent avec l'effet biologique attendu (60 mg/kg &gt; 45 mg/kg)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0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3 corrections ont suffi à rendre l'estimation biologiquement cohérente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de w₀ par régression → initialisation correcte du modèle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données → solveur ODE stable et sans erreur silencieuse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DEoptim (global) → estimation robuste, k1 et k2 proches des valeurs publiées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8046720" cy="109728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66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Prochaine étape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du script validé aux données précliniques de l'ADC Pierre Fabre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référence Simeoni : k1 ≈ 0.7 | k2 ≈ 0.0015  →  nos estimations : k1 = 0.638 | k2 = 0.00106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D2E9E"/>
          </a:solidFill>
          <a:ln w="12700">
            <a:solidFill>
              <a:srgbClr val="6D2E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Reproduction du modèle — Hématopoïèse Rat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80960" y="164592"/>
            <a:ext cx="1325880" cy="292608"/>
          </a:xfrm>
          <a:prstGeom prst="rect">
            <a:avLst/>
          </a:prstGeom>
          <a:solidFill>
            <a:srgbClr val="6D2E9E"/>
          </a:solidFill>
          <a:ln w="12700">
            <a:solidFill>
              <a:srgbClr val="6D2E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645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Carboplatin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80960" y="475488"/>
            <a:ext cx="1325880" cy="256032"/>
          </a:xfrm>
          <a:prstGeom prst="rect">
            <a:avLst/>
          </a:prstGeom>
          <a:solidFill>
            <a:srgbClr val="4A1E6E"/>
          </a:solidFill>
          <a:ln w="12700">
            <a:solidFill>
              <a:srgbClr val="4A1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475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40 mg/kg Q14D×8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87552"/>
            <a:ext cx="5577840" cy="3931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98755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987552"/>
            <a:ext cx="2743200" cy="64008"/>
          </a:xfrm>
          <a:prstGeom prst="rect">
            <a:avLst/>
          </a:prstGeom>
          <a:solidFill>
            <a:srgbClr val="6D2E9E"/>
          </a:solidFill>
          <a:ln w="12700">
            <a:solidFill>
              <a:srgbClr val="6D2E9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lignées simulées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1371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MPP, Neutrophiles, CMP, Monocytes, MEP, Plaquettes, Réticulocytes, GR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231343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2313432"/>
            <a:ext cx="27432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Résultat clé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9360" y="2697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reproduit les oscillations cycliques observées après chaque injection (○ = données, ligne = modèle).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2200" y="363931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3639312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du modèle PK→Damage→Hématopoïèse avant application à l'ADC Pierre Fabre.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846320"/>
            <a:ext cx="8503920" cy="228600"/>
          </a:xfrm>
          <a:prstGeom prst="rect">
            <a:avLst/>
          </a:prstGeom>
          <a:solidFill>
            <a:srgbClr val="6D2E9E">
              <a:alpha val="12000"/>
            </a:srgbClr>
          </a:solidFill>
          <a:ln w="6350">
            <a:solidFill>
              <a:srgbClr val="6D2E9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2E9E"/>
                </a:solidFill>
              </a:rPr>
              <a:t>Réunion précédente — Résultat obtenu avant l'étape 4.2 | Modèle de Friberg et al.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Reproduction du modèle — Rat (Carboplatin)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3474720" cy="91440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Trebuchet MS"/>
              </a:rPr>
              <a:t>✓  Modèle reproduit avec succès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Hématopoïèse — Rat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54864" cy="5029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Trebuchet MS"/>
              </a:rPr>
              <a:t>Molécule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500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Carboplatine  40 mg/kg  Q14D ×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16352"/>
            <a:ext cx="54864" cy="5029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1635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Trebuchet MS"/>
              </a:rPr>
              <a:t>Espèce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Rat (adaptation depuis la souris)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29584"/>
            <a:ext cx="54864" cy="5029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295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Trebuchet MS"/>
              </a:rPr>
              <a:t>Cellules modélisées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764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8 types : progéniteurs, neutrophiles,
monocytes, plaquettes, GR, réticulocytes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42816"/>
            <a:ext cx="54864" cy="5029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428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Trebuchet MS"/>
              </a:rPr>
              <a:t>Résultat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Ajustement modèle/données cohérent
sur toute la cinétique (125 jours)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05840"/>
            <a:ext cx="4754880" cy="3931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482803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28090"/>
                </a:solidFill>
                <a:latin typeface="Calibri"/>
              </a:rPr>
              <a:t>→ Prochaine étape : application à l'ADC Pierre Fabre (transfert souris → rat → homme)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/>
          </a:solidFill>
          <a:ln>
            <a:solidFill>
              <a:srgbClr val="F4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>
            <a:solidFill>
              <a:srgbClr val="0D2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C359E"/>
          </a:solidFill>
          <a:ln>
            <a:solidFill>
              <a:srgbClr val="5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Trebuchet MS"/>
              </a:rPr>
              <a:t>Transfert Rat → Humain — Carboplatin Q21D × 2</a:t>
            </a:r>
          </a:p>
        </p:txBody>
      </p:sp>
      <p:pic>
        <p:nvPicPr>
          <p:cNvPr id="6" name="Picture 5" descr="177253046540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87552"/>
            <a:ext cx="5486400" cy="3886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80760" y="987552"/>
            <a:ext cx="28346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987552"/>
            <a:ext cx="54864" cy="141732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02412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Trebuchet MS"/>
              </a:rPr>
              <a:t>Overlay rat → humain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335024"/>
            <a:ext cx="2633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Les paramètres PK estimés sur le rat sont transférés directement au modèle humain. Les courbes (lignes) sont les prédictions du modèle superposées aux données cliniques (cercles).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514600"/>
            <a:ext cx="28346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514600"/>
            <a:ext cx="54864" cy="1325880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55117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604C"/>
                </a:solidFill>
                <a:latin typeface="Trebuchet MS"/>
              </a:rPr>
              <a:t>Ce qu'on 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834640"/>
            <a:ext cx="2633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Les oscillations cycliques (nadirs) après chaque dose sont bien reproduites sur neutrophiles et plaquettes. Quelques points hors courbe indiquent une variabilité inter-patient non modélisée.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931920"/>
            <a:ext cx="28346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3931920"/>
            <a:ext cx="54864" cy="96012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39684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Trebuchet MS"/>
              </a:rPr>
              <a:t>Significance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26110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  <a:latin typeface="Calibri"/>
              </a:rPr>
              <a:t>Valide la chaîne complète : souris → rat → humain. Base pour prédire la toxicité hématologique de l'ADC.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46320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E7A8A"/>
                </a:solidFill>
                <a:latin typeface="Calibri"/>
              </a:rPr>
              <a:t>→ Transfert inter-espèce réussi  |  Modèle de Friberg et al.  |  Carboplatin (Human) Q21D ×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Étape 4.2 — Estimation PKPD</dc:title>
  <dc:subject>PptxGenJS Presentation</dc:subject>
  <dc:creator>Stage Pierre Fabre</dc:creator>
  <cp:lastModifiedBy>Stage Pierre Fabre</cp:lastModifiedBy>
  <cp:revision>1</cp:revision>
  <dcterms:created xsi:type="dcterms:W3CDTF">2026-03-02T15:14:21Z</dcterms:created>
  <dcterms:modified xsi:type="dcterms:W3CDTF">2026-03-02T15:14:21Z</dcterms:modified>
</cp:coreProperties>
</file>