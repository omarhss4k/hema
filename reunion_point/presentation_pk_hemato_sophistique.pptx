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1" r:id="rId5"/>
    <p:sldId id="2562" r:id="rId6"/>
    <p:sldId id="2563" r:id="rId7"/>
    <p:sldId id="2564" r:id="rId8"/>
    <p:sldId id="2565" r:id="rId9"/>
    <p:sldId id="2566" r:id="rId10"/>
    <p:sldId id="2567" r:id="rId11"/>
    <p:sldId id="2568" r:id="rId12"/>
    <p:sldId id="2570" r:id="rId13"/>
    <p:sldId id="2571" r:id="rId14"/>
    <p:sldId id="2569" r:id="rId15"/>
    <p:sldId id="2572" r:id="rId16"/>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modèles PK et hématotoxicité" id="{7F5A6011-0CB2-4E8C-969D-0779B1B05BC3}">
          <p14:sldIdLst>
            <p14:sldId id="2561"/>
          </p14:sldIdLst>
        </p14:section>
        <p14:section name="Pharmacocinétique (PK) — Compréhension approfondie" id="{4B22095D-A347-40AF-B89F-585303928ED6}">
          <p14:sldIdLst>
            <p14:sldId id="2562"/>
            <p14:sldId id="2563"/>
          </p14:sldIdLst>
        </p14:section>
        <p14:section name="Hématologie — Compréhension de la production sanguine" id="{B11A91AE-8994-4E69-8FB9-5B2F8E2523EA}">
          <p14:sldIdLst>
            <p14:sldId id="2564"/>
            <p14:sldId id="2565"/>
          </p14:sldIdLst>
        </p14:section>
        <p14:section name="Mon avancée et résultats de simulation" id="{91500783-90DE-4358-B5A8-691E03BB925B}">
          <p14:sldIdLst>
            <p14:sldId id="2566"/>
            <p14:sldId id="2567"/>
            <p14:sldId id="2568"/>
            <p14:sldId id="2570"/>
            <p14:sldId id="2571"/>
            <p14:sldId id="2569"/>
            <p14:sldId id="25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093E34-70D8-036F-5B1D-D66C80E1D25B}" v="28" dt="2026-02-17T10:17:59.805"/>
    <p1510:client id="{C837A9A8-4101-424A-8324-40C2B9694187}" v="10" dt="2026-02-16T10:23:36.352"/>
    <p1510:client id="{E5F9835C-9787-BAC8-246E-4371A45BD81D}" v="5" dt="2026-02-16T15:22:44.762"/>
    <p1510:client id="{F8D577FA-4392-AEBC-0D65-2213F8348038}" v="111" dt="2026-02-17T12:14:57.8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322D92D-4C58-458C-927A-F0BEA3838782}" type="datetimeFigureOut">
              <a:rPr lang="en-US" smtClean="0"/>
              <a:t>3/9/2026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F33B1E9-4097-46EC-A95C-50DA1D05B817}" type="slidenum">
              <a:rPr lang="en-US" smtClean="0"/>
              <a:t>‹N°›</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pPr rtl="0"/>
            <a:fld id="{CF33B1E9-4097-46EC-A95C-50DA1D05B817}" type="slidenum">
              <a:rPr lang="en-US" smtClean="0"/>
              <a:t>1</a:t>
            </a:fld>
            <a:endParaRPr lang="en-US"/>
          </a:p>
        </p:txBody>
      </p:sp>
    </p:spTree>
    <p:extLst>
      <p:ext uri="{BB962C8B-B14F-4D97-AF65-F5344CB8AC3E}">
        <p14:creationId xmlns:p14="http://schemas.microsoft.com/office/powerpoint/2010/main" val="38655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Principe général et rôle de la PK</a:t>
            </a:r>
          </a:p>
        </p:txBody>
      </p:sp>
      <p:sp>
        <p:nvSpPr>
          <p:cNvPr id="4" name="Slide Number Placeholder 3"/>
          <p:cNvSpPr>
            <a:spLocks noGrp="1"/>
          </p:cNvSpPr>
          <p:nvPr>
            <p:ph type="sldNum" sz="quarter" idx="5"/>
          </p:nvPr>
        </p:nvSpPr>
        <p:spPr/>
        <p:txBody>
          <a:bodyPr/>
          <a:lstStyle/>
          <a:p>
            <a:pPr rtl="0"/>
            <a:fld id="{CF33B1E9-4097-46EC-A95C-50DA1D05B817}" type="slidenum">
              <a:rPr lang="en-US" smtClean="0"/>
              <a:t>2</a:t>
            </a:fld>
            <a:endParaRPr lang="en-US"/>
          </a:p>
        </p:txBody>
      </p:sp>
    </p:spTree>
    <p:extLst>
      <p:ext uri="{BB962C8B-B14F-4D97-AF65-F5344CB8AC3E}">
        <p14:creationId xmlns:p14="http://schemas.microsoft.com/office/powerpoint/2010/main" val="2809128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en-US" dirty="0"/>
              <a:t>Je commence par la </a:t>
            </a:r>
            <a:r>
              <a:rPr lang="en-US" dirty="0" err="1"/>
              <a:t>pharmacocinétique</a:t>
            </a:r>
            <a:r>
              <a:rPr lang="en-US" dirty="0"/>
              <a:t>, </a:t>
            </a:r>
            <a:r>
              <a:rPr lang="en-US" dirty="0" err="1"/>
              <a:t>c’est</a:t>
            </a:r>
            <a:r>
              <a:rPr lang="en-US" dirty="0"/>
              <a:t>‑à‑dire</a:t>
            </a:r>
            <a:r>
              <a:rPr lang="en-US"/>
              <a:t> comment </a:t>
            </a:r>
            <a:r>
              <a:rPr lang="en-US" dirty="0"/>
              <a:t>le </a:t>
            </a:r>
            <a:r>
              <a:rPr lang="en-US" dirty="0" err="1"/>
              <a:t>médicament</a:t>
            </a:r>
            <a:r>
              <a:rPr lang="en-US"/>
              <a:t> </a:t>
            </a:r>
            <a:r>
              <a:rPr lang="en-US" dirty="0" err="1"/>
              <a:t>circule</a:t>
            </a:r>
            <a:r>
              <a:rPr lang="en-US"/>
              <a:t> dans </a:t>
            </a:r>
            <a:r>
              <a:rPr lang="en-US" dirty="0" err="1"/>
              <a:t>l’organisme</a:t>
            </a:r>
            <a:r>
              <a:rPr lang="en-US"/>
              <a:t>.</a:t>
            </a:r>
            <a:br>
              <a:rPr lang="en-US" dirty="0">
                <a:cs typeface="+mn-lt"/>
              </a:rPr>
            </a:br>
            <a:r>
              <a:rPr lang="en-US"/>
              <a:t> Dans </a:t>
            </a:r>
            <a:r>
              <a:rPr lang="en-US" dirty="0" err="1"/>
              <a:t>mon</a:t>
            </a:r>
            <a:r>
              <a:rPr lang="en-US" dirty="0"/>
              <a:t> travail</a:t>
            </a:r>
            <a:r>
              <a:rPr lang="en-US"/>
              <a:t>, </a:t>
            </a:r>
            <a:r>
              <a:rPr lang="en-US" dirty="0" err="1"/>
              <a:t>j’utilise</a:t>
            </a:r>
            <a:r>
              <a:rPr lang="en-US" dirty="0"/>
              <a:t> </a:t>
            </a:r>
            <a:r>
              <a:rPr lang="en-US"/>
              <a:t>un </a:t>
            </a:r>
            <a:r>
              <a:rPr lang="en-US" dirty="0" err="1"/>
              <a:t>modèle</a:t>
            </a:r>
            <a:r>
              <a:rPr lang="en-US" dirty="0"/>
              <a:t> </a:t>
            </a:r>
            <a:r>
              <a:rPr lang="en-US"/>
              <a:t>à deux </a:t>
            </a:r>
            <a:r>
              <a:rPr lang="en-US" dirty="0" err="1"/>
              <a:t>compartiments</a:t>
            </a:r>
            <a:r>
              <a:rPr lang="en-US"/>
              <a:t> : un </a:t>
            </a:r>
            <a:r>
              <a:rPr lang="en-US" dirty="0" err="1"/>
              <a:t>compartiment</a:t>
            </a:r>
            <a:r>
              <a:rPr lang="en-US"/>
              <a:t> central </a:t>
            </a:r>
            <a:r>
              <a:rPr lang="en-US" dirty="0"/>
              <a:t>qui </a:t>
            </a:r>
            <a:r>
              <a:rPr lang="en-US" dirty="0" err="1"/>
              <a:t>représente</a:t>
            </a:r>
            <a:r>
              <a:rPr lang="en-US" dirty="0"/>
              <a:t> </a:t>
            </a:r>
            <a:r>
              <a:rPr lang="en-US"/>
              <a:t>le sang</a:t>
            </a:r>
            <a:r>
              <a:rPr lang="en-US" dirty="0"/>
              <a:t>,</a:t>
            </a:r>
            <a:r>
              <a:rPr lang="en-US"/>
              <a:t> et un </a:t>
            </a:r>
            <a:r>
              <a:rPr lang="en-US" dirty="0" err="1"/>
              <a:t>compartiment</a:t>
            </a:r>
            <a:r>
              <a:rPr lang="en-US"/>
              <a:t> périphérique </a:t>
            </a:r>
            <a:r>
              <a:rPr lang="en-US" dirty="0"/>
              <a:t>qui </a:t>
            </a:r>
            <a:r>
              <a:rPr lang="en-US" dirty="0" err="1"/>
              <a:t>représente</a:t>
            </a:r>
            <a:r>
              <a:rPr lang="en-US" dirty="0"/>
              <a:t> les </a:t>
            </a:r>
            <a:r>
              <a:rPr lang="en-US" dirty="0" err="1"/>
              <a:t>tissus</a:t>
            </a:r>
            <a:r>
              <a:rPr lang="en-US"/>
              <a:t>.</a:t>
            </a:r>
            <a:br>
              <a:rPr lang="en-US" dirty="0">
                <a:cs typeface="+mn-lt"/>
              </a:rPr>
            </a:br>
            <a:r>
              <a:rPr lang="en-US" dirty="0"/>
              <a:t> Les </a:t>
            </a:r>
            <a:r>
              <a:rPr lang="en-US" dirty="0" err="1"/>
              <a:t>paramètres</a:t>
            </a:r>
            <a:r>
              <a:rPr lang="en-US" dirty="0"/>
              <a:t> </a:t>
            </a:r>
            <a:r>
              <a:rPr lang="en-US" dirty="0" err="1"/>
              <a:t>importants</a:t>
            </a:r>
            <a:r>
              <a:rPr lang="en-US" dirty="0"/>
              <a:t> </a:t>
            </a:r>
            <a:r>
              <a:rPr lang="en-US" dirty="0" err="1"/>
              <a:t>sont</a:t>
            </a:r>
            <a:r>
              <a:rPr lang="en-US"/>
              <a:t> la </a:t>
            </a:r>
            <a:r>
              <a:rPr lang="en-US" dirty="0" err="1"/>
              <a:t>clairance</a:t>
            </a:r>
            <a:r>
              <a:rPr lang="en-US" dirty="0"/>
              <a:t>, qui</a:t>
            </a:r>
            <a:r>
              <a:rPr lang="en-US"/>
              <a:t> </a:t>
            </a:r>
            <a:r>
              <a:rPr lang="en-US" dirty="0" err="1"/>
              <a:t>indique</a:t>
            </a:r>
            <a:r>
              <a:rPr lang="en-US"/>
              <a:t> à </a:t>
            </a:r>
            <a:r>
              <a:rPr lang="en-US" dirty="0"/>
              <a:t>quelle </a:t>
            </a:r>
            <a:r>
              <a:rPr lang="en-US" dirty="0" err="1"/>
              <a:t>vitesse</a:t>
            </a:r>
            <a:r>
              <a:rPr lang="en-US" dirty="0"/>
              <a:t> le </a:t>
            </a:r>
            <a:r>
              <a:rPr lang="en-US" dirty="0" err="1"/>
              <a:t>médicament</a:t>
            </a:r>
            <a:r>
              <a:rPr lang="en-US" dirty="0"/>
              <a:t> </a:t>
            </a:r>
            <a:r>
              <a:rPr lang="en-US" dirty="0" err="1"/>
              <a:t>disparaît</a:t>
            </a:r>
            <a:r>
              <a:rPr lang="en-US" dirty="0"/>
              <a:t> </a:t>
            </a:r>
            <a:r>
              <a:rPr lang="en-US"/>
              <a:t>du sang</a:t>
            </a:r>
            <a:r>
              <a:rPr lang="en-US" dirty="0"/>
              <a:t> ; </a:t>
            </a:r>
            <a:r>
              <a:rPr lang="en-US"/>
              <a:t>les volumes V1 et V2</a:t>
            </a:r>
            <a:r>
              <a:rPr lang="en-US" dirty="0"/>
              <a:t>, qui </a:t>
            </a:r>
            <a:r>
              <a:rPr lang="en-US" dirty="0" err="1"/>
              <a:t>décrivent</a:t>
            </a:r>
            <a:r>
              <a:rPr lang="en-US" dirty="0"/>
              <a:t> comment il se </a:t>
            </a:r>
            <a:r>
              <a:rPr lang="en-US" dirty="0" err="1"/>
              <a:t>répartit</a:t>
            </a:r>
            <a:r>
              <a:rPr lang="en-US" dirty="0"/>
              <a:t> ; et le</a:t>
            </a:r>
            <a:r>
              <a:rPr lang="en-US"/>
              <a:t> </a:t>
            </a:r>
            <a:r>
              <a:rPr lang="en-US" dirty="0" err="1"/>
              <a:t>paramètre</a:t>
            </a:r>
            <a:r>
              <a:rPr lang="en-US"/>
              <a:t> Q</a:t>
            </a:r>
            <a:r>
              <a:rPr lang="en-US" dirty="0"/>
              <a:t>, qui</a:t>
            </a:r>
            <a:r>
              <a:rPr lang="en-US"/>
              <a:t> </a:t>
            </a:r>
            <a:r>
              <a:rPr lang="en-US" dirty="0" err="1"/>
              <a:t>représente</a:t>
            </a:r>
            <a:r>
              <a:rPr lang="en-US"/>
              <a:t> les </a:t>
            </a:r>
            <a:r>
              <a:rPr lang="en-US" dirty="0" err="1"/>
              <a:t>échanges</a:t>
            </a:r>
            <a:r>
              <a:rPr lang="en-US"/>
              <a:t> entre </a:t>
            </a:r>
            <a:r>
              <a:rPr lang="en-US" dirty="0"/>
              <a:t>les deux </a:t>
            </a:r>
            <a:r>
              <a:rPr lang="en-US" dirty="0" err="1"/>
              <a:t>compartiments</a:t>
            </a:r>
            <a:r>
              <a:rPr lang="en-US"/>
              <a:t>.</a:t>
            </a:r>
            <a:br>
              <a:rPr lang="en-US" dirty="0">
                <a:cs typeface="+mn-lt"/>
              </a:rPr>
            </a:br>
            <a:r>
              <a:rPr lang="en-US" dirty="0"/>
              <a:t> Ensuite, </a:t>
            </a:r>
            <a:r>
              <a:rPr lang="en-US" dirty="0" err="1"/>
              <a:t>j’ai</a:t>
            </a:r>
            <a:r>
              <a:rPr lang="en-US" dirty="0"/>
              <a:t> </a:t>
            </a:r>
            <a:r>
              <a:rPr lang="en-US" dirty="0" err="1"/>
              <a:t>simulé</a:t>
            </a:r>
            <a:r>
              <a:rPr lang="en-US"/>
              <a:t> </a:t>
            </a:r>
            <a:r>
              <a:rPr lang="en-US" dirty="0" err="1"/>
              <a:t>l’évolution</a:t>
            </a:r>
            <a:r>
              <a:rPr lang="en-US"/>
              <a:t> de la concentration après </a:t>
            </a:r>
            <a:r>
              <a:rPr lang="en-US" dirty="0" err="1"/>
              <a:t>une</a:t>
            </a:r>
            <a:r>
              <a:rPr lang="en-US"/>
              <a:t> perfusion</a:t>
            </a:r>
            <a:r>
              <a:rPr lang="en-US" dirty="0"/>
              <a:t>. On observe </a:t>
            </a:r>
            <a:r>
              <a:rPr lang="en-US" dirty="0" err="1"/>
              <a:t>une</a:t>
            </a:r>
            <a:r>
              <a:rPr lang="en-US" dirty="0"/>
              <a:t> </a:t>
            </a:r>
            <a:r>
              <a:rPr lang="en-US"/>
              <a:t>montée de </a:t>
            </a:r>
            <a:r>
              <a:rPr lang="en-US" dirty="0"/>
              <a:t>la </a:t>
            </a:r>
            <a:r>
              <a:rPr lang="en-US"/>
              <a:t>concentration</a:t>
            </a:r>
            <a:r>
              <a:rPr lang="en-US" dirty="0"/>
              <a:t>, un pic,</a:t>
            </a:r>
            <a:r>
              <a:rPr lang="en-US"/>
              <a:t> </a:t>
            </a:r>
            <a:r>
              <a:rPr lang="en-US" dirty="0" err="1"/>
              <a:t>puis</a:t>
            </a:r>
            <a:r>
              <a:rPr lang="en-US"/>
              <a:t> </a:t>
            </a:r>
            <a:r>
              <a:rPr lang="en-US" dirty="0" err="1"/>
              <a:t>une</a:t>
            </a:r>
            <a:r>
              <a:rPr lang="en-US" dirty="0"/>
              <a:t> </a:t>
            </a:r>
            <a:r>
              <a:rPr lang="en-US" dirty="0" err="1"/>
              <a:t>élimination</a:t>
            </a:r>
            <a:r>
              <a:rPr lang="en-US" dirty="0"/>
              <a:t> progressive</a:t>
            </a:r>
            <a:r>
              <a:rPr lang="en-US"/>
              <a:t>.</a:t>
            </a:r>
            <a:br>
              <a:rPr lang="en-US" dirty="0">
                <a:cs typeface="+mn-lt"/>
              </a:rPr>
            </a:br>
            <a:r>
              <a:rPr lang="en-US" dirty="0"/>
              <a:t> Cette </a:t>
            </a:r>
            <a:r>
              <a:rPr lang="en-US" dirty="0" err="1"/>
              <a:t>dynamique</a:t>
            </a:r>
            <a:r>
              <a:rPr lang="en-US" dirty="0"/>
              <a:t> PK</a:t>
            </a:r>
            <a:r>
              <a:rPr lang="en-US"/>
              <a:t> est </a:t>
            </a:r>
            <a:r>
              <a:rPr lang="en-US" dirty="0" err="1"/>
              <a:t>essentielle</a:t>
            </a:r>
            <a:r>
              <a:rPr lang="en-US"/>
              <a:t>, </a:t>
            </a:r>
            <a:r>
              <a:rPr lang="en-US" dirty="0" err="1"/>
              <a:t>parce</a:t>
            </a:r>
            <a:r>
              <a:rPr lang="en-US" dirty="0"/>
              <a:t> </a:t>
            </a:r>
            <a:r>
              <a:rPr lang="en-US" dirty="0" err="1"/>
              <a:t>que</a:t>
            </a:r>
            <a:r>
              <a:rPr lang="en-US" dirty="0"/>
              <a:t> plus </a:t>
            </a:r>
            <a:r>
              <a:rPr lang="en-US"/>
              <a:t>la concentration </a:t>
            </a:r>
            <a:r>
              <a:rPr lang="en-US" dirty="0"/>
              <a:t>dans le sang </a:t>
            </a:r>
            <a:r>
              <a:rPr lang="en-US"/>
              <a:t>est </a:t>
            </a:r>
            <a:r>
              <a:rPr lang="en-US" dirty="0" err="1"/>
              <a:t>élevée</a:t>
            </a:r>
            <a:r>
              <a:rPr lang="en-US"/>
              <a:t>, plus le </a:t>
            </a:r>
            <a:r>
              <a:rPr lang="en-US" dirty="0" err="1"/>
              <a:t>dommage</a:t>
            </a:r>
            <a:r>
              <a:rPr lang="en-US"/>
              <a:t> </a:t>
            </a:r>
            <a:r>
              <a:rPr lang="en-US" dirty="0"/>
              <a:t>sur </a:t>
            </a:r>
            <a:r>
              <a:rPr lang="en-US"/>
              <a:t>la </a:t>
            </a:r>
            <a:r>
              <a:rPr lang="en-US" dirty="0" err="1"/>
              <a:t>moelle</a:t>
            </a:r>
            <a:r>
              <a:rPr lang="en-US" dirty="0"/>
              <a:t> </a:t>
            </a:r>
            <a:r>
              <a:rPr lang="en-US" dirty="0" err="1"/>
              <a:t>osseuse</a:t>
            </a:r>
            <a:r>
              <a:rPr lang="en-US" dirty="0"/>
              <a:t> sera important</a:t>
            </a:r>
            <a:r>
              <a:rPr lang="en-US"/>
              <a:t>.</a:t>
            </a:r>
            <a:endParaRPr lang="en-US" dirty="0"/>
          </a:p>
          <a:p>
            <a:endParaRPr lang="en-US"/>
          </a:p>
        </p:txBody>
      </p:sp>
      <p:sp>
        <p:nvSpPr>
          <p:cNvPr id="4" name="Slide Number Placeholder 3"/>
          <p:cNvSpPr>
            <a:spLocks noGrp="1"/>
          </p:cNvSpPr>
          <p:nvPr>
            <p:ph type="sldNum" sz="quarter" idx="5"/>
          </p:nvPr>
        </p:nvSpPr>
        <p:spPr/>
        <p:txBody>
          <a:bodyPr/>
          <a:lstStyle/>
          <a:p>
            <a:pPr rtl="0"/>
            <a:fld id="{CF33B1E9-4097-46EC-A95C-50DA1D05B817}" type="slidenum">
              <a:rPr lang="en-US" smtClean="0"/>
              <a:t>3</a:t>
            </a:fld>
            <a:endParaRPr lang="en-US"/>
          </a:p>
        </p:txBody>
      </p:sp>
    </p:spTree>
    <p:extLst>
      <p:ext uri="{BB962C8B-B14F-4D97-AF65-F5344CB8AC3E}">
        <p14:creationId xmlns:p14="http://schemas.microsoft.com/office/powerpoint/2010/main" val="1780383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Organisation des lignées sanguines et mécanismes d’impact</a:t>
            </a:r>
          </a:p>
        </p:txBody>
      </p:sp>
      <p:sp>
        <p:nvSpPr>
          <p:cNvPr id="4" name="Slide Number Placeholder 3"/>
          <p:cNvSpPr>
            <a:spLocks noGrp="1"/>
          </p:cNvSpPr>
          <p:nvPr>
            <p:ph type="sldNum" sz="quarter" idx="5"/>
          </p:nvPr>
        </p:nvSpPr>
        <p:spPr/>
        <p:txBody>
          <a:bodyPr/>
          <a:lstStyle/>
          <a:p>
            <a:pPr rtl="0"/>
            <a:fld id="{CF33B1E9-4097-46EC-A95C-50DA1D05B817}" type="slidenum">
              <a:rPr lang="en-US" smtClean="0"/>
              <a:t>4</a:t>
            </a:fld>
            <a:endParaRPr lang="en-US"/>
          </a:p>
        </p:txBody>
      </p:sp>
    </p:spTree>
    <p:extLst>
      <p:ext uri="{BB962C8B-B14F-4D97-AF65-F5344CB8AC3E}">
        <p14:creationId xmlns:p14="http://schemas.microsoft.com/office/powerpoint/2010/main" val="1779461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Ensuite, je </a:t>
            </a:r>
            <a:r>
              <a:rPr lang="en-US" dirty="0" err="1"/>
              <a:t>dois</a:t>
            </a:r>
            <a:r>
              <a:rPr lang="en-US" dirty="0"/>
              <a:t> </a:t>
            </a:r>
            <a:r>
              <a:rPr lang="en-US" dirty="0" err="1"/>
              <a:t>comprendre</a:t>
            </a:r>
            <a:r>
              <a:rPr lang="en-US" dirty="0"/>
              <a:t> comment la </a:t>
            </a:r>
            <a:r>
              <a:rPr lang="en-US" dirty="0" err="1"/>
              <a:t>moelle</a:t>
            </a:r>
            <a:r>
              <a:rPr lang="en-US" dirty="0"/>
              <a:t> </a:t>
            </a:r>
            <a:r>
              <a:rPr lang="en-US" dirty="0" err="1"/>
              <a:t>osseuse</a:t>
            </a:r>
            <a:r>
              <a:rPr lang="en-US" dirty="0"/>
              <a:t> </a:t>
            </a:r>
            <a:r>
              <a:rPr lang="en-US" dirty="0" err="1"/>
              <a:t>produit</a:t>
            </a:r>
            <a:r>
              <a:rPr lang="en-US" dirty="0"/>
              <a:t> les </a:t>
            </a:r>
            <a:r>
              <a:rPr lang="en-US"/>
              <a:t>cellules du sang.</a:t>
            </a:r>
            <a:br>
              <a:rPr lang="en-US" dirty="0">
                <a:cs typeface="+mn-lt"/>
              </a:rPr>
            </a:br>
            <a:r>
              <a:rPr lang="en-US" dirty="0"/>
              <a:t> Tout commence avec les cellules MPP</a:t>
            </a:r>
            <a:r>
              <a:rPr lang="en-US"/>
              <a:t>, </a:t>
            </a:r>
            <a:r>
              <a:rPr lang="en-US" dirty="0"/>
              <a:t>qui </a:t>
            </a:r>
            <a:r>
              <a:rPr lang="en-US" dirty="0" err="1"/>
              <a:t>sont</a:t>
            </a:r>
            <a:r>
              <a:rPr lang="en-US"/>
              <a:t> les </a:t>
            </a:r>
            <a:r>
              <a:rPr lang="en-US" dirty="0" err="1"/>
              <a:t>précurseurs</a:t>
            </a:r>
            <a:r>
              <a:rPr lang="en-US" dirty="0"/>
              <a:t> </a:t>
            </a:r>
            <a:r>
              <a:rPr lang="en-US" dirty="0" err="1"/>
              <a:t>multipotents</a:t>
            </a:r>
            <a:r>
              <a:rPr lang="en-US" dirty="0"/>
              <a:t>. Elles </a:t>
            </a:r>
            <a:r>
              <a:rPr lang="en-US" dirty="0" err="1"/>
              <a:t>peuvent</a:t>
            </a:r>
            <a:r>
              <a:rPr lang="en-US" dirty="0"/>
              <a:t> se </a:t>
            </a:r>
            <a:r>
              <a:rPr lang="en-US" dirty="0" err="1"/>
              <a:t>différencier</a:t>
            </a:r>
            <a:r>
              <a:rPr lang="en-US" dirty="0"/>
              <a:t> </a:t>
            </a:r>
            <a:r>
              <a:rPr lang="en-US" dirty="0" err="1"/>
              <a:t>en</a:t>
            </a:r>
            <a:r>
              <a:rPr lang="en-US" dirty="0"/>
              <a:t> CMP, </a:t>
            </a:r>
            <a:r>
              <a:rPr lang="en-US"/>
              <a:t>qui </a:t>
            </a:r>
            <a:r>
              <a:rPr lang="en-US" dirty="0" err="1"/>
              <a:t>donnent</a:t>
            </a:r>
            <a:r>
              <a:rPr lang="en-US"/>
              <a:t> neutrophiles et monocytes, </a:t>
            </a:r>
            <a:r>
              <a:rPr lang="en-US" dirty="0" err="1"/>
              <a:t>ou</a:t>
            </a:r>
            <a:r>
              <a:rPr lang="en-US" dirty="0"/>
              <a:t> </a:t>
            </a:r>
            <a:r>
              <a:rPr lang="en-US" dirty="0" err="1"/>
              <a:t>en</a:t>
            </a:r>
            <a:r>
              <a:rPr lang="en-US" dirty="0"/>
              <a:t> </a:t>
            </a:r>
            <a:r>
              <a:rPr lang="en-US"/>
              <a:t>MEP</a:t>
            </a:r>
            <a:r>
              <a:rPr lang="en-US" dirty="0"/>
              <a:t>,</a:t>
            </a:r>
            <a:r>
              <a:rPr lang="en-US"/>
              <a:t> qui </a:t>
            </a:r>
            <a:r>
              <a:rPr lang="en-US" dirty="0" err="1"/>
              <a:t>donnent</a:t>
            </a:r>
            <a:r>
              <a:rPr lang="en-US" dirty="0"/>
              <a:t> </a:t>
            </a:r>
            <a:r>
              <a:rPr lang="en-US" dirty="0" err="1"/>
              <a:t>réticulocytes</a:t>
            </a:r>
            <a:r>
              <a:rPr lang="en-US" dirty="0"/>
              <a:t>,</a:t>
            </a:r>
            <a:r>
              <a:rPr lang="en-US"/>
              <a:t> globules rouges</a:t>
            </a:r>
            <a:r>
              <a:rPr lang="en-US" dirty="0"/>
              <a:t> et </a:t>
            </a:r>
            <a:r>
              <a:rPr lang="en-US"/>
              <a:t>plaquettes.</a:t>
            </a:r>
            <a:br>
              <a:rPr lang="en-US" dirty="0">
                <a:cs typeface="+mn-lt"/>
              </a:rPr>
            </a:br>
            <a:r>
              <a:rPr lang="en-US" dirty="0"/>
              <a:t> Quand un </a:t>
            </a:r>
            <a:r>
              <a:rPr lang="en-US" dirty="0" err="1"/>
              <a:t>médicament</a:t>
            </a:r>
            <a:r>
              <a:rPr lang="en-US" dirty="0"/>
              <a:t> </a:t>
            </a:r>
            <a:r>
              <a:rPr lang="en-US" dirty="0" err="1"/>
              <a:t>provoque</a:t>
            </a:r>
            <a:r>
              <a:rPr lang="en-US" dirty="0"/>
              <a:t> des </a:t>
            </a:r>
            <a:r>
              <a:rPr lang="en-US" dirty="0" err="1"/>
              <a:t>dégâts</a:t>
            </a:r>
            <a:r>
              <a:rPr lang="en-US" dirty="0"/>
              <a:t> dans la </a:t>
            </a:r>
            <a:r>
              <a:rPr lang="en-US" dirty="0" err="1"/>
              <a:t>moelle</a:t>
            </a:r>
            <a:r>
              <a:rPr lang="en-US"/>
              <a:t>, </a:t>
            </a:r>
            <a:r>
              <a:rPr lang="en-US" dirty="0" err="1"/>
              <a:t>ce</a:t>
            </a:r>
            <a:r>
              <a:rPr lang="en-US" dirty="0"/>
              <a:t> </a:t>
            </a:r>
            <a:r>
              <a:rPr lang="en-US" dirty="0" err="1"/>
              <a:t>sont</a:t>
            </a:r>
            <a:r>
              <a:rPr lang="en-US" dirty="0"/>
              <a:t> </a:t>
            </a:r>
            <a:r>
              <a:rPr lang="en-US" dirty="0" err="1"/>
              <a:t>ces</a:t>
            </a:r>
            <a:r>
              <a:rPr lang="en-US" dirty="0"/>
              <a:t> </a:t>
            </a:r>
            <a:r>
              <a:rPr lang="en-US" dirty="0" err="1"/>
              <a:t>précurseurs</a:t>
            </a:r>
            <a:r>
              <a:rPr lang="en-US" dirty="0"/>
              <a:t> qui </a:t>
            </a:r>
            <a:r>
              <a:rPr lang="en-US" dirty="0" err="1"/>
              <a:t>sont</a:t>
            </a:r>
            <a:r>
              <a:rPr lang="en-US"/>
              <a:t> </a:t>
            </a:r>
            <a:r>
              <a:rPr lang="en-US" dirty="0" err="1"/>
              <a:t>touchés</a:t>
            </a:r>
            <a:r>
              <a:rPr lang="en-US" dirty="0"/>
              <a:t> </a:t>
            </a:r>
            <a:r>
              <a:rPr lang="en-US" dirty="0" err="1"/>
              <a:t>en</a:t>
            </a:r>
            <a:r>
              <a:rPr lang="en-US"/>
              <a:t> </a:t>
            </a:r>
            <a:r>
              <a:rPr lang="en-US" dirty="0"/>
              <a:t>premier</a:t>
            </a:r>
            <a:r>
              <a:rPr lang="en-US"/>
              <a:t>.</a:t>
            </a:r>
            <a:br>
              <a:rPr lang="en-US" dirty="0">
                <a:cs typeface="+mn-lt"/>
              </a:rPr>
            </a:br>
            <a:r>
              <a:rPr lang="en-US" dirty="0"/>
              <a:t> </a:t>
            </a:r>
            <a:r>
              <a:rPr lang="en-US" dirty="0" err="1"/>
              <a:t>Résultat</a:t>
            </a:r>
            <a:r>
              <a:rPr lang="en-US" dirty="0"/>
              <a:t> : les populations</a:t>
            </a:r>
            <a:r>
              <a:rPr lang="en-US"/>
              <a:t> de </a:t>
            </a:r>
            <a:r>
              <a:rPr lang="en-US" dirty="0"/>
              <a:t>cellules matures </a:t>
            </a:r>
            <a:r>
              <a:rPr lang="en-US" dirty="0" err="1"/>
              <a:t>baissent</a:t>
            </a:r>
            <a:r>
              <a:rPr lang="en-US"/>
              <a:t>, </a:t>
            </a:r>
            <a:r>
              <a:rPr lang="en-US" dirty="0" err="1"/>
              <a:t>ce</a:t>
            </a:r>
            <a:r>
              <a:rPr lang="en-US"/>
              <a:t> qui </a:t>
            </a:r>
            <a:r>
              <a:rPr lang="en-US" dirty="0"/>
              <a:t>correspond à </a:t>
            </a:r>
            <a:r>
              <a:rPr lang="en-US"/>
              <a:t>la </a:t>
            </a:r>
            <a:r>
              <a:rPr lang="en-US" dirty="0" err="1"/>
              <a:t>toxicité</a:t>
            </a:r>
            <a:r>
              <a:rPr lang="en-US" dirty="0"/>
              <a:t> </a:t>
            </a:r>
            <a:r>
              <a:rPr lang="en-US" dirty="0" err="1"/>
              <a:t>hématologique</a:t>
            </a:r>
            <a:r>
              <a:rPr lang="en-US" dirty="0"/>
              <a:t> </a:t>
            </a:r>
            <a:r>
              <a:rPr lang="en-US" dirty="0" err="1"/>
              <a:t>observée</a:t>
            </a:r>
            <a:r>
              <a:rPr lang="en-US"/>
              <a:t> </a:t>
            </a:r>
            <a:r>
              <a:rPr lang="en-US" dirty="0" err="1"/>
              <a:t>en</a:t>
            </a:r>
            <a:r>
              <a:rPr lang="en-US" dirty="0"/>
              <a:t> </a:t>
            </a:r>
            <a:r>
              <a:rPr lang="en-US" dirty="0" err="1"/>
              <a:t>clinique</a:t>
            </a:r>
            <a:r>
              <a:rPr lang="en-US" dirty="0"/>
              <a:t>.</a:t>
            </a:r>
            <a:br>
              <a:rPr lang="en-US" dirty="0">
                <a:cs typeface="+mn-lt"/>
              </a:rPr>
            </a:br>
            <a:r>
              <a:rPr lang="en-US" dirty="0"/>
              <a:t> Le </a:t>
            </a:r>
            <a:r>
              <a:rPr lang="en-US" dirty="0" err="1"/>
              <a:t>modèle</a:t>
            </a:r>
            <a:r>
              <a:rPr lang="en-US" dirty="0"/>
              <a:t> </a:t>
            </a:r>
            <a:r>
              <a:rPr lang="en-US"/>
              <a:t>sur </a:t>
            </a:r>
            <a:r>
              <a:rPr lang="en-US" dirty="0" err="1"/>
              <a:t>lequel</a:t>
            </a:r>
            <a:r>
              <a:rPr lang="en-US" dirty="0"/>
              <a:t> je me base </a:t>
            </a:r>
            <a:r>
              <a:rPr lang="en-US" dirty="0" err="1"/>
              <a:t>vient</a:t>
            </a:r>
            <a:r>
              <a:rPr lang="en-US" dirty="0"/>
              <a:t> de </a:t>
            </a:r>
            <a:r>
              <a:rPr lang="en-US" dirty="0" err="1"/>
              <a:t>l’article</a:t>
            </a:r>
            <a:r>
              <a:rPr lang="en-US" dirty="0"/>
              <a:t> de Fornari de 2019</a:t>
            </a:r>
            <a:r>
              <a:rPr lang="en-US"/>
              <a:t>, </a:t>
            </a:r>
            <a:r>
              <a:rPr lang="en-US" dirty="0" err="1"/>
              <a:t>que</a:t>
            </a:r>
            <a:r>
              <a:rPr lang="en-US" dirty="0"/>
              <a:t> </a:t>
            </a:r>
            <a:r>
              <a:rPr lang="en-US" dirty="0" err="1"/>
              <a:t>j’ai</a:t>
            </a:r>
            <a:r>
              <a:rPr lang="en-US" dirty="0"/>
              <a:t> </a:t>
            </a:r>
            <a:r>
              <a:rPr lang="en-US" dirty="0" err="1"/>
              <a:t>reproduit</a:t>
            </a:r>
            <a:r>
              <a:rPr lang="en-US" dirty="0"/>
              <a:t> </a:t>
            </a:r>
            <a:r>
              <a:rPr lang="en-US" dirty="0" err="1"/>
              <a:t>en</a:t>
            </a:r>
            <a:r>
              <a:rPr lang="en-US" dirty="0"/>
              <a:t> R</a:t>
            </a:r>
            <a:r>
              <a:rPr lang="en-US"/>
              <a:t>.</a:t>
            </a:r>
            <a:endParaRPr lang="en-US" dirty="0"/>
          </a:p>
          <a:p>
            <a:r>
              <a:rPr lang="en-US" dirty="0"/>
              <a:t>
</a:t>
            </a:r>
            <a:endParaRPr lang="en-US"/>
          </a:p>
        </p:txBody>
      </p:sp>
      <p:sp>
        <p:nvSpPr>
          <p:cNvPr id="4" name="Slide Number Placeholder 3"/>
          <p:cNvSpPr>
            <a:spLocks noGrp="1"/>
          </p:cNvSpPr>
          <p:nvPr>
            <p:ph type="sldNum" sz="quarter" idx="5"/>
          </p:nvPr>
        </p:nvSpPr>
        <p:spPr/>
        <p:txBody>
          <a:bodyPr/>
          <a:lstStyle/>
          <a:p>
            <a:pPr rtl="0"/>
            <a:fld id="{CF33B1E9-4097-46EC-A95C-50DA1D05B817}" type="slidenum">
              <a:rPr lang="en-US" smtClean="0"/>
              <a:t>5</a:t>
            </a:fld>
            <a:endParaRPr lang="en-US"/>
          </a:p>
        </p:txBody>
      </p:sp>
    </p:spTree>
    <p:extLst>
      <p:ext uri="{BB962C8B-B14F-4D97-AF65-F5344CB8AC3E}">
        <p14:creationId xmlns:p14="http://schemas.microsoft.com/office/powerpoint/2010/main" val="2623595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Résumé du travail réalisé et visualisation des sorties, Graphique de simulation</a:t>
            </a:r>
          </a:p>
        </p:txBody>
      </p:sp>
      <p:sp>
        <p:nvSpPr>
          <p:cNvPr id="4" name="Slide Number Placeholder 3"/>
          <p:cNvSpPr>
            <a:spLocks noGrp="1"/>
          </p:cNvSpPr>
          <p:nvPr>
            <p:ph type="sldNum" sz="quarter" idx="5"/>
          </p:nvPr>
        </p:nvSpPr>
        <p:spPr/>
        <p:txBody>
          <a:bodyPr/>
          <a:lstStyle/>
          <a:p>
            <a:pPr rtl="0"/>
            <a:fld id="{CF33B1E9-4097-46EC-A95C-50DA1D05B817}" type="slidenum">
              <a:rPr lang="en-US" smtClean="0"/>
              <a:t>6</a:t>
            </a:fld>
            <a:endParaRPr lang="en-US"/>
          </a:p>
        </p:txBody>
      </p:sp>
    </p:spTree>
    <p:extLst>
      <p:ext uri="{BB962C8B-B14F-4D97-AF65-F5344CB8AC3E}">
        <p14:creationId xmlns:p14="http://schemas.microsoft.com/office/powerpoint/2010/main" val="93037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Dans </a:t>
            </a:r>
            <a:r>
              <a:rPr lang="en-US" err="1"/>
              <a:t>mon</a:t>
            </a:r>
            <a:r>
              <a:rPr lang="en-US"/>
              <a:t> travail, j’ai reconstruit toute la chaîne de modélisation : la PK, la fraction libre, le dommage, et enfin les </a:t>
            </a:r>
            <a:r>
              <a:rPr lang="en-US" err="1"/>
              <a:t>lignées</a:t>
            </a:r>
            <a:r>
              <a:rPr lang="en-US"/>
              <a:t> </a:t>
            </a:r>
            <a:r>
              <a:rPr lang="en-US" err="1"/>
              <a:t>hématopoïétiques</a:t>
            </a:r>
            <a:r>
              <a:rPr lang="en-US"/>
              <a:t>.</a:t>
            </a:r>
            <a:br>
              <a:rPr lang="en-US" dirty="0">
                <a:cs typeface="+mn-lt"/>
              </a:rPr>
            </a:br>
            <a:r>
              <a:rPr lang="en-US" dirty="0"/>
              <a:t> </a:t>
            </a:r>
            <a:r>
              <a:rPr lang="en-US" err="1"/>
              <a:t>J’ai</a:t>
            </a:r>
            <a:r>
              <a:rPr lang="en-US"/>
              <a:t> </a:t>
            </a:r>
            <a:r>
              <a:rPr lang="en-US" err="1"/>
              <a:t>implémenté</a:t>
            </a:r>
            <a:r>
              <a:rPr lang="en-US"/>
              <a:t> </a:t>
            </a:r>
            <a:r>
              <a:rPr lang="en-US" err="1"/>
              <a:t>toutes</a:t>
            </a:r>
            <a:r>
              <a:rPr lang="en-US"/>
              <a:t> les </a:t>
            </a:r>
            <a:r>
              <a:rPr lang="en-US" err="1"/>
              <a:t>équations</a:t>
            </a:r>
            <a:r>
              <a:rPr lang="en-US"/>
              <a:t> du </a:t>
            </a:r>
            <a:r>
              <a:rPr lang="en-US" err="1"/>
              <a:t>modèle</a:t>
            </a:r>
            <a:r>
              <a:rPr lang="en-US"/>
              <a:t> dans R, et </a:t>
            </a:r>
            <a:r>
              <a:rPr lang="en-US" err="1"/>
              <a:t>j’ai</a:t>
            </a:r>
            <a:r>
              <a:rPr lang="en-US"/>
              <a:t> </a:t>
            </a:r>
            <a:r>
              <a:rPr lang="en-US" err="1"/>
              <a:t>également</a:t>
            </a:r>
            <a:r>
              <a:rPr lang="en-US"/>
              <a:t> </a:t>
            </a:r>
            <a:r>
              <a:rPr lang="en-US" err="1"/>
              <a:t>codé</a:t>
            </a:r>
            <a:r>
              <a:rPr lang="en-US"/>
              <a:t> </a:t>
            </a:r>
            <a:r>
              <a:rPr lang="en-US" err="1"/>
              <a:t>une</a:t>
            </a:r>
            <a:r>
              <a:rPr lang="en-US"/>
              <a:t> </a:t>
            </a:r>
            <a:r>
              <a:rPr lang="en-US" err="1"/>
              <a:t>fonction</a:t>
            </a:r>
            <a:r>
              <a:rPr lang="en-US"/>
              <a:t> de simulation </a:t>
            </a:r>
            <a:r>
              <a:rPr lang="en-US" err="1"/>
              <a:t>complète</a:t>
            </a:r>
            <a:r>
              <a:rPr lang="en-US"/>
              <a:t> qui </a:t>
            </a:r>
            <a:r>
              <a:rPr lang="en-US" err="1"/>
              <a:t>gère</a:t>
            </a:r>
            <a:r>
              <a:rPr lang="en-US"/>
              <a:t> les perfusions </a:t>
            </a:r>
            <a:r>
              <a:rPr lang="en-US" err="1"/>
              <a:t>répétées</a:t>
            </a:r>
            <a:r>
              <a:rPr lang="en-US"/>
              <a:t>.</a:t>
            </a:r>
            <a:br>
              <a:rPr lang="en-US" dirty="0">
                <a:cs typeface="+mn-lt"/>
              </a:rPr>
            </a:br>
            <a:r>
              <a:rPr lang="en-US"/>
              <a:t> Ensuite, </a:t>
            </a:r>
            <a:r>
              <a:rPr lang="en-US" err="1"/>
              <a:t>j’ai</a:t>
            </a:r>
            <a:r>
              <a:rPr lang="en-US"/>
              <a:t> </a:t>
            </a:r>
            <a:r>
              <a:rPr lang="en-US" err="1"/>
              <a:t>ajouté</a:t>
            </a:r>
            <a:r>
              <a:rPr lang="en-US"/>
              <a:t> la </a:t>
            </a:r>
            <a:r>
              <a:rPr lang="en-US" err="1"/>
              <a:t>possibilité</a:t>
            </a:r>
            <a:r>
              <a:rPr lang="en-US"/>
              <a:t> de </a:t>
            </a:r>
            <a:r>
              <a:rPr lang="en-US" err="1"/>
              <a:t>basculer</a:t>
            </a:r>
            <a:r>
              <a:rPr lang="en-US"/>
              <a:t> </a:t>
            </a:r>
            <a:r>
              <a:rPr lang="en-US" err="1"/>
              <a:t>automatiquement</a:t>
            </a:r>
            <a:r>
              <a:rPr lang="en-US"/>
              <a:t> entre des </a:t>
            </a:r>
            <a:r>
              <a:rPr lang="en-US" err="1"/>
              <a:t>paramètres</a:t>
            </a:r>
            <a:r>
              <a:rPr lang="en-US"/>
              <a:t> rat et </a:t>
            </a:r>
            <a:r>
              <a:rPr lang="en-US" err="1"/>
              <a:t>humain</a:t>
            </a:r>
            <a:r>
              <a:rPr lang="en-US"/>
              <a:t>, </a:t>
            </a:r>
            <a:r>
              <a:rPr lang="en-US" err="1"/>
              <a:t>comme</a:t>
            </a:r>
            <a:r>
              <a:rPr lang="en-US"/>
              <a:t> dans </a:t>
            </a:r>
            <a:r>
              <a:rPr lang="en-US" err="1"/>
              <a:t>l’article</a:t>
            </a:r>
            <a:r>
              <a:rPr lang="en-US"/>
              <a:t>.</a:t>
            </a:r>
            <a:br>
              <a:rPr lang="en-US" dirty="0">
                <a:cs typeface="+mn-lt"/>
              </a:rPr>
            </a:br>
            <a:r>
              <a:rPr lang="en-US" dirty="0"/>
              <a:t> </a:t>
            </a:r>
            <a:r>
              <a:rPr lang="en-US" err="1"/>
              <a:t>J’ai</a:t>
            </a:r>
            <a:r>
              <a:rPr lang="en-US"/>
              <a:t> </a:t>
            </a:r>
            <a:r>
              <a:rPr lang="en-US" err="1"/>
              <a:t>aussi</a:t>
            </a:r>
            <a:r>
              <a:rPr lang="en-US"/>
              <a:t> </a:t>
            </a:r>
            <a:r>
              <a:rPr lang="en-US" err="1"/>
              <a:t>dérivé</a:t>
            </a:r>
            <a:r>
              <a:rPr lang="en-US"/>
              <a:t> </a:t>
            </a:r>
            <a:r>
              <a:rPr lang="en-US" err="1"/>
              <a:t>automatiquement</a:t>
            </a:r>
            <a:r>
              <a:rPr lang="en-US"/>
              <a:t> les </a:t>
            </a:r>
            <a:r>
              <a:rPr lang="en-US" err="1"/>
              <a:t>paramètres</a:t>
            </a:r>
            <a:r>
              <a:rPr lang="en-US"/>
              <a:t> </a:t>
            </a:r>
            <a:r>
              <a:rPr lang="en-US" err="1"/>
              <a:t>physiologiques</a:t>
            </a:r>
            <a:r>
              <a:rPr lang="en-US"/>
              <a:t>, par </a:t>
            </a:r>
            <a:r>
              <a:rPr lang="en-US" err="1"/>
              <a:t>exemple</a:t>
            </a:r>
            <a:r>
              <a:rPr lang="en-US"/>
              <a:t> les </a:t>
            </a:r>
            <a:r>
              <a:rPr lang="en-US" err="1"/>
              <a:t>débits</a:t>
            </a:r>
            <a:r>
              <a:rPr lang="en-US"/>
              <a:t> de </a:t>
            </a:r>
            <a:r>
              <a:rPr lang="en-US" err="1"/>
              <a:t>différenciation</a:t>
            </a:r>
            <a:r>
              <a:rPr lang="en-US"/>
              <a:t>, les </a:t>
            </a:r>
            <a:r>
              <a:rPr lang="en-US" err="1"/>
              <a:t>vitesses</a:t>
            </a:r>
            <a:r>
              <a:rPr lang="en-US"/>
              <a:t> de maturation, et les </a:t>
            </a:r>
            <a:r>
              <a:rPr lang="en-US" err="1"/>
              <a:t>paramètres</a:t>
            </a:r>
            <a:r>
              <a:rPr lang="en-US"/>
              <a:t> de feedback qui </a:t>
            </a:r>
            <a:r>
              <a:rPr lang="en-US" err="1"/>
              <a:t>permettent</a:t>
            </a:r>
            <a:r>
              <a:rPr lang="en-US"/>
              <a:t> au </a:t>
            </a:r>
            <a:r>
              <a:rPr lang="en-US" err="1"/>
              <a:t>modèle</a:t>
            </a:r>
            <a:r>
              <a:rPr lang="en-US"/>
              <a:t> de </a:t>
            </a:r>
            <a:r>
              <a:rPr lang="en-US" err="1"/>
              <a:t>rester</a:t>
            </a:r>
            <a:r>
              <a:rPr lang="en-US"/>
              <a:t> stable</a:t>
            </a:r>
          </a:p>
          <a:p>
            <a:endParaRPr lang="en-US"/>
          </a:p>
        </p:txBody>
      </p:sp>
      <p:sp>
        <p:nvSpPr>
          <p:cNvPr id="4" name="Slide Number Placeholder 3"/>
          <p:cNvSpPr>
            <a:spLocks noGrp="1"/>
          </p:cNvSpPr>
          <p:nvPr>
            <p:ph type="sldNum" sz="quarter" idx="5"/>
          </p:nvPr>
        </p:nvSpPr>
        <p:spPr/>
        <p:txBody>
          <a:bodyPr/>
          <a:lstStyle/>
          <a:p>
            <a:pPr rtl="0"/>
            <a:fld id="{CF33B1E9-4097-46EC-A95C-50DA1D05B817}" type="slidenum">
              <a:rPr lang="en-US" smtClean="0"/>
              <a:t>7</a:t>
            </a:fld>
            <a:endParaRPr lang="en-US"/>
          </a:p>
        </p:txBody>
      </p:sp>
    </p:spTree>
    <p:extLst>
      <p:ext uri="{BB962C8B-B14F-4D97-AF65-F5344CB8AC3E}">
        <p14:creationId xmlns:p14="http://schemas.microsoft.com/office/powerpoint/2010/main" val="3656712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 graphique résume les résultats de ma simulation après plusieurs cycles de carboplatine.</a:t>
            </a:r>
            <a:br>
              <a:rPr lang="en-US" dirty="0"/>
            </a:br>
            <a:r>
              <a:rPr lang="en-US"/>
              <a:t>En haut à gauche, on voit la PK : la concentration monte puis s’éteint rapidement.</a:t>
            </a:r>
            <a:br>
              <a:rPr lang="en-US" dirty="0"/>
            </a:br>
            <a:r>
              <a:rPr lang="en-US"/>
              <a:t>Juste à côté, on observe le dommage ADN, qui reste plus longtemps que la PK — c’est un point clé du modèle de Fornari.</a:t>
            </a:r>
            <a:br>
              <a:rPr lang="en-US" dirty="0"/>
            </a:br>
            <a:r>
              <a:rPr lang="en-US"/>
              <a:t>Ensuite, dans les graphes du bas, on voit comment les précurseurs MPP, CMP et MEP décroissent, puis comment les lignées matures comme les neutrophiles, les réticulocytes, les globules rouges et les plaquettes diminuent également.</a:t>
            </a:r>
            <a:br>
              <a:rPr lang="en-US" dirty="0"/>
            </a:br>
            <a:r>
              <a:rPr lang="en-US"/>
              <a:t>On retrouve la dynamique typique de myélosuppression, ce qui montre que le modèle fonctionne comme attendu.</a:t>
            </a:r>
          </a:p>
          <a:p>
            <a:endParaRPr lang="en-US"/>
          </a:p>
        </p:txBody>
      </p:sp>
      <p:sp>
        <p:nvSpPr>
          <p:cNvPr id="4" name="Slide Number Placeholder 3"/>
          <p:cNvSpPr>
            <a:spLocks noGrp="1"/>
          </p:cNvSpPr>
          <p:nvPr>
            <p:ph type="sldNum" sz="quarter" idx="5"/>
          </p:nvPr>
        </p:nvSpPr>
        <p:spPr/>
        <p:txBody>
          <a:bodyPr/>
          <a:lstStyle/>
          <a:p>
            <a:pPr rtl="0"/>
            <a:fld id="{CF33B1E9-4097-46EC-A95C-50DA1D05B817}" type="slidenum">
              <a:rPr lang="en-US" smtClean="0"/>
              <a:t>8</a:t>
            </a:fld>
            <a:endParaRPr lang="en-US"/>
          </a:p>
        </p:txBody>
      </p:sp>
    </p:spTree>
    <p:extLst>
      <p:ext uri="{BB962C8B-B14F-4D97-AF65-F5344CB8AC3E}">
        <p14:creationId xmlns:p14="http://schemas.microsoft.com/office/powerpoint/2010/main" val="375502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sp>
        <p:nvSpPr>
          <p:cNvPr id="37" name="Forme libre : Form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0" name="Groupe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Étoile : 7 points sur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Forme libre : Form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Ovale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Forme libre : Form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Ovale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Forme libre : Form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23" name="Titr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rtlCol="0"/>
          <a:lstStyle>
            <a:lvl1pPr>
              <a:defRPr sz="7200"/>
            </a:lvl1pPr>
          </a:lstStyle>
          <a:p>
            <a:pPr rtl="0"/>
            <a:r>
              <a:rPr lang="fr"/>
              <a:t>Modifiez le style du titre</a:t>
            </a:r>
          </a:p>
        </p:txBody>
      </p:sp>
      <p:sp>
        <p:nvSpPr>
          <p:cNvPr id="25" name="Sous-titr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rtlCol="0"/>
          <a:lstStyle>
            <a:lvl1pPr algn="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grpSp>
        <p:nvGrpSpPr>
          <p:cNvPr id="29" name="Groupe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orme libre : Form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7" name="Groupe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e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0" name="Ovale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orme libre : Form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2" name="Forme libre : Form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rtlCol="0"/>
          <a:lstStyle/>
          <a:p>
            <a:pPr rtl="0"/>
            <a:r>
              <a:rPr lang="fr"/>
              <a:t>Modifiez le style du titre</a:t>
            </a:r>
          </a:p>
        </p:txBody>
      </p:sp>
      <p:sp>
        <p:nvSpPr>
          <p:cNvPr id="3" name="Espace réservé du contenu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2EEE4F20-0666-E738-7D6B-45FE53B2D2CB}"/>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2C25C0C3-F29F-DD22-4617-DF238580DDC9}"/>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grpSp>
        <p:nvGrpSpPr>
          <p:cNvPr id="23" name="Groupe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e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Triangle isocè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Forme libre : Form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orme libre : Form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Étoile : 7 points sur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3" name="Groupe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e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Forme libre : Form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Ovale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 name="Forme libre : Form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Forme libre : Form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9" name="Groupe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e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lumMod val="10000"/>
                    </a:schemeClr>
                  </a:solidFill>
                </a:endParaRPr>
              </a:p>
            </p:txBody>
          </p:sp>
          <p:sp>
            <p:nvSpPr>
              <p:cNvPr id="21" name="Forme libre : Form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bg2">
                      <a:lumMod val="10000"/>
                    </a:schemeClr>
                  </a:solidFill>
                </a:endParaRPr>
              </a:p>
            </p:txBody>
          </p:sp>
          <p:sp>
            <p:nvSpPr>
              <p:cNvPr id="22" name="Ovale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lumMod val="10000"/>
                    </a:schemeClr>
                  </a:solidFill>
                </a:endParaRPr>
              </a:p>
            </p:txBody>
          </p:sp>
          <p:sp>
            <p:nvSpPr>
              <p:cNvPr id="24" name="Forme libre : Form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bg2">
                      <a:lumMod val="10000"/>
                    </a:schemeClr>
                  </a:solidFill>
                </a:endParaRPr>
              </a:p>
            </p:txBody>
          </p:sp>
        </p:grpSp>
        <p:grpSp>
          <p:nvGrpSpPr>
            <p:cNvPr id="25" name="Groupe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orme libre : Form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Forme libre : Form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8" name="Forme libre : Form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9" name="Groupe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e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e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Ovale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31" name="Forme libre : Form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sp>
        <p:nvSpPr>
          <p:cNvPr id="35" name="Titr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rtlCol="0" anchor="t"/>
          <a:lstStyle>
            <a:lvl1pPr>
              <a:defRPr sz="7200"/>
            </a:lvl1pPr>
          </a:lstStyle>
          <a:p>
            <a:pPr rtl="0"/>
            <a:r>
              <a:rPr lang="fr"/>
              <a:t>Modifiez le style du titre</a:t>
            </a:r>
          </a:p>
        </p:txBody>
      </p:sp>
      <p:sp>
        <p:nvSpPr>
          <p:cNvPr id="37" name="Sous-titr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rtlCol="0"/>
          <a:lstStyle>
            <a:lvl1pPr algn="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sp>
        <p:nvSpPr>
          <p:cNvPr id="34" name="Forme libre : Form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Triangle isocè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Forme libre : Form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Titr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rtlCol="0" anchor="t"/>
          <a:lstStyle>
            <a:lvl1pPr>
              <a:defRPr sz="7200"/>
            </a:lvl1pPr>
          </a:lstStyle>
          <a:p>
            <a:pPr rtl="0"/>
            <a:r>
              <a:rPr lang="fr"/>
              <a:t>Modifiez le style du titre</a:t>
            </a:r>
          </a:p>
        </p:txBody>
      </p:sp>
      <p:sp>
        <p:nvSpPr>
          <p:cNvPr id="15" name="Sous-titr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rtlCol="0"/>
          <a:lstStyle>
            <a:lvl1pPr algn="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grpSp>
        <p:nvGrpSpPr>
          <p:cNvPr id="36" name="Groupe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e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Forme libre : Form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Ovale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0" name="Forme libre : Form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1" name="Forme libre : Form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8" name="Groupe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orme libre : Form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Forme libre : Form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5" name="Forme libre : Form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4">
    <p:bg>
      <p:bgPr>
        <a:solidFill>
          <a:schemeClr val="accent3"/>
        </a:solidFill>
        <a:effectLst/>
      </p:bgPr>
    </p:bg>
    <p:spTree>
      <p:nvGrpSpPr>
        <p:cNvPr id="1" name=""/>
        <p:cNvGrpSpPr/>
        <p:nvPr/>
      </p:nvGrpSpPr>
      <p:grpSpPr>
        <a:xfrm>
          <a:off x="0" y="0"/>
          <a:ext cx="0" cy="0"/>
          <a:chOff x="0" y="0"/>
          <a:chExt cx="0" cy="0"/>
        </a:xfrm>
      </p:grpSpPr>
      <p:sp>
        <p:nvSpPr>
          <p:cNvPr id="14" name="Titr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rtlCol="0"/>
          <a:lstStyle>
            <a:lvl1pPr>
              <a:defRPr sz="7200"/>
            </a:lvl1pPr>
          </a:lstStyle>
          <a:p>
            <a:pPr rtl="0"/>
            <a:r>
              <a:rPr lang="fr"/>
              <a:t>Modifiez le style du titre</a:t>
            </a:r>
          </a:p>
        </p:txBody>
      </p:sp>
      <p:sp>
        <p:nvSpPr>
          <p:cNvPr id="16" name="Sous-titr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rtlCol="0"/>
          <a:lstStyle>
            <a:lvl1pPr algn="l">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rtlCol="0"/>
          <a:lstStyle>
            <a:lvl1pPr>
              <a:defRPr>
                <a:solidFill>
                  <a:schemeClr val="tx2"/>
                </a:solidFill>
              </a:defRPr>
            </a:lvl1pPr>
          </a:lstStyle>
          <a:p>
            <a:pPr rtl="0"/>
            <a:fld id="{7CF79DB2-B0CF-4CB1-AE78-9ED1037C015C}" type="slidenum">
              <a:rPr lang="en-US" smtClean="0"/>
              <a:pPr rtl="0"/>
              <a:t>‹N°›</a:t>
            </a:fld>
            <a:endParaRPr lang="en-US"/>
          </a:p>
        </p:txBody>
      </p:sp>
      <p:sp>
        <p:nvSpPr>
          <p:cNvPr id="7" name="Ovale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8" name="Groupe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orme libre : Form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orme libre : Form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1" name="Forme libre : Form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2" name="Groupe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e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6" name="Forme libre : Form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7" name="Ovale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8" name="Forme libre : Form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5" name="Forme libre : Form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51" name="Groupe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e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e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3" name="Forme libre : Form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Ovale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5" name="Forme libre : Form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46" name="Ovale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avec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sp>
        <p:nvSpPr>
          <p:cNvPr id="12" name="Titr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rtlCol="0" anchor="t">
            <a:normAutofit/>
          </a:bodyPr>
          <a:lstStyle>
            <a:lvl1pPr>
              <a:defRPr sz="7200"/>
            </a:lvl1pPr>
          </a:lstStyle>
          <a:p>
            <a:pPr rtl="0"/>
            <a:r>
              <a:rPr lang="fr"/>
              <a:t>Modifiez le style du titre</a:t>
            </a:r>
          </a:p>
        </p:txBody>
      </p:sp>
      <p:sp>
        <p:nvSpPr>
          <p:cNvPr id="14" name="Sous-titr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rtlCol="0"/>
          <a:lstStyle>
            <a:lvl1pPr algn="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23" name="Espace réservé d’image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9" name="Forme libre : Form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rtl="0"/>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re avec image 2">
    <p:bg>
      <p:bgPr>
        <a:solidFill>
          <a:schemeClr val="tx2"/>
        </a:solidFill>
        <a:effectLst/>
      </p:bgPr>
    </p:bg>
    <p:spTree>
      <p:nvGrpSpPr>
        <p:cNvPr id="1" name=""/>
        <p:cNvGrpSpPr/>
        <p:nvPr/>
      </p:nvGrpSpPr>
      <p:grpSpPr>
        <a:xfrm>
          <a:off x="0" y="0"/>
          <a:ext cx="0" cy="0"/>
          <a:chOff x="0" y="0"/>
          <a:chExt cx="0" cy="0"/>
        </a:xfrm>
      </p:grpSpPr>
      <p:sp>
        <p:nvSpPr>
          <p:cNvPr id="15" name="Espace réservé d’image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9" name="Forme libre : Form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orme libre : Form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rtlCol="0" anchor="ctr">
            <a:normAutofit/>
          </a:bodyPr>
          <a:lstStyle>
            <a:lvl1pPr algn="ctr">
              <a:defRPr sz="6600">
                <a:solidFill>
                  <a:schemeClr val="tx2"/>
                </a:solidFill>
              </a:defRPr>
            </a:lvl1pPr>
          </a:lstStyle>
          <a:p>
            <a:pPr rtl="0"/>
            <a:r>
              <a:rPr lang="fr"/>
              <a:t>Modifiez le style du titre</a:t>
            </a:r>
          </a:p>
        </p:txBody>
      </p:sp>
      <p:sp>
        <p:nvSpPr>
          <p:cNvPr id="3" name="Sous-titr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rtlCol="0"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p:txBody>
          <a:bodyPr rtlCol="0"/>
          <a:lstStyle>
            <a:lvl1pPr>
              <a:defRPr>
                <a:solidFill>
                  <a:schemeClr val="bg1"/>
                </a:solidFill>
                <a:effectLst>
                  <a:outerShdw blurRad="38100" dist="38100" dir="2700000" algn="tl">
                    <a:srgbClr val="000000">
                      <a:alpha val="43137"/>
                    </a:srgbClr>
                  </a:outerShdw>
                </a:effectLst>
              </a:defRPr>
            </a:lvl1pPr>
          </a:lstStyle>
          <a:p>
            <a:pPr rtl="0"/>
            <a:endParaRPr lang="en-US">
              <a:solidFill>
                <a:schemeClr val="bg1"/>
              </a:solidFill>
            </a:endParaRPr>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p:txBody>
          <a:bodyPr rtlCol="0"/>
          <a:lstStyle>
            <a:lvl1pPr>
              <a:defRPr>
                <a:solidFill>
                  <a:schemeClr val="bg1"/>
                </a:solidFill>
                <a:effectLst>
                  <a:outerShdw blurRad="38100" dist="38100" dir="2700000" algn="tl">
                    <a:srgbClr val="000000">
                      <a:alpha val="43137"/>
                    </a:srgbClr>
                  </a:outerShdw>
                </a:effectLst>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lvl1pPr>
              <a:defRPr>
                <a:solidFill>
                  <a:schemeClr val="bg1"/>
                </a:solidFill>
                <a:effectLst>
                  <a:outerShdw blurRad="38100" dist="38100" dir="2700000" algn="tl">
                    <a:srgbClr val="000000">
                      <a:alpha val="43137"/>
                    </a:srgbClr>
                  </a:outerShdw>
                </a:effectLst>
              </a:defRPr>
            </a:lvl1pPr>
          </a:lstStyle>
          <a:p>
            <a:pPr rtl="0"/>
            <a:fld id="{7CF79DB2-B0CF-4CB1-AE78-9ED1037C015C}" type="slidenum">
              <a:rPr lang="en-US" smtClean="0"/>
              <a:pPr rtl="0"/>
              <a:t>‹N°›</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re avec imag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sp>
        <p:nvSpPr>
          <p:cNvPr id="18" name="Espace réservé d’image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2" name="Titr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rtlCol="0" anchor="ctr">
            <a:normAutofit/>
          </a:bodyPr>
          <a:lstStyle>
            <a:lvl1pPr algn="ctr">
              <a:defRPr sz="5600">
                <a:solidFill>
                  <a:schemeClr val="tx2"/>
                </a:solidFill>
              </a:defRPr>
            </a:lvl1pPr>
          </a:lstStyle>
          <a:p>
            <a:pPr rtl="0"/>
            <a:r>
              <a:rPr lang="fr"/>
              <a:t>Modifiez le style du titre</a:t>
            </a:r>
            <a:endParaRPr lang="en-US"/>
          </a:p>
        </p:txBody>
      </p:sp>
      <p:sp>
        <p:nvSpPr>
          <p:cNvPr id="3" name="Sous-titr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rtlCol="0"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p:txBody>
          <a:bodyPr rtlCol="0"/>
          <a:lstStyle>
            <a:lvl1pPr>
              <a:defRPr>
                <a:solidFill>
                  <a:schemeClr val="tx1"/>
                </a:solidFill>
                <a:effectLst>
                  <a:outerShdw blurRad="38100" dist="38100" dir="2700000" algn="tl">
                    <a:srgbClr val="000000">
                      <a:alpha val="43137"/>
                    </a:srgbClr>
                  </a:outerShdw>
                </a:effectLst>
              </a:defRPr>
            </a:lvl1pPr>
          </a:lstStyle>
          <a:p>
            <a:pPr rtl="0"/>
            <a:endParaRPr lang="en-US">
              <a:solidFill>
                <a:schemeClr val="tx1"/>
              </a:solidFill>
            </a:endParaRPr>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p:txBody>
          <a:bodyPr rtlCol="0"/>
          <a:lstStyle>
            <a:lvl1pPr>
              <a:defRPr>
                <a:solidFill>
                  <a:schemeClr val="tx1"/>
                </a:solidFill>
                <a:effectLst>
                  <a:outerShdw blurRad="38100" dist="38100" dir="2700000" algn="tl">
                    <a:srgbClr val="000000">
                      <a:alpha val="43137"/>
                    </a:srgbClr>
                  </a:outerShdw>
                </a:effectLst>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lvl1pPr>
              <a:defRPr>
                <a:solidFill>
                  <a:schemeClr val="tx1"/>
                </a:solidFill>
                <a:effectLst>
                  <a:outerShdw blurRad="38100" dist="38100" dir="2700000" algn="tl">
                    <a:srgbClr val="000000">
                      <a:alpha val="43137"/>
                    </a:srgbClr>
                  </a:outerShdw>
                </a:effectLst>
              </a:defRPr>
            </a:lvl1pPr>
          </a:lstStyle>
          <a:p>
            <a:pPr rtl="0"/>
            <a:fld id="{7CF79DB2-B0CF-4CB1-AE78-9ED1037C015C}" type="slidenum">
              <a:rPr lang="en-US" smtClean="0"/>
              <a:pPr rtl="0"/>
              <a:t>‹N°›</a:t>
            </a:fld>
            <a:endParaRPr lang="en-US"/>
          </a:p>
        </p:txBody>
      </p:sp>
      <p:sp>
        <p:nvSpPr>
          <p:cNvPr id="14" name="Étoile : 7 points sur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avec image 4">
    <p:bg>
      <p:bgPr>
        <a:solidFill>
          <a:schemeClr val="tx2"/>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rtlCol="0"/>
          <a:lstStyle>
            <a:lvl1pPr>
              <a:defRPr>
                <a:solidFill>
                  <a:schemeClr val="bg2"/>
                </a:solidFill>
              </a:defRPr>
            </a:lvl1pPr>
          </a:lstStyle>
          <a:p>
            <a:pPr rtl="0"/>
            <a:fld id="{7CF79DB2-B0CF-4CB1-AE78-9ED1037C015C}" type="slidenum">
              <a:rPr lang="en-US" smtClean="0"/>
              <a:t>‹N°›</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Forme libre : Form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bg2"/>
              </a:solidFill>
            </a:endParaRPr>
          </a:p>
        </p:txBody>
      </p:sp>
      <p:sp>
        <p:nvSpPr>
          <p:cNvPr id="2" name="Titr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rtlCol="0" anchor="ctr">
            <a:normAutofit/>
          </a:bodyPr>
          <a:lstStyle>
            <a:lvl1pPr algn="ctr">
              <a:defRPr sz="6000">
                <a:solidFill>
                  <a:schemeClr val="tx2"/>
                </a:solidFill>
              </a:defRPr>
            </a:lvl1pPr>
          </a:lstStyle>
          <a:p>
            <a:pPr rtl="0"/>
            <a:r>
              <a:rPr lang="fr"/>
              <a:t>Modifiez le style du titre</a:t>
            </a:r>
          </a:p>
        </p:txBody>
      </p:sp>
      <p:sp>
        <p:nvSpPr>
          <p:cNvPr id="3" name="Sous-titr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rtlCol="0"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p>
        </p:txBody>
      </p:sp>
      <p:sp>
        <p:nvSpPr>
          <p:cNvPr id="12" name="Espace réservé d’image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rtlCol="0"/>
          <a:lstStyle>
            <a:lvl1pPr algn="ct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rtlCol="0"/>
          <a:lstStyle>
            <a:lvl1pPr algn="ctr">
              <a:defRPr>
                <a:solidFill>
                  <a:schemeClr val="tx2"/>
                </a:solidFill>
              </a:defRPr>
            </a:lvl1pPr>
          </a:lstStyle>
          <a:p>
            <a:pPr rtl="0"/>
            <a:fld id="{4BEBB76A-5642-4655-AA5F-D2E8581DD95F}" type="datetimeFigureOut">
              <a:rPr lang="en-US" smtClean="0"/>
              <a:pPr rtl="0"/>
              <a:t>3/9/2026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rdre du jour">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rtlCol="0" anchor="ctr">
            <a:normAutofit/>
          </a:bodyPr>
          <a:lstStyle>
            <a:lvl1pPr algn="ctr">
              <a:defRPr sz="7200">
                <a:solidFill>
                  <a:schemeClr val="bg2"/>
                </a:solidFill>
              </a:defRPr>
            </a:lvl1pPr>
          </a:lstStyle>
          <a:p>
            <a:pPr rtl="0"/>
            <a:r>
              <a:rPr lang="fr"/>
              <a:t>Modifiez le style du titre</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rtlCol="0" anchor="ctr">
            <a:normAutofit/>
          </a:bodyPr>
          <a:lstStyle>
            <a:lvl1pPr>
              <a:defRPr sz="1600"/>
            </a:lvl1pPr>
            <a:lvl2pPr>
              <a:defRPr sz="1400"/>
            </a:lvl2pPr>
            <a:lvl3pPr>
              <a:defRPr sz="1400"/>
            </a:lvl3pPr>
            <a:lvl4pPr>
              <a:defRPr sz="1400"/>
            </a:lvl4pPr>
            <a:lvl5pPr>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bg2"/>
                </a:solidFill>
              </a:defRPr>
            </a:lvl1pPr>
          </a:lstStyle>
          <a:p>
            <a:pPr rtl="0"/>
            <a:endParaRPr lang="en-US">
              <a:solidFill>
                <a:schemeClr val="bg2"/>
              </a:solidFill>
            </a:endParaRPr>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rdre du jour 2">
    <p:bg>
      <p:bgPr>
        <a:solidFill>
          <a:schemeClr val="accent1"/>
        </a:solidFill>
        <a:effectLst/>
      </p:bgPr>
    </p:bg>
    <p:spTree>
      <p:nvGrpSpPr>
        <p:cNvPr id="1" name=""/>
        <p:cNvGrpSpPr/>
        <p:nvPr/>
      </p:nvGrpSpPr>
      <p:grpSpPr>
        <a:xfrm>
          <a:off x="0" y="0"/>
          <a:ext cx="0" cy="0"/>
          <a:chOff x="0" y="0"/>
          <a:chExt cx="0" cy="0"/>
        </a:xfrm>
      </p:grpSpPr>
      <p:sp>
        <p:nvSpPr>
          <p:cNvPr id="28" name="Titr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rtlCol="0">
            <a:noAutofit/>
          </a:bodyPr>
          <a:lstStyle>
            <a:lvl1pPr>
              <a:defRPr sz="7200">
                <a:solidFill>
                  <a:schemeClr val="tx2"/>
                </a:solidFill>
              </a:defRPr>
            </a:lvl1pPr>
          </a:lstStyle>
          <a:p>
            <a:pPr rtl="0"/>
            <a:r>
              <a:rPr lang="fr"/>
              <a:t>Modifiez le style du titre</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rtlCol="0"/>
          <a:lstStyle>
            <a:lvl1pPr>
              <a:defRPr>
                <a:solidFill>
                  <a:schemeClr val="tx2"/>
                </a:solidFill>
              </a:defRPr>
            </a:lvl1pPr>
          </a:lstStyle>
          <a:p>
            <a:pPr rtl="0"/>
            <a:endParaRPr lang="en-US">
              <a:solidFill>
                <a:schemeClr val="tx2"/>
              </a:solidFill>
            </a:endParaRP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rtlCol="0">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rtlCol="0"/>
          <a:lstStyle>
            <a:lvl1pPr algn="l">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
        <p:nvSpPr>
          <p:cNvPr id="7" name="Forme libre : Form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8" name="Triangle isocè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Forme libre : Form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Étoile : 7 points sur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1" name="Groupe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e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Forme libre : Form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Ovale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Forme libre : Form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6" name="Forme libre : Form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7" name="Groupe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e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0" name="Ovale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orme libre : Form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22" name="Forme libre : Form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rdre du jour avec image">
    <p:bg>
      <p:bgPr>
        <a:solidFill>
          <a:schemeClr val="accent1"/>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rtlCol="0"/>
          <a:lstStyle>
            <a:lvl1pPr>
              <a:defRPr sz="8000">
                <a:solidFill>
                  <a:schemeClr val="tx2"/>
                </a:solidFill>
              </a:defRPr>
            </a:lvl1pPr>
          </a:lstStyle>
          <a:p>
            <a:pPr rtl="0"/>
            <a:r>
              <a:rPr lang="fr"/>
              <a:t>Modifiez le style du titre</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rtlCol="0"/>
          <a:lstStyle>
            <a:lvl1pPr>
              <a:defRPr>
                <a:solidFill>
                  <a:schemeClr val="tx2"/>
                </a:solidFill>
              </a:defRPr>
            </a:lvl1pPr>
          </a:lstStyle>
          <a:p>
            <a:pPr rtl="0"/>
            <a:endParaRPr lang="en-US">
              <a:solidFill>
                <a:schemeClr val="tx2"/>
              </a:solidFill>
            </a:endParaRP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rtlCol="0">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rtlCol="0"/>
          <a:lstStyle>
            <a:lvl1pPr algn="l">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
        <p:nvSpPr>
          <p:cNvPr id="24" name="Espace réservé d’image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rtlCol="0">
            <a:noAutofit/>
          </a:bodyPr>
          <a:lstStyle>
            <a:lvl1pPr marL="0" indent="0">
              <a:buNone/>
              <a:defRPr>
                <a:solidFill>
                  <a:schemeClr val="tx2"/>
                </a:solidFill>
              </a:defRPr>
            </a:lvl1pPr>
          </a:lstStyle>
          <a:p>
            <a:pPr rtl="0"/>
            <a:r>
              <a:rPr lang="fr"/>
              <a:t>  </a:t>
            </a:r>
          </a:p>
        </p:txBody>
      </p:sp>
      <p:sp>
        <p:nvSpPr>
          <p:cNvPr id="25" name="Forme libre : Form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a:p>
            <a:pPr algn="ctr" rtl="0"/>
            <a:endParaRPr lang="en-US">
              <a:solidFill>
                <a:schemeClr val="tx2"/>
              </a:solidFill>
            </a:endParaRPr>
          </a:p>
        </p:txBody>
      </p:sp>
      <p:sp>
        <p:nvSpPr>
          <p:cNvPr id="10" name="Forme libre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grpSp>
        <p:nvGrpSpPr>
          <p:cNvPr id="27" name="Groupe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orme libre : Form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ln>
                  <a:solidFill>
                    <a:srgbClr val="2C3431"/>
                  </a:solidFill>
                </a:ln>
                <a:solidFill>
                  <a:schemeClr val="tx2"/>
                </a:solidFill>
              </a:endParaRPr>
            </a:p>
          </p:txBody>
        </p:sp>
        <p:sp>
          <p:nvSpPr>
            <p:cNvPr id="29" name="Ovale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30" name="Forme libre : Form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31" name="Ovale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32" name="Forme libre : Form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n-tête de section">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orme libre : Form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rtlCol="0" anchor="b">
            <a:normAutofit/>
          </a:bodyPr>
          <a:lstStyle>
            <a:lvl1pPr>
              <a:defRPr sz="8000">
                <a:solidFill>
                  <a:schemeClr val="accent3">
                    <a:lumMod val="75000"/>
                  </a:schemeClr>
                </a:solidFill>
              </a:defRPr>
            </a:lvl1pPr>
          </a:lstStyle>
          <a:p>
            <a:pPr rtl="0"/>
            <a:r>
              <a:rPr lang="fr"/>
              <a:t>En-tête de section</a:t>
            </a:r>
          </a:p>
        </p:txBody>
      </p:sp>
      <p:sp>
        <p:nvSpPr>
          <p:cNvPr id="5" name="Espace réservé du pied de page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rtlCol="0"/>
          <a:lstStyle>
            <a:lvl1pPr>
              <a:defRPr>
                <a:solidFill>
                  <a:schemeClr val="accent3">
                    <a:lumMod val="75000"/>
                  </a:schemeClr>
                </a:solidFill>
              </a:defRPr>
            </a:lvl1pPr>
          </a:lstStyle>
          <a:p>
            <a:pPr rtl="0"/>
            <a:endParaRPr lang="en-US"/>
          </a:p>
        </p:txBody>
      </p:sp>
      <p:sp>
        <p:nvSpPr>
          <p:cNvPr id="4" name="Espace réservé de la date 3">
            <a:extLst>
              <a:ext uri="{FF2B5EF4-FFF2-40B4-BE49-F238E27FC236}">
                <a16:creationId xmlns:a16="http://schemas.microsoft.com/office/drawing/2014/main" id="{D3D89F01-23DF-7F47-AE88-C42313662CB1}"/>
              </a:ext>
            </a:extLst>
          </p:cNvPr>
          <p:cNvSpPr>
            <a:spLocks noGrp="1"/>
          </p:cNvSpPr>
          <p:nvPr>
            <p:ph type="dt" sz="half" idx="10"/>
          </p:nvPr>
        </p:nvSpPr>
        <p:spPr/>
        <p:txBody>
          <a:bodyPr rtlCol="0"/>
          <a:lstStyle>
            <a:lvl1pPr>
              <a:defRPr>
                <a:solidFill>
                  <a:schemeClr val="accent3">
                    <a:lumMod val="75000"/>
                  </a:schemeClr>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rtlCol="0"/>
          <a:lstStyle>
            <a:lvl1pPr>
              <a:defRPr>
                <a:solidFill>
                  <a:schemeClr val="accent3">
                    <a:lumMod val="75000"/>
                  </a:schemeClr>
                </a:solidFill>
              </a:defRPr>
            </a:lvl1pPr>
          </a:lstStyle>
          <a:p>
            <a:pPr rtl="0"/>
            <a:fld id="{7CF79DB2-B0CF-4CB1-AE78-9ED1037C015C}" type="slidenum">
              <a:rPr lang="en-US" smtClean="0"/>
              <a:t>‹N°›</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tête de section 2">
    <p:bg>
      <p:bgPr>
        <a:solidFill>
          <a:schemeClr val="accent3"/>
        </a:solidFill>
        <a:effectLst/>
      </p:bgPr>
    </p:bg>
    <p:spTree>
      <p:nvGrpSpPr>
        <p:cNvPr id="1" name=""/>
        <p:cNvGrpSpPr/>
        <p:nvPr/>
      </p:nvGrpSpPr>
      <p:grpSpPr>
        <a:xfrm>
          <a:off x="0" y="0"/>
          <a:ext cx="0" cy="0"/>
          <a:chOff x="0" y="0"/>
          <a:chExt cx="0" cy="0"/>
        </a:xfrm>
      </p:grpSpPr>
      <p:sp>
        <p:nvSpPr>
          <p:cNvPr id="11" name="Forme libre : Form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rtlCol="0" anchor="b">
            <a:normAutofit/>
          </a:bodyPr>
          <a:lstStyle>
            <a:lvl1pPr>
              <a:defRPr sz="8000">
                <a:solidFill>
                  <a:schemeClr val="tx2"/>
                </a:solidFill>
              </a:defRPr>
            </a:lvl1pPr>
          </a:lstStyle>
          <a:p>
            <a:pPr rtl="0"/>
            <a:r>
              <a:rPr lang="fr"/>
              <a:t>En-tête de section</a:t>
            </a:r>
          </a:p>
        </p:txBody>
      </p:sp>
      <p:sp>
        <p:nvSpPr>
          <p:cNvPr id="5" name="Espace réservé du pied de page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D3D89F01-23DF-7F47-AE88-C42313662CB1}"/>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u 2">
    <p:spTree>
      <p:nvGrpSpPr>
        <p:cNvPr id="1" name=""/>
        <p:cNvGrpSpPr/>
        <p:nvPr/>
      </p:nvGrpSpPr>
      <p:grpSpPr>
        <a:xfrm>
          <a:off x="0" y="0"/>
          <a:ext cx="0" cy="0"/>
          <a:chOff x="0" y="0"/>
          <a:chExt cx="0" cy="0"/>
        </a:xfrm>
      </p:grpSpPr>
      <p:sp>
        <p:nvSpPr>
          <p:cNvPr id="24" name="Forme libre : Form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Étoile : 7 points sur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Forme libre : Form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rtlCol="0"/>
          <a:lstStyle>
            <a:lvl1pPr algn="ctr">
              <a:defRPr/>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8" name="Triangle isocè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Étoile : 7 points sur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Forme libre : Form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Forme libre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7" name="Forme libre : Form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Forme libre : Form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u 3">
    <p:spTree>
      <p:nvGrpSpPr>
        <p:cNvPr id="1" name=""/>
        <p:cNvGrpSpPr/>
        <p:nvPr/>
      </p:nvGrpSpPr>
      <p:grpSpPr>
        <a:xfrm>
          <a:off x="0" y="0"/>
          <a:ext cx="0" cy="0"/>
          <a:chOff x="0" y="0"/>
          <a:chExt cx="0" cy="0"/>
        </a:xfrm>
      </p:grpSpPr>
      <p:sp>
        <p:nvSpPr>
          <p:cNvPr id="46" name="Forme libre : Form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4" name="Forme libre : Form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rtlCol="0"/>
          <a:lstStyle>
            <a:lvl1pPr algn="ctr">
              <a:defRPr/>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11" name="Triangle isocè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Étoile : 7 points sur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Forme libre : Form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8" name="Forme libre : Form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2" name="Forme libre : Form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8" name="Groupe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e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Forme libre : Form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1" name="Ovale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Forme libre : Form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nvGrpSpPr>
          <p:cNvPr id="23" name="Groupe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e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5" name="Forme libre : Form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6" name="Ovale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Format libre : Form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8" name="Forme libre : Form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9" name="Groupe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e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e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Ovale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31" name="Forme libre : Form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4" name="Groupe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e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e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Freeform: Form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Ovale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0" name="Forme libre : Form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36" name="Forme libre : Form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u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7" name="Forme libre : Form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a:p>
            <a:pPr algn="ctr" rtl="0"/>
            <a:endParaRPr lang="en-US"/>
          </a:p>
        </p:txBody>
      </p:sp>
      <p:sp>
        <p:nvSpPr>
          <p:cNvPr id="8" name="Étoile : 7 points sur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Forme libre : Form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0" name="Groupe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e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Forme libre : Form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3" name="Ovale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Forme libre : Form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5" name="Ovale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6" name="Groupe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orme libre : Form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8" name="Forme libre : Form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u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9" name="Forme libre : Form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orme libre : Form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Étoile : 7 points sur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2" name="Groupe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e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e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Ovale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14" name="Forme libre : Form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7" name="Groupe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orme libre : Form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30" name="Forme libre : Form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7" name="Groupe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e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orme libre : Form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2" name="Ovale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Forme libre : Form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39" name="Ovale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u 6">
    <p:spTree>
      <p:nvGrpSpPr>
        <p:cNvPr id="1" name=""/>
        <p:cNvGrpSpPr/>
        <p:nvPr/>
      </p:nvGrpSpPr>
      <p:grpSpPr>
        <a:xfrm>
          <a:off x="0" y="0"/>
          <a:ext cx="0" cy="0"/>
          <a:chOff x="0" y="0"/>
          <a:chExt cx="0" cy="0"/>
        </a:xfrm>
      </p:grpSpPr>
      <p:sp>
        <p:nvSpPr>
          <p:cNvPr id="10" name="Étoile : 7 points sur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Forme libre : Form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a:p>
            <a:pPr algn="ctr" rtl="0"/>
            <a:endParaRPr lang="en-US"/>
          </a:p>
        </p:txBody>
      </p:sp>
      <p:sp>
        <p:nvSpPr>
          <p:cNvPr id="13" name="Forme libre : Form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4" name="Groupe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e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Format libre : Form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 name="Forme libre : Form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8" name="Groupe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orme libre : Form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Forme libre : Form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Forme libre : Form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8" name="Groupe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e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1" name="Forme libre : Form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2" name="Ovale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Forme libre : Form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4" name="Forme libre : Form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u 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7" name="Forme libre : Form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Forme libre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Étoile : 7 points sur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Forme libre : Form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1" name="Groupe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e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Forme libre : Form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4" name="Ovale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Forme libre : Form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nvGrpSpPr>
          <p:cNvPr id="35" name="Groupe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orme libre : Form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9" name="Forme libre : Form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0" name="Forme libre : Form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u 8">
    <p:spTree>
      <p:nvGrpSpPr>
        <p:cNvPr id="1" name=""/>
        <p:cNvGrpSpPr/>
        <p:nvPr/>
      </p:nvGrpSpPr>
      <p:grpSpPr>
        <a:xfrm>
          <a:off x="0" y="0"/>
          <a:ext cx="0" cy="0"/>
          <a:chOff x="0" y="0"/>
          <a:chExt cx="0" cy="0"/>
        </a:xfrm>
      </p:grpSpPr>
      <p:sp>
        <p:nvSpPr>
          <p:cNvPr id="13" name="Forme libre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24" name="Forme libre : Form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6" name="Forme libre : Form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34" name="Groupe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orme libre : Form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Forme libre : Form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Forme libre : Form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7" name="Groupe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e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Forme libre : Form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Ovale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Forme libre : Form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2" name="Ovale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u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12" name="Forme libre : Form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u 10">
    <p:spTree>
      <p:nvGrpSpPr>
        <p:cNvPr id="1" name=""/>
        <p:cNvGrpSpPr/>
        <p:nvPr/>
      </p:nvGrpSpPr>
      <p:grpSpPr>
        <a:xfrm>
          <a:off x="0" y="0"/>
          <a:ext cx="0" cy="0"/>
          <a:chOff x="0" y="0"/>
          <a:chExt cx="0" cy="0"/>
        </a:xfrm>
      </p:grpSpPr>
      <p:sp>
        <p:nvSpPr>
          <p:cNvPr id="7" name="Ovale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Forme libre : Form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3" name="Groupe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orme libre : Form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Forme libre : Form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Forme libre : Form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u 11">
    <p:spTree>
      <p:nvGrpSpPr>
        <p:cNvPr id="1" name=""/>
        <p:cNvGrpSpPr/>
        <p:nvPr/>
      </p:nvGrpSpPr>
      <p:grpSpPr>
        <a:xfrm>
          <a:off x="0" y="0"/>
          <a:ext cx="0" cy="0"/>
          <a:chOff x="0" y="0"/>
          <a:chExt cx="0" cy="0"/>
        </a:xfrm>
      </p:grpSpPr>
      <p:grpSp>
        <p:nvGrpSpPr>
          <p:cNvPr id="43" name="Groupe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Triangle isocè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Forme libre : Form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1" name="Forme libre : Form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42" name="Groupe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orme libre : Form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Forme libre : Form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orme libre : Form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3" name="Groupe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e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6" name="Ovale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30" name="Forme libre : Form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41" name="Groupe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e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e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Forme libre : Form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8" name="Ovale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9" name="Forme libre : Form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40" name="Ovale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u 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rtlCol="0"/>
          <a:lstStyle>
            <a:lvl1pPr algn="ctr">
              <a:defRPr/>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14" name="Étoile : 7 points sur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u 13">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u 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u avec image">
    <p:spTree>
      <p:nvGrpSpPr>
        <p:cNvPr id="1" name=""/>
        <p:cNvGrpSpPr/>
        <p:nvPr/>
      </p:nvGrpSpPr>
      <p:grpSpPr>
        <a:xfrm>
          <a:off x="0" y="0"/>
          <a:ext cx="0" cy="0"/>
          <a:chOff x="0" y="0"/>
          <a:chExt cx="0" cy="0"/>
        </a:xfrm>
      </p:grpSpPr>
      <p:sp>
        <p:nvSpPr>
          <p:cNvPr id="15" name="Étoile : 7 points sur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rtlCol="0"/>
          <a:lstStyle>
            <a:lvl1pPr>
              <a:buNone/>
              <a:defRPr/>
            </a:lvl1pPr>
            <a:lvl2pPr>
              <a:buNone/>
              <a:defRPr/>
            </a:lvl2pPr>
            <a:lvl3pPr>
              <a:buNone/>
              <a:defRPr/>
            </a:lvl3pPr>
            <a:lvl4pPr>
              <a:buNone/>
              <a:defRPr/>
            </a:lvl4pPr>
            <a:lvl5pPr>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rtlCol="0"/>
          <a:lstStyle/>
          <a:p>
            <a:pPr rtl="0"/>
            <a:fld id="{4BEBB76A-5642-4655-AA5F-D2E8581DD95F}" type="datetimeFigureOut">
              <a:rPr lang="en-US" smtClean="0"/>
              <a:t>3/9/2026</a:t>
            </a:fld>
            <a:endParaRPr lang="en-US"/>
          </a:p>
        </p:txBody>
      </p:sp>
      <p:sp>
        <p:nvSpPr>
          <p:cNvPr id="16" name="Espace réservé d’image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grpSp>
        <p:nvGrpSpPr>
          <p:cNvPr id="9" name="Groupe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e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Forme libre : Form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2" name="Ovale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Forme libre : Form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14" name="Forme libre : Form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u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rtlCol="0"/>
          <a:lstStyle/>
          <a:p>
            <a:pPr rtl="0"/>
            <a:r>
              <a:rPr lang="fr"/>
              <a:t>Modifiez le style du titre</a:t>
            </a:r>
            <a:endParaRPr lang="en-US"/>
          </a:p>
        </p:txBody>
      </p:sp>
      <p:sp>
        <p:nvSpPr>
          <p:cNvPr id="18" name="Espace réservé d’image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rtlCol="0"/>
          <a:lstStyle>
            <a:lvl1pPr>
              <a:buNone/>
              <a:defRPr/>
            </a:lvl1pPr>
            <a:lvl2pPr>
              <a:buNone/>
              <a:defRPr/>
            </a:lvl2pPr>
            <a:lvl3pPr>
              <a:buNone/>
              <a:defRPr/>
            </a:lvl3pPr>
            <a:lvl4pPr>
              <a:buNone/>
              <a:defRPr/>
            </a:lvl4pPr>
            <a:lvl5pPr>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u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9" name="Espace réservé d’image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rtlCol="0">
            <a:noAutofit/>
          </a:bodyPr>
          <a:lstStyle>
            <a:lvl1pPr>
              <a:buNone/>
              <a:defRPr/>
            </a:lvl1pPr>
          </a:lstStyle>
          <a:p>
            <a:pPr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18" name="Forme libre : Form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28" name="Groupe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e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Forme libre : Form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Ovale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Forme libre : Form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9" name="Forme libre : Form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u avec image 4">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rtlCol="0"/>
          <a:lstStyle/>
          <a:p>
            <a:pPr rtl="0"/>
            <a:r>
              <a:rPr lang="fr"/>
              <a:t>Modifiez le style du titre</a:t>
            </a:r>
            <a:endParaRPr lang="en-US"/>
          </a:p>
        </p:txBody>
      </p:sp>
      <p:sp>
        <p:nvSpPr>
          <p:cNvPr id="7" name="Espace réservé d’image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9" name="Étoile : 7 points sur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u avec image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rtlCol="0"/>
          <a:lstStyle/>
          <a:p>
            <a:pPr rtl="0"/>
            <a:r>
              <a:rPr lang="fr"/>
              <a:t>Modifiez le style du titre</a:t>
            </a:r>
            <a:endParaRPr lang="en-US"/>
          </a:p>
        </p:txBody>
      </p:sp>
      <p:sp>
        <p:nvSpPr>
          <p:cNvPr id="14" name="Espace réservé d’image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u avec Image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7" name="Espace réservé d’image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rtlCol="0"/>
          <a:lstStyle/>
          <a:p>
            <a:pPr rtl="0"/>
            <a:r>
              <a:rPr lang="fr"/>
              <a:t>Modifiez le style du titre</a:t>
            </a:r>
            <a:endParaRPr lang="en-US"/>
          </a:p>
        </p:txBody>
      </p:sp>
      <p:sp>
        <p:nvSpPr>
          <p:cNvPr id="11" name="Espace réservé d’image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u avec image 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6" name="Espace réservé d’image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rtlCol="0"/>
          <a:lstStyle/>
          <a:p>
            <a:pPr rtl="0"/>
            <a:fld id="{7CF79DB2-B0CF-4CB1-AE78-9ED1037C015C}" type="slidenum">
              <a:rPr lang="en-US" smtClean="0"/>
              <a:t>‹N°›</a:t>
            </a:fld>
            <a:endParaRPr lang="en-US"/>
          </a:p>
        </p:txBody>
      </p:sp>
      <p:sp>
        <p:nvSpPr>
          <p:cNvPr id="17" name="Forme libre : Form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u avec image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2" name="Espace réservé d’image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rtlCol="0"/>
          <a:lstStyle/>
          <a:p>
            <a:pPr rtl="0"/>
            <a:fld id="{7CF79DB2-B0CF-4CB1-AE78-9ED1037C015C}" type="slidenum">
              <a:rPr lang="en-US" smtClean="0"/>
              <a:t>‹N°›</a:t>
            </a:fld>
            <a:endParaRPr lang="en-US"/>
          </a:p>
        </p:txBody>
      </p:sp>
      <p:sp>
        <p:nvSpPr>
          <p:cNvPr id="20" name="Ovale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33" name="Groupe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orme libre : Form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Ovale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Forme libre : Form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7" name="Ovale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Forme libre : Form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rtlCol="0"/>
          <a:lstStyle/>
          <a:p>
            <a:pPr rtl="0"/>
            <a:fld id="{7CF79DB2-B0CF-4CB1-AE78-9ED1037C015C}" type="slidenum">
              <a:rPr lang="en-US" smtClean="0"/>
              <a:t>‹N°›</a:t>
            </a:fld>
            <a:endParaRPr lang="en-US"/>
          </a:p>
        </p:txBody>
      </p:sp>
      <p:sp>
        <p:nvSpPr>
          <p:cNvPr id="11" name="Espace réservé d’image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u avec image 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rtlCol="0"/>
          <a:lstStyle/>
          <a:p>
            <a:pPr rtl="0"/>
            <a:fld id="{7CF79DB2-B0CF-4CB1-AE78-9ED1037C015C}" type="slidenum">
              <a:rPr lang="en-US" smtClean="0"/>
              <a:t>‹N°›</a:t>
            </a:fld>
            <a:endParaRPr lang="en-US"/>
          </a:p>
        </p:txBody>
      </p:sp>
      <p:sp>
        <p:nvSpPr>
          <p:cNvPr id="11" name="Espace réservé d’image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u avec image 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rtlCol="0" anchor="t"/>
          <a:lstStyle/>
          <a:p>
            <a:pPr rtl="0"/>
            <a:r>
              <a:rPr lang="fr"/>
              <a:t>Modifiez le style du titre</a:t>
            </a:r>
            <a:endParaRPr lang="en-US"/>
          </a:p>
        </p:txBody>
      </p:sp>
      <p:sp>
        <p:nvSpPr>
          <p:cNvPr id="9" name="Espace réservé d’image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u avec image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rtlCol="0" anchor="t"/>
          <a:lstStyle/>
          <a:p>
            <a:pPr rtl="0"/>
            <a:r>
              <a:rPr lang="fr"/>
              <a:t>Modifiez le style du titre</a:t>
            </a:r>
            <a:endParaRPr lang="en-US"/>
          </a:p>
        </p:txBody>
      </p:sp>
      <p:sp>
        <p:nvSpPr>
          <p:cNvPr id="13" name="Espace réservé d’image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u avec image 14">
    <p:spTree>
      <p:nvGrpSpPr>
        <p:cNvPr id="1" name=""/>
        <p:cNvGrpSpPr/>
        <p:nvPr/>
      </p:nvGrpSpPr>
      <p:grpSpPr>
        <a:xfrm>
          <a:off x="0" y="0"/>
          <a:ext cx="0" cy="0"/>
          <a:chOff x="0" y="0"/>
          <a:chExt cx="0" cy="0"/>
        </a:xfrm>
      </p:grpSpPr>
      <p:sp>
        <p:nvSpPr>
          <p:cNvPr id="31" name="Forme libre : Form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rtlCol="0" anchor="t"/>
          <a:lstStyle/>
          <a:p>
            <a:pPr rtl="0"/>
            <a:r>
              <a:rPr lang="fr"/>
              <a:t>Modifiez le style du titre</a:t>
            </a:r>
            <a:endParaRPr lang="en-US"/>
          </a:p>
        </p:txBody>
      </p:sp>
      <p:sp>
        <p:nvSpPr>
          <p:cNvPr id="35" name="Espace réservé d’image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grpSp>
        <p:nvGrpSpPr>
          <p:cNvPr id="15" name="Groupe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e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 name="Forme libre : Form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8" name="Ovale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0" name="Forme libre : Form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u avec image 1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rtlCol="0" anchor="ctr"/>
          <a:lstStyle/>
          <a:p>
            <a:pPr rtl="0"/>
            <a:r>
              <a:rPr lang="fr"/>
              <a:t>Modifiez le style du titre</a:t>
            </a:r>
            <a:endParaRPr lang="en-US"/>
          </a:p>
        </p:txBody>
      </p:sp>
      <p:sp>
        <p:nvSpPr>
          <p:cNvPr id="19" name="Forme libre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u avec image 1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rtlCol="0" anchor="t"/>
          <a:lstStyle/>
          <a:p>
            <a:pPr rtl="0"/>
            <a:r>
              <a:rPr lang="fr"/>
              <a:t>Modifiez le style du titre</a:t>
            </a:r>
            <a:endParaRPr lang="en-US"/>
          </a:p>
        </p:txBody>
      </p:sp>
      <p:sp>
        <p:nvSpPr>
          <p:cNvPr id="14" name="Espace réservé d’image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
        <p:nvSpPr>
          <p:cNvPr id="10" name="Étoile : 7 points sur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u avec image 17">
    <p:spTree>
      <p:nvGrpSpPr>
        <p:cNvPr id="1" name=""/>
        <p:cNvGrpSpPr/>
        <p:nvPr/>
      </p:nvGrpSpPr>
      <p:grpSpPr>
        <a:xfrm>
          <a:off x="0" y="0"/>
          <a:ext cx="0" cy="0"/>
          <a:chOff x="0" y="0"/>
          <a:chExt cx="0" cy="0"/>
        </a:xfrm>
      </p:grpSpPr>
      <p:sp>
        <p:nvSpPr>
          <p:cNvPr id="9" name="Forme libre : Form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rtlCol="0" anchor="t"/>
          <a:lstStyle/>
          <a:p>
            <a:pPr rtl="0"/>
            <a:r>
              <a:rPr lang="fr"/>
              <a:t>Modifiez le style du titre</a:t>
            </a:r>
            <a:endParaRPr lang="en-US"/>
          </a:p>
        </p:txBody>
      </p:sp>
      <p:sp>
        <p:nvSpPr>
          <p:cNvPr id="13" name="Espace réservé d’image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grpSp>
        <p:nvGrpSpPr>
          <p:cNvPr id="17" name="Groupe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e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0" name="Ovale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orme libre : Form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22" name="Forme libre : Form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Énoncé">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rtl="0"/>
            <a:r>
              <a:rPr lang="fr"/>
              <a:t>Cliquez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accent3">
                    <a:lumMod val="75000"/>
                  </a:schemeClr>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accent3">
                    <a:lumMod val="75000"/>
                  </a:schemeClr>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accent3">
                    <a:lumMod val="75000"/>
                  </a:schemeClr>
                </a:solidFill>
              </a:defRPr>
            </a:lvl1pPr>
          </a:lstStyle>
          <a:p>
            <a:pPr rtl="0"/>
            <a:fld id="{7CF79DB2-B0CF-4CB1-AE78-9ED1037C015C}" type="slidenum">
              <a:rPr lang="en-US" smtClean="0"/>
              <a:t>‹N°›</a:t>
            </a:fld>
            <a:endParaRPr lang="en-US"/>
          </a:p>
        </p:txBody>
      </p:sp>
      <p:sp>
        <p:nvSpPr>
          <p:cNvPr id="16" name="Ovale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 name="Étoile : 7 points sur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Forme libre : Form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Énoncé 2">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rtlCol="0"/>
          <a:lstStyle>
            <a:lvl1pPr>
              <a:defRPr>
                <a:solidFill>
                  <a:schemeClr val="bg2"/>
                </a:solidFill>
              </a:defRPr>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rtlCol="0"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rtl="0"/>
            <a:r>
              <a:rPr lang="fr"/>
              <a:t>Cliquez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
        <p:nvSpPr>
          <p:cNvPr id="9" name="Forme libre : Form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Énoncé 3">
    <p:bg>
      <p:bgPr>
        <a:solidFill>
          <a:schemeClr val="accent1"/>
        </a:solidFill>
        <a:effectLst/>
      </p:bgPr>
    </p:bg>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rgbClr val="F7F5F1"/>
              </a:solidFill>
            </a:endParaRPr>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rtlCol="0"/>
          <a:lstStyle>
            <a:lvl1pPr>
              <a:defRPr>
                <a:solidFill>
                  <a:schemeClr val="bg2"/>
                </a:solidFill>
              </a:defRPr>
            </a:lvl1pPr>
          </a:lstStyle>
          <a:p>
            <a:pPr rtl="0"/>
            <a:r>
              <a:rPr lang="fr"/>
              <a:t>Modifiez le style du titre</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rtl="0"/>
            <a:r>
              <a:rPr lang="fr"/>
              <a:t>Cliquez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
        <p:nvSpPr>
          <p:cNvPr id="12" name="Étoile : 7 points sur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7F5F1"/>
              </a:solidFill>
            </a:endParaRPr>
          </a:p>
        </p:txBody>
      </p:sp>
      <p:sp>
        <p:nvSpPr>
          <p:cNvPr id="13" name="Triangle isocè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7F5F1"/>
              </a:solidFill>
            </a:endParaRPr>
          </a:p>
        </p:txBody>
      </p:sp>
      <p:sp>
        <p:nvSpPr>
          <p:cNvPr id="15" name="Forme libre : Form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rgbClr val="F7F5F1"/>
              </a:solidFill>
            </a:endParaRPr>
          </a:p>
        </p:txBody>
      </p:sp>
      <p:sp>
        <p:nvSpPr>
          <p:cNvPr id="7" name="Forme libre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rgbClr val="F7F5F1"/>
              </a:solidFill>
            </a:endParaRPr>
          </a:p>
        </p:txBody>
      </p:sp>
      <p:sp>
        <p:nvSpPr>
          <p:cNvPr id="10" name="Forme libre : Form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Énoncé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2"/>
              </a:solidFill>
            </a:endParaRPr>
          </a:p>
        </p:txBody>
      </p:sp>
      <p:sp>
        <p:nvSpPr>
          <p:cNvPr id="14" name="Forme libre : Form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rtl="0"/>
            <a:r>
              <a:rPr lang="fr"/>
              <a:t>Cliquez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sp>
        <p:nvSpPr>
          <p:cNvPr id="12" name="Étoile : 7 points sur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3" name="Triangle isocè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5" name="Forme libre : Form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7" name="Forme libre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20" name="Forme libre : Form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itation">
    <p:bg>
      <p:bgPr>
        <a:solidFill>
          <a:schemeClr val="bg2"/>
        </a:solidFill>
        <a:effectLst/>
      </p:bgPr>
    </p:bg>
    <p:spTree>
      <p:nvGrpSpPr>
        <p:cNvPr id="1" name=""/>
        <p:cNvGrpSpPr/>
        <p:nvPr/>
      </p:nvGrpSpPr>
      <p:grpSpPr>
        <a:xfrm>
          <a:off x="0" y="0"/>
          <a:ext cx="0" cy="0"/>
          <a:chOff x="0" y="0"/>
          <a:chExt cx="0" cy="0"/>
        </a:xfrm>
      </p:grpSpPr>
      <p:sp>
        <p:nvSpPr>
          <p:cNvPr id="12" name="Ovale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rtlCol="0" anchor="ctr">
            <a:normAutofit/>
          </a:bodyPr>
          <a:lstStyle>
            <a:lvl1pPr>
              <a:defRPr sz="3600">
                <a:solidFill>
                  <a:schemeClr val="tx2"/>
                </a:solidFill>
              </a:defRPr>
            </a:lvl1pPr>
          </a:lstStyle>
          <a:p>
            <a:pPr rtl="0"/>
            <a:r>
              <a:rPr lang="fr"/>
              <a:t>Auteur de la citation</a:t>
            </a:r>
          </a:p>
        </p:txBody>
      </p:sp>
      <p:sp>
        <p:nvSpPr>
          <p:cNvPr id="9" name="Espace réservé du contenu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rtlCol="0"/>
          <a:lstStyle>
            <a:lvl1pPr marL="0" indent="0">
              <a:lnSpc>
                <a:spcPct val="100000"/>
              </a:lnSpc>
              <a:buNone/>
              <a:defRPr sz="4400"/>
            </a:lvl1pPr>
          </a:lstStyle>
          <a:p>
            <a:pPr lvl="0" rtl="0"/>
            <a:r>
              <a:rPr lang="fr"/>
              <a:t>Cliquez pour ajouter une citation</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rtlCol="0"/>
          <a:lstStyle>
            <a:lvl1pPr>
              <a:defRPr>
                <a:solidFill>
                  <a:schemeClr val="tx2"/>
                </a:solidFill>
              </a:defRPr>
            </a:lvl1pPr>
          </a:lstStyle>
          <a:p>
            <a:pPr rtl="0"/>
            <a:fld id="{7CF79DB2-B0CF-4CB1-AE78-9ED1037C015C}" type="slidenum">
              <a:rPr lang="en-US" smtClean="0"/>
              <a:t>‹N°›</a:t>
            </a:fld>
            <a:endParaRPr lang="en-US"/>
          </a:p>
        </p:txBody>
      </p:sp>
      <p:sp>
        <p:nvSpPr>
          <p:cNvPr id="14" name="Forme libre : Form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17" name="Étoile : 7 points sur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3" name="Ovale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5" name="Groupe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orme libre : Form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8" name="Forme libre : Form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orme libre : Form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0" name="Groupe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e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Forme libre : Form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3" name="Ovale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Forme libre : Form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nvGrpSpPr>
          <p:cNvPr id="32" name="Groupe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orme libre : Form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Forme libre : Form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Forme libre : Form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itation 2">
    <p:bg>
      <p:bgPr>
        <a:solidFill>
          <a:schemeClr val="bg2"/>
        </a:solidFill>
        <a:effectLst/>
      </p:bgPr>
    </p:bg>
    <p:spTree>
      <p:nvGrpSpPr>
        <p:cNvPr id="1" name=""/>
        <p:cNvGrpSpPr/>
        <p:nvPr/>
      </p:nvGrpSpPr>
      <p:grpSpPr>
        <a:xfrm>
          <a:off x="0" y="0"/>
          <a:ext cx="0" cy="0"/>
          <a:chOff x="0" y="0"/>
          <a:chExt cx="0" cy="0"/>
        </a:xfrm>
      </p:grpSpPr>
      <p:sp>
        <p:nvSpPr>
          <p:cNvPr id="18" name="Titr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rtlCol="0" anchor="ctr"/>
          <a:lstStyle>
            <a:lvl1pPr>
              <a:defRPr sz="1400" b="0" cap="all" spc="100" baseline="0">
                <a:solidFill>
                  <a:schemeClr val="tx2"/>
                </a:solidFill>
                <a:latin typeface="+mn-lt"/>
              </a:defRPr>
            </a:lvl1pPr>
          </a:lstStyle>
          <a:p>
            <a:pPr rtl="0"/>
            <a:r>
              <a:rPr lang="fr"/>
              <a:t>Auteur de la citation</a:t>
            </a:r>
          </a:p>
        </p:txBody>
      </p:sp>
      <p:sp>
        <p:nvSpPr>
          <p:cNvPr id="11" name="Forme libre : Form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9" name="Forme libre : Form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rgbClr val="568A80"/>
              </a:solidFill>
            </a:endParaRPr>
          </a:p>
        </p:txBody>
      </p:sp>
      <p:sp>
        <p:nvSpPr>
          <p:cNvPr id="22" name="Espace réservé du contenu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rtlCol="0" anchor="ctr"/>
          <a:lstStyle>
            <a:lvl1pPr marL="0" indent="0">
              <a:lnSpc>
                <a:spcPct val="55000"/>
              </a:lnSpc>
              <a:buNone/>
              <a:defRPr sz="6600" b="1">
                <a:solidFill>
                  <a:schemeClr val="tx2"/>
                </a:solidFill>
                <a:latin typeface="+mj-lt"/>
              </a:defRPr>
            </a:lvl1pPr>
          </a:lstStyle>
          <a:p>
            <a:pPr lvl="0" rtl="0"/>
            <a:r>
              <a:rPr lang="fr"/>
              <a:t>Cliquez pour ajouter une citation</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grpSp>
        <p:nvGrpSpPr>
          <p:cNvPr id="8" name="Groupe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orme libre : Form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Forme libre : Form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nvGrpSpPr>
          <p:cNvPr id="12" name="Groupe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e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Forme libre : Form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5" name="Ovale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Format libre : Form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7" name="Forme libre : Form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Citation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orme libre : Form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8" name="Ovale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Forme libre : Form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rtlCol="0" anchor="ctr">
            <a:normAutofit/>
          </a:bodyPr>
          <a:lstStyle>
            <a:lvl1pPr algn="ctr">
              <a:defRPr sz="1400" b="0" cap="all" spc="100" baseline="0">
                <a:solidFill>
                  <a:schemeClr val="tx2"/>
                </a:solidFill>
                <a:latin typeface="+mn-lt"/>
              </a:defRPr>
            </a:lvl1pPr>
          </a:lstStyle>
          <a:p>
            <a:pPr rtl="0"/>
            <a:r>
              <a:rPr lang="fr"/>
              <a:t>Auteur de la citation</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rtlCol="0"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rtl="0"/>
            <a:r>
              <a:rPr lang="fr"/>
              <a:t>Cliquez pour ajouter une citation</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grpSp>
        <p:nvGrpSpPr>
          <p:cNvPr id="21" name="Groupe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orme libre : Form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23" name="Ovale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24" name="Forme libre : Form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25" name="Ovale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26" name="Forme libre : Form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grpSp>
      <p:grpSp>
        <p:nvGrpSpPr>
          <p:cNvPr id="17" name="Groupe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e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orme libre : Form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 name="Forme libre : Form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16" name="Forme libre : Form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itation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e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Forme libre : Form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accent2">
                  <a:lumMod val="60000"/>
                  <a:lumOff val="40000"/>
                </a:schemeClr>
              </a:solidFill>
            </a:endParaRPr>
          </a:p>
        </p:txBody>
      </p:sp>
      <p:sp>
        <p:nvSpPr>
          <p:cNvPr id="10" name="Forme libre : Form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11" name="Groupe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orme libre : Form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26" name="Groupe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e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8" name="Forme libre : Form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9" name="Ovale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0" name="Forme libre : Form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grpSp>
        <p:nvGrpSpPr>
          <p:cNvPr id="31" name="Groupe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orme libre : Form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Forme libre : Form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38" name="Forme libre : Form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rtlCol="0" anchor="ctr">
            <a:normAutofit/>
          </a:bodyPr>
          <a:lstStyle>
            <a:lvl1pPr>
              <a:defRPr sz="1600" b="0" cap="all" baseline="0">
                <a:solidFill>
                  <a:schemeClr val="accent3">
                    <a:lumMod val="75000"/>
                  </a:schemeClr>
                </a:solidFill>
                <a:latin typeface="+mn-lt"/>
              </a:defRPr>
            </a:lvl1pPr>
          </a:lstStyle>
          <a:p>
            <a:pPr rtl="0"/>
            <a:r>
              <a:rPr lang="fr"/>
              <a:t>Auteur de la citation</a:t>
            </a:r>
          </a:p>
        </p:txBody>
      </p:sp>
      <p:sp>
        <p:nvSpPr>
          <p:cNvPr id="13" name="Espace réservé du contenu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rtlCol="0"/>
          <a:lstStyle>
            <a:lvl1pPr marL="0" indent="0">
              <a:lnSpc>
                <a:spcPct val="100000"/>
              </a:lnSpc>
              <a:buNone/>
              <a:defRPr sz="4600">
                <a:solidFill>
                  <a:schemeClr val="accent3">
                    <a:lumMod val="75000"/>
                  </a:schemeClr>
                </a:solidFill>
              </a:defRPr>
            </a:lvl1pPr>
          </a:lstStyle>
          <a:p>
            <a:pPr lvl="0" rtl="0"/>
            <a:r>
              <a:rPr lang="fr"/>
              <a:t>Cliquez pour ajouter une citation</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accent3">
                    <a:lumMod val="75000"/>
                  </a:schemeClr>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rtlCol="0"/>
          <a:lstStyle>
            <a:lvl1pPr>
              <a:defRPr>
                <a:solidFill>
                  <a:schemeClr val="accent3">
                    <a:lumMod val="75000"/>
                  </a:schemeClr>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accent3">
                    <a:lumMod val="75000"/>
                  </a:schemeClr>
                </a:solidFill>
              </a:defRPr>
            </a:lvl1pPr>
          </a:lstStyle>
          <a:p>
            <a:pPr rtl="0"/>
            <a:fld id="{7CF79DB2-B0CF-4CB1-AE78-9ED1037C015C}" type="slidenum">
              <a:rPr lang="en-US" smtClean="0"/>
              <a:t>‹N°›</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ombre en grand">
    <p:bg>
      <p:bgPr>
        <a:solidFill>
          <a:schemeClr val="bg2"/>
        </a:solidFill>
        <a:effectLst/>
      </p:bgPr>
    </p:bg>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rtlCol="0" anchor="t">
            <a:normAutofit/>
          </a:bodyPr>
          <a:lstStyle>
            <a:lvl1pPr>
              <a:lnSpc>
                <a:spcPct val="110000"/>
              </a:lnSpc>
              <a:defRPr sz="2400" b="0" spc="0" baseline="0">
                <a:latin typeface="+mn-lt"/>
              </a:defRPr>
            </a:lvl1pPr>
          </a:lstStyle>
          <a:p>
            <a:pPr rtl="0"/>
            <a:r>
              <a:rPr lang="fr"/>
              <a:t>Modifiez le style du titre</a:t>
            </a:r>
          </a:p>
        </p:txBody>
      </p:sp>
      <p:sp>
        <p:nvSpPr>
          <p:cNvPr id="14" name="Espace réservé du contenu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rtlCol="0" anchor="b"/>
          <a:lstStyle>
            <a:lvl1pPr>
              <a:buNone/>
              <a:defRPr sz="30000" b="1">
                <a:latin typeface="+mj-lt"/>
              </a:defRPr>
            </a:lvl1pPr>
          </a:lstStyle>
          <a:p>
            <a:pPr lvl="0"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grpSp>
        <p:nvGrpSpPr>
          <p:cNvPr id="29" name="Groupe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orme libre : Form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9" name="Forme libre : Form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10" name="Étoile : 7 points sur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8" name="Groupe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orme libre : Form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Ovale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Forme libre : Form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3" name="Ovale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Forme libre : Form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grpSp>
          <p:nvGrpSpPr>
            <p:cNvPr id="25" name="Groupe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orme libre : Form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Forme libre : Form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8" name="Forme libre : Form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ombre en grand 2">
    <p:bg>
      <p:bgPr>
        <a:solidFill>
          <a:schemeClr val="bg2"/>
        </a:solidFill>
        <a:effectLst/>
      </p:bgPr>
    </p:bg>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rtlCol="0" anchor="t">
            <a:normAutofit/>
          </a:bodyPr>
          <a:lstStyle>
            <a:lvl1pPr>
              <a:lnSpc>
                <a:spcPct val="110000"/>
              </a:lnSpc>
              <a:defRPr sz="2400" b="0" spc="0" baseline="0">
                <a:latin typeface="+mn-lt"/>
              </a:defRPr>
            </a:lvl1pPr>
          </a:lstStyle>
          <a:p>
            <a:pPr rtl="0"/>
            <a:r>
              <a:rPr lang="fr"/>
              <a:t>Modifiez le style du titre</a:t>
            </a:r>
          </a:p>
        </p:txBody>
      </p:sp>
      <p:sp>
        <p:nvSpPr>
          <p:cNvPr id="9" name="Espace réservé du contenu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rtlCol="0" anchor="ctr"/>
          <a:lstStyle>
            <a:lvl1pPr>
              <a:lnSpc>
                <a:spcPct val="55000"/>
              </a:lnSpc>
              <a:buNone/>
              <a:defRPr sz="34400" b="1">
                <a:latin typeface="+mj-lt"/>
              </a:defRPr>
            </a:lvl1pPr>
          </a:lstStyle>
          <a:p>
            <a:pPr lvl="0"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sp>
        <p:nvSpPr>
          <p:cNvPr id="32" name="Forme libre : Form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a:p>
            <a:pPr algn="ctr" rtl="0"/>
            <a:endParaRPr lang="en-US"/>
          </a:p>
        </p:txBody>
      </p:sp>
      <p:sp>
        <p:nvSpPr>
          <p:cNvPr id="33" name="Forme libre : Form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nvGrpSpPr>
          <p:cNvPr id="38" name="Groupe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orme libre : Form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0" name="Forme libre : Form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1" name="Forme libre : Form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42" name="Groupe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e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4" name="Forme libre : Form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5" name="Ovale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6" name="Forme libre : Form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47" name="Forme libre : Form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48" name="Étoile : 7 points sur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49" name="Groupe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e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1" name="Forme libre : Form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2" name="Ovale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3" name="Forme libre : Form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grpSp>
      <p:sp>
        <p:nvSpPr>
          <p:cNvPr id="54" name="Ovale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ombre en grand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orme libre : Form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r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rtlCol="0" anchor="ctr">
            <a:normAutofit/>
          </a:bodyPr>
          <a:lstStyle>
            <a:lvl1pPr algn="ctr">
              <a:lnSpc>
                <a:spcPct val="120000"/>
              </a:lnSpc>
              <a:defRPr sz="2400" b="0" cap="none" spc="0" baseline="0">
                <a:solidFill>
                  <a:schemeClr val="tx2"/>
                </a:solidFill>
                <a:latin typeface="+mn-lt"/>
              </a:defRPr>
            </a:lvl1pPr>
          </a:lstStyle>
          <a:p>
            <a:pPr rtl="0"/>
            <a:r>
              <a:rPr lang="fr"/>
              <a:t>Cliquez pour modifier le style principal</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rtlCol="0"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rtl="0"/>
            <a:r>
              <a:rPr lang="fr"/>
              <a:t>## %</a:t>
            </a:r>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p:txBody>
          <a:bodyPr rtlCol="0"/>
          <a:lstStyle>
            <a:lvl1pPr>
              <a:defRPr>
                <a:solidFill>
                  <a:schemeClr val="tx2"/>
                </a:solidFill>
              </a:defRPr>
            </a:lvl1pPr>
          </a:lstStyle>
          <a:p>
            <a:pPr rtl="0"/>
            <a:fld id="{4BEBB76A-5642-4655-AA5F-D2E8581DD95F}" type="datetimeFigureOut">
              <a:rPr lang="en-US" smtClean="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t>‹N°›</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contenu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a:extLst>
              <a:ext uri="{FF2B5EF4-FFF2-40B4-BE49-F238E27FC236}">
                <a16:creationId xmlns:a16="http://schemas.microsoft.com/office/drawing/2014/main" id="{FE948D4F-0D0A-8BB9-4F56-107A52F281E3}"/>
              </a:ext>
            </a:extLst>
          </p:cNvPr>
          <p:cNvSpPr>
            <a:spLocks noGrp="1"/>
          </p:cNvSpPr>
          <p:nvPr>
            <p:ph type="ftr" sz="quarter" idx="11"/>
          </p:nvPr>
        </p:nvSpPr>
        <p:spPr/>
        <p:txBody>
          <a:bodyPr rtlCol="0"/>
          <a:lstStyle/>
          <a:p>
            <a:pPr rtl="0"/>
            <a:endParaRPr lang="en-US"/>
          </a:p>
        </p:txBody>
      </p:sp>
      <p:sp>
        <p:nvSpPr>
          <p:cNvPr id="5" name="Espace réservé de la date 4">
            <a:extLst>
              <a:ext uri="{FF2B5EF4-FFF2-40B4-BE49-F238E27FC236}">
                <a16:creationId xmlns:a16="http://schemas.microsoft.com/office/drawing/2014/main" id="{4E769124-FC98-B1DD-3B04-F87993383C4B}"/>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7" name="Espace réservé du numéro de diapositive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rtlCol="0"/>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rtlCol="0"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4" name="Espace réservé du contenu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texte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rtlCol="0"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8" name="Espace réservé du pied de page 7">
            <a:extLst>
              <a:ext uri="{FF2B5EF4-FFF2-40B4-BE49-F238E27FC236}">
                <a16:creationId xmlns:a16="http://schemas.microsoft.com/office/drawing/2014/main" id="{E175141C-6BF3-1939-A42E-8C52BA9DC2B5}"/>
              </a:ext>
            </a:extLst>
          </p:cNvPr>
          <p:cNvSpPr>
            <a:spLocks noGrp="1"/>
          </p:cNvSpPr>
          <p:nvPr>
            <p:ph type="ftr" sz="quarter" idx="11"/>
          </p:nvPr>
        </p:nvSpPr>
        <p:spPr/>
        <p:txBody>
          <a:bodyPr rtlCol="0"/>
          <a:lstStyle/>
          <a:p>
            <a:pPr rtl="0"/>
            <a:endParaRPr lang="en-US"/>
          </a:p>
        </p:txBody>
      </p:sp>
      <p:sp>
        <p:nvSpPr>
          <p:cNvPr id="7" name="Espace réservé de la date 6">
            <a:extLst>
              <a:ext uri="{FF2B5EF4-FFF2-40B4-BE49-F238E27FC236}">
                <a16:creationId xmlns:a16="http://schemas.microsoft.com/office/drawing/2014/main" id="{5919760F-E677-41B9-FDC2-34B300618B9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9" name="Espace réservé du numéro de diapositive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rtlCol="0" anchor="t"/>
          <a:lstStyle/>
          <a:p>
            <a:pPr rtl="0"/>
            <a:r>
              <a:rPr lang="fr"/>
              <a:t>Modifiez le style du titre</a:t>
            </a:r>
          </a:p>
        </p:txBody>
      </p:sp>
      <p:sp>
        <p:nvSpPr>
          <p:cNvPr id="4" name="Espace réservé du pied de page 3">
            <a:extLst>
              <a:ext uri="{FF2B5EF4-FFF2-40B4-BE49-F238E27FC236}">
                <a16:creationId xmlns:a16="http://schemas.microsoft.com/office/drawing/2014/main" id="{DA9964A8-457E-C600-441D-D76D1DC74186}"/>
              </a:ext>
            </a:extLst>
          </p:cNvPr>
          <p:cNvSpPr>
            <a:spLocks noGrp="1"/>
          </p:cNvSpPr>
          <p:nvPr>
            <p:ph type="ftr" sz="quarter" idx="11"/>
          </p:nvPr>
        </p:nvSpPr>
        <p:spPr/>
        <p:txBody>
          <a:bodyPr rtlCol="0"/>
          <a:lstStyle/>
          <a:p>
            <a:pPr rtl="0"/>
            <a:endParaRPr lang="en-US"/>
          </a:p>
        </p:txBody>
      </p:sp>
      <p:sp>
        <p:nvSpPr>
          <p:cNvPr id="3" name="Espace réservé de la date 2">
            <a:extLst>
              <a:ext uri="{FF2B5EF4-FFF2-40B4-BE49-F238E27FC236}">
                <a16:creationId xmlns:a16="http://schemas.microsoft.com/office/drawing/2014/main" id="{1F76DB80-064D-3114-7184-B6513973DEF0}"/>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5" name="Espace réservé du numéro de diapositive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008E978-EAE3-36FC-5692-1AE269E38BF3}"/>
              </a:ext>
            </a:extLst>
          </p:cNvPr>
          <p:cNvSpPr>
            <a:spLocks noGrp="1"/>
          </p:cNvSpPr>
          <p:nvPr>
            <p:ph type="ftr" sz="quarter" idx="11"/>
          </p:nvPr>
        </p:nvSpPr>
        <p:spPr/>
        <p:txBody>
          <a:bodyPr rtlCol="0"/>
          <a:lstStyle/>
          <a:p>
            <a:pPr rtl="0"/>
            <a:endParaRPr lang="en-US"/>
          </a:p>
        </p:txBody>
      </p:sp>
      <p:sp>
        <p:nvSpPr>
          <p:cNvPr id="2" name="Espace réservé de la date 1">
            <a:extLst>
              <a:ext uri="{FF2B5EF4-FFF2-40B4-BE49-F238E27FC236}">
                <a16:creationId xmlns:a16="http://schemas.microsoft.com/office/drawing/2014/main" id="{767FDD81-38B0-7352-1845-D6883BD6D8F8}"/>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4" name="Espace réservé du numéro de diapositive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rtlCol="0" anchor="t">
            <a:normAutofit/>
          </a:bodyPr>
          <a:lstStyle>
            <a:lvl1pPr>
              <a:defRPr sz="4400"/>
            </a:lvl1pPr>
          </a:lstStyle>
          <a:p>
            <a:pPr rtl="0"/>
            <a:r>
              <a:rPr lang="fr"/>
              <a:t>Modifiez le style du titre</a:t>
            </a:r>
            <a:endParaRPr lang="en-US"/>
          </a:p>
        </p:txBody>
      </p:sp>
      <p:sp>
        <p:nvSpPr>
          <p:cNvPr id="4" name="Espace réservé du texte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rtlCol="0">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rtlCol="0"/>
          <a:lstStyle/>
          <a:p>
            <a:pPr rtl="0"/>
            <a:endParaRPr lang="en-US"/>
          </a:p>
        </p:txBody>
      </p:sp>
      <p:sp>
        <p:nvSpPr>
          <p:cNvPr id="5" name="Espace réservé de la date 4">
            <a:extLst>
              <a:ext uri="{FF2B5EF4-FFF2-40B4-BE49-F238E27FC236}">
                <a16:creationId xmlns:a16="http://schemas.microsoft.com/office/drawing/2014/main" id="{89EB172C-060B-3321-782C-7EAE45230806}"/>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7" name="Espace réservé du numéro de diapositive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rtlCol="0" anchor="t">
            <a:normAutofit/>
          </a:bodyPr>
          <a:lstStyle>
            <a:lvl1pPr>
              <a:defRPr sz="4400"/>
            </a:lvl1pPr>
          </a:lstStyle>
          <a:p>
            <a:pPr rtl="0"/>
            <a:r>
              <a:rPr lang="fr"/>
              <a:t>Modifiez le style du titre</a:t>
            </a:r>
          </a:p>
        </p:txBody>
      </p:sp>
      <p:sp>
        <p:nvSpPr>
          <p:cNvPr id="4" name="Espace réservé du texte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
        <p:nvSpPr>
          <p:cNvPr id="6" name="Espace réservé du pied de page 5">
            <a:extLst>
              <a:ext uri="{FF2B5EF4-FFF2-40B4-BE49-F238E27FC236}">
                <a16:creationId xmlns:a16="http://schemas.microsoft.com/office/drawing/2014/main" id="{D4AF8D90-8A4B-CC41-B189-8A13CC220308}"/>
              </a:ext>
            </a:extLst>
          </p:cNvPr>
          <p:cNvSpPr>
            <a:spLocks noGrp="1"/>
          </p:cNvSpPr>
          <p:nvPr>
            <p:ph type="ftr" sz="quarter" idx="11"/>
          </p:nvPr>
        </p:nvSpPr>
        <p:spPr/>
        <p:txBody>
          <a:bodyPr rtlCol="0"/>
          <a:lstStyle/>
          <a:p>
            <a:pPr rtl="0"/>
            <a:endParaRPr lang="en-US"/>
          </a:p>
        </p:txBody>
      </p:sp>
      <p:sp>
        <p:nvSpPr>
          <p:cNvPr id="5" name="Espace réservé de la date 4">
            <a:extLst>
              <a:ext uri="{FF2B5EF4-FFF2-40B4-BE49-F238E27FC236}">
                <a16:creationId xmlns:a16="http://schemas.microsoft.com/office/drawing/2014/main" id="{E52406DA-CCDA-6A3B-3BDA-8104A19A8D5E}"/>
              </a:ext>
            </a:extLst>
          </p:cNvPr>
          <p:cNvSpPr>
            <a:spLocks noGrp="1"/>
          </p:cNvSpPr>
          <p:nvPr>
            <p:ph type="dt" sz="half" idx="10"/>
          </p:nvPr>
        </p:nvSpPr>
        <p:spPr/>
        <p:txBody>
          <a:bodyPr rtlCol="0"/>
          <a:lstStyle/>
          <a:p>
            <a:pPr rtl="0"/>
            <a:fld id="{4BEBB76A-5642-4655-AA5F-D2E8581DD95F}" type="datetimeFigureOut">
              <a:rPr lang="en-US" smtClean="0"/>
              <a:t>3/9/2026</a:t>
            </a:fld>
            <a:endParaRPr lang="en-US"/>
          </a:p>
        </p:txBody>
      </p:sp>
      <p:sp>
        <p:nvSpPr>
          <p:cNvPr id="7" name="Espace réservé du numéro de diapositive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rtlCol="0"/>
          <a:lstStyle/>
          <a:p>
            <a:pPr rtl="0"/>
            <a:fld id="{7CF79DB2-B0CF-4CB1-AE78-9ED1037C015C}" type="slidenum">
              <a:rPr lang="en-US" smtClean="0"/>
              <a:t>‹N°›</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orme libre : Form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20" name="Forme libre : Form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grpSp>
      <p:sp>
        <p:nvSpPr>
          <p:cNvPr id="8" name="Ovale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22" name="Forme libre : Form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grpSp>
        <p:nvGrpSpPr>
          <p:cNvPr id="10" name="Groupe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e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2" name="Forme libre : Form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3" name="Forme libre : Form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grpSp>
      <p:grpSp>
        <p:nvGrpSpPr>
          <p:cNvPr id="14" name="Groupe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orme libre : Form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6" name="Forme libre : Form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7" name="Forme libre : Form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gr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rtlCol="0">
            <a:normAutofit/>
          </a:bodyPr>
          <a:lstStyle>
            <a:lvl1pPr>
              <a:defRPr sz="7200">
                <a:solidFill>
                  <a:schemeClr val="tx2"/>
                </a:solidFill>
              </a:defRPr>
            </a:lvl1pPr>
          </a:lstStyle>
          <a:p>
            <a:pPr rtl="0"/>
            <a:r>
              <a:rPr lang="fr"/>
              <a:t>Modifiez le style du titre</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rtlCol="0"/>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rtlCol="0"/>
          <a:lstStyle>
            <a:lvl1pPr>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orme libre : Form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solidFill>
                <a:schemeClr val="tx2"/>
              </a:solidFill>
            </a:endParaRPr>
          </a:p>
        </p:txBody>
      </p:sp>
      <p:sp>
        <p:nvSpPr>
          <p:cNvPr id="8" name="Ovale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grpSp>
        <p:nvGrpSpPr>
          <p:cNvPr id="14" name="Groupe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orme libre : Form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6" name="Forme libre : Form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17" name="Forme libre : Form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grpSp>
      <p:sp>
        <p:nvSpPr>
          <p:cNvPr id="2" name="Titr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rtlCol="0">
            <a:normAutofit/>
          </a:bodyPr>
          <a:lstStyle>
            <a:lvl1pPr>
              <a:defRPr sz="7200">
                <a:solidFill>
                  <a:schemeClr val="tx2"/>
                </a:solidFill>
              </a:defRPr>
            </a:lvl1pPr>
          </a:lstStyle>
          <a:p>
            <a:pPr rtl="0"/>
            <a:r>
              <a:rPr lang="fr"/>
              <a:t>Modifiez le style du titre</a:t>
            </a:r>
          </a:p>
        </p:txBody>
      </p:sp>
      <p:sp>
        <p:nvSpPr>
          <p:cNvPr id="3" name="Espace réservé du contenu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rtlCol="0"/>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1A2F150A-C65A-58AC-B7EA-1790E9BD93A8}"/>
              </a:ext>
            </a:extLst>
          </p:cNvPr>
          <p:cNvSpPr>
            <a:spLocks noGrp="1"/>
          </p:cNvSpPr>
          <p:nvPr>
            <p:ph type="ftr" sz="quarter" idx="11"/>
          </p:nvPr>
        </p:nvSpPr>
        <p:spPr/>
        <p:txBody>
          <a:bodyPr rtlCol="0"/>
          <a:lstStyle>
            <a:lvl1pPr>
              <a:defRPr>
                <a:solidFill>
                  <a:schemeClr val="tx2"/>
                </a:solidFill>
              </a:defRPr>
            </a:lvl1pPr>
          </a:lstStyle>
          <a:p>
            <a:pPr rtl="0"/>
            <a:endParaRPr lang="en-US">
              <a:solidFill>
                <a:schemeClr val="tx2"/>
              </a:solidFill>
            </a:endParaRPr>
          </a:p>
        </p:txBody>
      </p:sp>
      <p:sp>
        <p:nvSpPr>
          <p:cNvPr id="4" name="Espace réservé de la date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rtlCol="0"/>
          <a:lstStyle>
            <a:lvl1pPr>
              <a:defRPr>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rtlCol="0"/>
          <a:lstStyle>
            <a:lvl1pPr>
              <a:defRPr>
                <a:solidFill>
                  <a:schemeClr val="tx2"/>
                </a:solidFill>
              </a:defRPr>
            </a:lvl1pPr>
          </a:lstStyle>
          <a:p>
            <a:pPr rtl="0"/>
            <a:fld id="{7CF79DB2-B0CF-4CB1-AE78-9ED1037C015C}" type="slidenum">
              <a:rPr lang="en-US" smtClean="0"/>
              <a:pPr rtl="0"/>
              <a:t>‹N°›</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pPr rtl="0"/>
            <a:endParaRPr lang="en-US"/>
          </a:p>
        </p:txBody>
      </p:sp>
      <p:sp>
        <p:nvSpPr>
          <p:cNvPr id="4" name="Espace réservé de la date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pPr rtl="0"/>
            <a:fld id="{4BEBB76A-5642-4655-AA5F-D2E8581DD95F}" type="datetimeFigureOut">
              <a:rPr lang="en-US" smtClean="0"/>
              <a:pPr rtl="0"/>
              <a:t>3/9/2026</a:t>
            </a:fld>
            <a:endParaRPr lang="en-US"/>
          </a:p>
        </p:txBody>
      </p:sp>
      <p:sp>
        <p:nvSpPr>
          <p:cNvPr id="6" name="Espace réservé du numéro de diapositive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pPr rtl="0"/>
            <a:fld id="{7CF79DB2-B0CF-4CB1-AE78-9ED1037C015C}" type="slidenum">
              <a:rPr lang="en-US" smtClean="0"/>
              <a:pPr rtl="0"/>
              <a:t>‹N°›</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2D87D-C130-4020-1210-F1CC72681EDB}"/>
              </a:ext>
            </a:extLst>
          </p:cNvPr>
          <p:cNvSpPr>
            <a:spLocks noGrp="1"/>
          </p:cNvSpPr>
          <p:nvPr>
            <p:ph type="title"/>
          </p:nvPr>
        </p:nvSpPr>
        <p:spPr>
          <a:xfrm>
            <a:off x="699660" y="1790060"/>
            <a:ext cx="6308041" cy="3277880"/>
          </a:xfrm>
        </p:spPr>
        <p:txBody>
          <a:bodyPr anchor="b">
            <a:normAutofit/>
          </a:bodyPr>
          <a:lstStyle/>
          <a:p>
            <a:r>
              <a:rPr lang="en-US"/>
              <a:t>Présentation modèles PK et hématotoxicité</a:t>
            </a:r>
          </a:p>
        </p:txBody>
      </p:sp>
      <p:sp>
        <p:nvSpPr>
          <p:cNvPr id="3" name="Subtitle 2">
            <a:extLst>
              <a:ext uri="{FF2B5EF4-FFF2-40B4-BE49-F238E27FC236}">
                <a16:creationId xmlns:a16="http://schemas.microsoft.com/office/drawing/2014/main" id="{5585AA75-D98E-D29D-7BA0-EBABE6F89ED4}"/>
              </a:ext>
            </a:extLst>
          </p:cNvPr>
          <p:cNvSpPr>
            <a:spLocks noGrp="1"/>
          </p:cNvSpPr>
          <p:nvPr>
            <p:ph type="subTitle" idx="1"/>
          </p:nvPr>
        </p:nvSpPr>
        <p:spPr>
          <a:xfrm>
            <a:off x="699659" y="5067940"/>
            <a:ext cx="4483511" cy="1078027"/>
          </a:xfrm>
        </p:spPr>
        <p:txBody>
          <a:bodyPr anchor="t">
            <a:normAutofit/>
          </a:bodyPr>
          <a:lstStyle/>
          <a:p>
            <a:pPr>
              <a:spcAft>
                <a:spcPts val="600"/>
              </a:spcAft>
            </a:pPr>
            <a:r>
              <a:rPr lang="en-US"/>
              <a:t>Exploration des modèles pharmacocinétiques et de la toxicité sanguine</a:t>
            </a:r>
          </a:p>
        </p:txBody>
      </p:sp>
    </p:spTree>
    <p:extLst>
      <p:ext uri="{BB962C8B-B14F-4D97-AF65-F5344CB8AC3E}">
        <p14:creationId xmlns:p14="http://schemas.microsoft.com/office/powerpoint/2010/main" val="64980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DBF1-41F3-3268-96CA-4828C00DCB81}"/>
              </a:ext>
            </a:extLst>
          </p:cNvPr>
          <p:cNvSpPr>
            <a:spLocks noGrp="1"/>
          </p:cNvSpPr>
          <p:nvPr>
            <p:ph type="title"/>
          </p:nvPr>
        </p:nvSpPr>
        <p:spPr/>
        <p:txBody>
          <a:bodyPr/>
          <a:lstStyle/>
          <a:p>
            <a:r>
              <a:rPr lang="en-US"/>
              <a:t>Pharmacocinétique (PK) — Compréhension approfondie</a:t>
            </a:r>
          </a:p>
        </p:txBody>
      </p:sp>
    </p:spTree>
    <p:extLst>
      <p:ext uri="{BB962C8B-B14F-4D97-AF65-F5344CB8AC3E}">
        <p14:creationId xmlns:p14="http://schemas.microsoft.com/office/powerpoint/2010/main" val="714622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6052C-20F6-6616-A516-3F16835A8846}"/>
              </a:ext>
            </a:extLst>
          </p:cNvPr>
          <p:cNvSpPr>
            <a:spLocks noGrp="1"/>
          </p:cNvSpPr>
          <p:nvPr>
            <p:ph type="title"/>
          </p:nvPr>
        </p:nvSpPr>
        <p:spPr>
          <a:xfrm>
            <a:off x="700791" y="248353"/>
            <a:ext cx="4349424" cy="1459193"/>
          </a:xfrm>
        </p:spPr>
        <p:txBody>
          <a:bodyPr anchor="t">
            <a:normAutofit/>
          </a:bodyPr>
          <a:lstStyle/>
          <a:p>
            <a:r>
              <a:rPr lang="en-US"/>
              <a:t>Principe général et rôle de la PK</a:t>
            </a:r>
          </a:p>
        </p:txBody>
      </p:sp>
      <p:sp>
        <p:nvSpPr>
          <p:cNvPr id="4" name="Content Placeholder 3">
            <a:extLst>
              <a:ext uri="{FF2B5EF4-FFF2-40B4-BE49-F238E27FC236}">
                <a16:creationId xmlns:a16="http://schemas.microsoft.com/office/drawing/2014/main" id="{A349C7F8-AB85-940C-3C00-B3341CDF9F3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Modèle à deux compartiments</a:t>
            </a:r>
          </a:p>
          <a:p>
            <a:pPr marL="0" lvl="1" indent="0">
              <a:buFont typeface="Arial" panose="020B0604020202020204" pitchFamily="34" charset="0"/>
              <a:buNone/>
            </a:pPr>
            <a:r>
              <a:t>Le modèle PK utilise deux compartiments : le sang (central) et les tissus (périphérique) pour décrire la distribution du médicament.</a:t>
            </a:r>
            <a:endParaRPr lang="en-US"/>
          </a:p>
          <a:p>
            <a:pPr marL="0" indent="0">
              <a:spcBef>
                <a:spcPts val="2500"/>
              </a:spcBef>
              <a:buFont typeface="Arial" panose="020B0604020202020204" pitchFamily="34" charset="0"/>
              <a:buNone/>
            </a:pPr>
            <a:r>
              <a:rPr lang="en-US" b="1"/>
              <a:t>Paramètres clés de la PK</a:t>
            </a:r>
          </a:p>
          <a:p>
            <a:pPr marL="0" lvl="1" indent="0">
              <a:buFont typeface="Arial" panose="020B0604020202020204" pitchFamily="34" charset="0"/>
              <a:buNone/>
            </a:pPr>
            <a:r>
              <a:t>Clairance (CL), volumes de distribution (V1, V2) et flux (Q) représentent l’élimination et les échanges médicamenteux.</a:t>
            </a:r>
            <a:endParaRPr lang="en-US"/>
          </a:p>
          <a:p>
            <a:pPr marL="0" indent="0">
              <a:spcBef>
                <a:spcPts val="2500"/>
              </a:spcBef>
              <a:buFont typeface="Arial" panose="020B0604020202020204" pitchFamily="34" charset="0"/>
              <a:buNone/>
            </a:pPr>
            <a:r>
              <a:rPr lang="en-US" b="1"/>
              <a:t>Dynamique de concentration médicamenteuse</a:t>
            </a:r>
          </a:p>
          <a:p>
            <a:pPr marL="0" lvl="1" indent="0">
              <a:buFont typeface="Arial" panose="020B0604020202020204" pitchFamily="34" charset="0"/>
              <a:buNone/>
            </a:pPr>
            <a:r>
              <a:t>La simulation PK montre la montée, le pic et la décroissance de la concentration après perfusion, influençant la toxicité.</a:t>
            </a:r>
            <a:endParaRPr lang="en-US"/>
          </a:p>
          <a:p>
            <a:pPr marL="0" indent="0">
              <a:spcBef>
                <a:spcPts val="2500"/>
              </a:spcBef>
              <a:buFont typeface="Arial" panose="020B0604020202020204" pitchFamily="34" charset="0"/>
              <a:buNone/>
            </a:pPr>
            <a:r>
              <a:rPr lang="en-US" b="1"/>
              <a:t>Impact sur la toxicité cellulaire</a:t>
            </a:r>
          </a:p>
          <a:p>
            <a:pPr marL="0" lvl="1" indent="0">
              <a:buFont typeface="Arial" panose="020B0604020202020204" pitchFamily="34" charset="0"/>
              <a:buNone/>
            </a:pPr>
            <a:r>
              <a:t>Une concentration centrale élevée augmente le dommage aux cellules de la moelle osseuse, déterminant la toxicité.</a:t>
            </a:r>
            <a:endParaRPr lang="en-US"/>
          </a:p>
        </p:txBody>
      </p:sp>
      <p:pic>
        <p:nvPicPr>
          <p:cNvPr id="11" name="Picture 10">
            <a:extLst>
              <a:ext uri="{FF2B5EF4-FFF2-40B4-BE49-F238E27FC236}">
                <a16:creationId xmlns:a16="http://schemas.microsoft.com/office/drawing/2014/main" id="{465F206A-4EBB-8D2B-4BF5-7AE31B7536CB}"/>
              </a:ext>
            </a:extLst>
          </p:cNvPr>
          <p:cNvPicPr>
            <a:picLocks noChangeAspect="1"/>
          </p:cNvPicPr>
          <p:nvPr/>
        </p:nvPicPr>
        <p:blipFill>
          <a:blip r:embed="rId3"/>
          <a:stretch>
            <a:fillRect/>
          </a:stretch>
        </p:blipFill>
        <p:spPr>
          <a:xfrm>
            <a:off x="370918" y="4028457"/>
            <a:ext cx="4997903" cy="2601190"/>
          </a:xfrm>
          <a:prstGeom prst="rect">
            <a:avLst/>
          </a:prstGeom>
        </p:spPr>
      </p:pic>
      <p:pic>
        <p:nvPicPr>
          <p:cNvPr id="5" name="Picture 4">
            <a:extLst>
              <a:ext uri="{FF2B5EF4-FFF2-40B4-BE49-F238E27FC236}">
                <a16:creationId xmlns:a16="http://schemas.microsoft.com/office/drawing/2014/main" id="{8FFEB5AC-ED8C-C360-81A0-6BF4E0256C27}"/>
              </a:ext>
            </a:extLst>
          </p:cNvPr>
          <p:cNvPicPr>
            <a:picLocks noChangeAspect="1"/>
          </p:cNvPicPr>
          <p:nvPr/>
        </p:nvPicPr>
        <p:blipFill>
          <a:blip r:embed="rId4"/>
          <a:stretch>
            <a:fillRect/>
          </a:stretch>
        </p:blipFill>
        <p:spPr>
          <a:xfrm>
            <a:off x="373480" y="1142249"/>
            <a:ext cx="5008147" cy="2618374"/>
          </a:xfrm>
          <a:prstGeom prst="rect">
            <a:avLst/>
          </a:prstGeom>
        </p:spPr>
      </p:pic>
    </p:spTree>
    <p:extLst>
      <p:ext uri="{BB962C8B-B14F-4D97-AF65-F5344CB8AC3E}">
        <p14:creationId xmlns:p14="http://schemas.microsoft.com/office/powerpoint/2010/main" val="1263778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BD3F-F2B5-C370-74B5-C72F96A0ECBF}"/>
              </a:ext>
            </a:extLst>
          </p:cNvPr>
          <p:cNvSpPr>
            <a:spLocks noGrp="1"/>
          </p:cNvSpPr>
          <p:nvPr>
            <p:ph type="title"/>
          </p:nvPr>
        </p:nvSpPr>
        <p:spPr>
          <a:xfrm>
            <a:off x="700790" y="2880794"/>
            <a:ext cx="7813623" cy="3702571"/>
          </a:xfrm>
        </p:spPr>
        <p:txBody>
          <a:bodyPr anchor="b">
            <a:normAutofit/>
          </a:bodyPr>
          <a:lstStyle/>
          <a:p>
            <a:r>
              <a:rPr lang="en-US"/>
              <a:t>Hématologie — Compréhension de la production sanguine</a:t>
            </a:r>
          </a:p>
        </p:txBody>
      </p:sp>
    </p:spTree>
    <p:extLst>
      <p:ext uri="{BB962C8B-B14F-4D97-AF65-F5344CB8AC3E}">
        <p14:creationId xmlns:p14="http://schemas.microsoft.com/office/powerpoint/2010/main" val="4002405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F7C8D-F24E-EF7F-8F9C-B880576F90F1}"/>
              </a:ext>
            </a:extLst>
          </p:cNvPr>
          <p:cNvSpPr>
            <a:spLocks noGrp="1"/>
          </p:cNvSpPr>
          <p:nvPr>
            <p:ph type="title"/>
          </p:nvPr>
        </p:nvSpPr>
        <p:spPr>
          <a:xfrm>
            <a:off x="7924619" y="464544"/>
            <a:ext cx="3429179" cy="1456511"/>
          </a:xfrm>
        </p:spPr>
        <p:txBody>
          <a:bodyPr anchor="b">
            <a:normAutofit/>
          </a:bodyPr>
          <a:lstStyle/>
          <a:p>
            <a:r>
              <a:rPr lang="en-US" sz="3700"/>
              <a:t>Organisation des lignées sanguines et mécanismes d’impact</a:t>
            </a:r>
          </a:p>
        </p:txBody>
      </p:sp>
      <p:sp>
        <p:nvSpPr>
          <p:cNvPr id="4" name="Content Placeholder 3">
            <a:extLst>
              <a:ext uri="{FF2B5EF4-FFF2-40B4-BE49-F238E27FC236}">
                <a16:creationId xmlns:a16="http://schemas.microsoft.com/office/drawing/2014/main" id="{8D05D40C-A124-65A9-F22E-DBB2432E70A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621" y="1936671"/>
            <a:ext cx="3429178" cy="4146414"/>
          </a:xfrm>
        </p:spPr>
        <p:txBody>
          <a:bodyPr>
            <a:normAutofit/>
          </a:bodyPr>
          <a:lstStyle/>
          <a:p>
            <a:pPr marL="0" indent="0">
              <a:lnSpc>
                <a:spcPct val="110000"/>
              </a:lnSpc>
              <a:spcBef>
                <a:spcPts val="2500"/>
              </a:spcBef>
              <a:buFont typeface="Arial" panose="020B0604020202020204" pitchFamily="34" charset="0"/>
              <a:buNone/>
            </a:pPr>
            <a:r>
              <a:rPr lang="en-US" sz="1000" b="1"/>
              <a:t>Processus d’hématopoïèse</a:t>
            </a:r>
          </a:p>
          <a:p>
            <a:pPr marL="0" lvl="1" indent="0">
              <a:lnSpc>
                <a:spcPct val="110000"/>
              </a:lnSpc>
              <a:buFont typeface="Arial" panose="020B0604020202020204" pitchFamily="34" charset="0"/>
              <a:buNone/>
            </a:pPr>
            <a:r>
              <a:rPr lang="en-US" sz="1000"/>
              <a:t>La production continue des cellules sanguines a lieu dans la moelle osseuse via une hiérarchie de précurseurs spécialisés.</a:t>
            </a:r>
          </a:p>
          <a:p>
            <a:pPr marL="0" indent="0">
              <a:lnSpc>
                <a:spcPct val="110000"/>
              </a:lnSpc>
              <a:spcBef>
                <a:spcPts val="2500"/>
              </a:spcBef>
              <a:buFont typeface="Arial" panose="020B0604020202020204" pitchFamily="34" charset="0"/>
              <a:buNone/>
            </a:pPr>
            <a:r>
              <a:rPr lang="en-US" sz="1000" b="1"/>
              <a:t>Branches principales des précurseurs</a:t>
            </a:r>
          </a:p>
          <a:p>
            <a:pPr marL="0" lvl="1" indent="0">
              <a:lnSpc>
                <a:spcPct val="110000"/>
              </a:lnSpc>
              <a:buFont typeface="Arial" panose="020B0604020202020204" pitchFamily="34" charset="0"/>
              <a:buNone/>
            </a:pPr>
            <a:r>
              <a:rPr lang="en-US" sz="1000"/>
              <a:t>Les MPP donnent naissance aux CMP produisant neutrophiles et monocytes, et aux MEP générant globules rouges et plaquettes.</a:t>
            </a:r>
          </a:p>
          <a:p>
            <a:pPr marL="0" indent="0">
              <a:lnSpc>
                <a:spcPct val="110000"/>
              </a:lnSpc>
              <a:spcBef>
                <a:spcPts val="2500"/>
              </a:spcBef>
              <a:buFont typeface="Arial" panose="020B0604020202020204" pitchFamily="34" charset="0"/>
              <a:buNone/>
            </a:pPr>
            <a:r>
              <a:rPr lang="en-US" sz="1000" b="1"/>
              <a:t>Impact des dommages cellulaires</a:t>
            </a:r>
          </a:p>
          <a:p>
            <a:pPr marL="0" lvl="1" indent="0">
              <a:lnSpc>
                <a:spcPct val="110000"/>
              </a:lnSpc>
              <a:buFont typeface="Arial" panose="020B0604020202020204" pitchFamily="34" charset="0"/>
              <a:buNone/>
            </a:pPr>
            <a:r>
              <a:rPr lang="en-US" sz="1000"/>
              <a:t>Les médicaments toxiques causent des dommages dans la moelle osseuse, réduisant la prolifération des précurseurs et les lignées sanguines.</a:t>
            </a:r>
          </a:p>
          <a:p>
            <a:pPr marL="0" indent="0">
              <a:lnSpc>
                <a:spcPct val="110000"/>
              </a:lnSpc>
              <a:spcBef>
                <a:spcPts val="2500"/>
              </a:spcBef>
              <a:buFont typeface="Arial" panose="020B0604020202020204" pitchFamily="34" charset="0"/>
              <a:buNone/>
            </a:pPr>
            <a:r>
              <a:rPr lang="en-US" sz="1000" b="1"/>
              <a:t>Conséquences sur la dynamique sanguine</a:t>
            </a:r>
          </a:p>
          <a:p>
            <a:pPr marL="0" lvl="1" indent="0">
              <a:lnSpc>
                <a:spcPct val="110000"/>
              </a:lnSpc>
              <a:buFont typeface="Arial" panose="020B0604020202020204" pitchFamily="34" charset="0"/>
              <a:buNone/>
            </a:pPr>
            <a:r>
              <a:rPr lang="en-US" sz="1000"/>
              <a:t>Le dommage entraîne une baisse progressive des cellules matures, avec des variations selon les lignées et possibles rebonds.</a:t>
            </a:r>
          </a:p>
        </p:txBody>
      </p:sp>
      <p:pic>
        <p:nvPicPr>
          <p:cNvPr id="5" name="Picture 4">
            <a:extLst>
              <a:ext uri="{FF2B5EF4-FFF2-40B4-BE49-F238E27FC236}">
                <a16:creationId xmlns:a16="http://schemas.microsoft.com/office/drawing/2014/main" id="{75A4C35B-CB0E-9D7D-802C-42E2DF8606E5}"/>
              </a:ext>
            </a:extLst>
          </p:cNvPr>
          <p:cNvPicPr>
            <a:picLocks noChangeAspect="1"/>
          </p:cNvPicPr>
          <p:nvPr/>
        </p:nvPicPr>
        <p:blipFill>
          <a:blip r:embed="rId3"/>
          <a:stretch>
            <a:fillRect/>
          </a:stretch>
        </p:blipFill>
        <p:spPr>
          <a:xfrm>
            <a:off x="-1922" y="645611"/>
            <a:ext cx="7730791" cy="5566779"/>
          </a:xfrm>
          <a:prstGeom prst="rect">
            <a:avLst/>
          </a:prstGeom>
        </p:spPr>
      </p:pic>
    </p:spTree>
    <p:extLst>
      <p:ext uri="{BB962C8B-B14F-4D97-AF65-F5344CB8AC3E}">
        <p14:creationId xmlns:p14="http://schemas.microsoft.com/office/powerpoint/2010/main" val="2332920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B129-A0BD-9986-61DC-472B1B9D9B1F}"/>
              </a:ext>
            </a:extLst>
          </p:cNvPr>
          <p:cNvSpPr>
            <a:spLocks noGrp="1"/>
          </p:cNvSpPr>
          <p:nvPr>
            <p:ph type="title"/>
          </p:nvPr>
        </p:nvSpPr>
        <p:spPr>
          <a:xfrm>
            <a:off x="700790" y="2880794"/>
            <a:ext cx="7813623" cy="3702571"/>
          </a:xfrm>
        </p:spPr>
        <p:txBody>
          <a:bodyPr anchor="b">
            <a:normAutofit/>
          </a:bodyPr>
          <a:lstStyle/>
          <a:p>
            <a:r>
              <a:rPr lang="en-US"/>
              <a:t>Mon avancée et résultats de simulation</a:t>
            </a:r>
          </a:p>
        </p:txBody>
      </p:sp>
    </p:spTree>
    <p:extLst>
      <p:ext uri="{BB962C8B-B14F-4D97-AF65-F5344CB8AC3E}">
        <p14:creationId xmlns:p14="http://schemas.microsoft.com/office/powerpoint/2010/main" val="3370439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80D51-F645-245A-C035-738012606B4B}"/>
              </a:ext>
            </a:extLst>
          </p:cNvPr>
          <p:cNvSpPr>
            <a:spLocks noGrp="1"/>
          </p:cNvSpPr>
          <p:nvPr>
            <p:ph type="title"/>
          </p:nvPr>
        </p:nvSpPr>
        <p:spPr>
          <a:xfrm>
            <a:off x="593653" y="2351727"/>
            <a:ext cx="3887763" cy="2646660"/>
          </a:xfrm>
        </p:spPr>
        <p:txBody>
          <a:bodyPr anchor="ctr">
            <a:normAutofit/>
          </a:bodyPr>
          <a:lstStyle/>
          <a:p>
            <a:r>
              <a:rPr lang="en-US" sz="6100"/>
              <a:t>Résumé du travail réalisé et visualisation des sorties</a:t>
            </a:r>
          </a:p>
        </p:txBody>
      </p:sp>
      <p:sp>
        <p:nvSpPr>
          <p:cNvPr id="4" name="Content Placeholder 3">
            <a:extLst>
              <a:ext uri="{FF2B5EF4-FFF2-40B4-BE49-F238E27FC236}">
                <a16:creationId xmlns:a16="http://schemas.microsoft.com/office/drawing/2014/main" id="{D6D96450-1417-8933-A4B0-B247E1024CB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42264" y="948906"/>
            <a:ext cx="4331108" cy="5055079"/>
          </a:xfrm>
        </p:spPr>
        <p:txBody>
          <a:bodyPr>
            <a:normAutofit/>
          </a:bodyPr>
          <a:lstStyle/>
          <a:p>
            <a:pPr marL="0" indent="0">
              <a:spcBef>
                <a:spcPts val="2500"/>
              </a:spcBef>
              <a:buFont typeface="Arial" panose="020B0604020202020204" pitchFamily="34" charset="0"/>
              <a:buNone/>
            </a:pPr>
            <a:r>
              <a:rPr lang="en-US" sz="1400" b="1"/>
              <a:t>Modèle pharmacocinétique</a:t>
            </a:r>
          </a:p>
          <a:p>
            <a:pPr marL="0" lvl="1" indent="0">
              <a:buFont typeface="Arial" panose="020B0604020202020204" pitchFamily="34" charset="0"/>
              <a:buNone/>
            </a:pPr>
            <a:r>
              <a:t>La </a:t>
            </a:r>
            <a:r>
              <a:rPr lang="en-US"/>
              <a:t>dynamique</a:t>
            </a:r>
            <a:r>
              <a:t> </a:t>
            </a:r>
            <a:r>
              <a:rPr lang="en-US"/>
              <a:t>pharmacocinétique</a:t>
            </a:r>
            <a:r>
              <a:t> (PK) est la base pour </a:t>
            </a:r>
            <a:r>
              <a:rPr lang="en-US"/>
              <a:t>modéliser</a:t>
            </a:r>
            <a:r>
              <a:t> la </a:t>
            </a:r>
            <a:r>
              <a:rPr lang="en-US"/>
              <a:t>toxicité</a:t>
            </a:r>
            <a:r>
              <a:t> du </a:t>
            </a:r>
            <a:r>
              <a:rPr lang="en-US"/>
              <a:t>médicament</a:t>
            </a:r>
            <a:r>
              <a:t> sur les cellules.</a:t>
            </a:r>
            <a:endParaRPr lang="en-US"/>
          </a:p>
          <a:p>
            <a:pPr marL="0" indent="0">
              <a:spcBef>
                <a:spcPts val="2500"/>
              </a:spcBef>
              <a:buFont typeface="Arial" panose="020B0604020202020204" pitchFamily="34" charset="0"/>
              <a:buNone/>
            </a:pPr>
            <a:r>
              <a:rPr lang="en-US" sz="1400" b="1"/>
              <a:t>Modélisation des dommages cellulaires</a:t>
            </a:r>
          </a:p>
          <a:p>
            <a:pPr marL="0" lvl="1" indent="0">
              <a:buFont typeface="Arial" panose="020B0604020202020204" pitchFamily="34" charset="0"/>
              <a:buNone/>
            </a:pPr>
            <a:r>
              <a:t>La composante Damage simule la création et la réparation des dommages dans les cellules de la moelle osseuse.</a:t>
            </a:r>
            <a:endParaRPr lang="en-US"/>
          </a:p>
          <a:p>
            <a:pPr marL="0" indent="0">
              <a:spcBef>
                <a:spcPts val="2500"/>
              </a:spcBef>
              <a:buFont typeface="Arial" panose="020B0604020202020204" pitchFamily="34" charset="0"/>
              <a:buNone/>
            </a:pPr>
            <a:r>
              <a:rPr lang="en-US" sz="1400" b="1"/>
              <a:t>Simulation de l’hématopoïèse</a:t>
            </a:r>
          </a:p>
          <a:p>
            <a:pPr marL="0" lvl="1" indent="0">
              <a:buFont typeface="Arial" panose="020B0604020202020204" pitchFamily="34" charset="0"/>
              <a:buNone/>
            </a:pPr>
            <a:r>
              <a:t>L’intégration des lignées hématopoïétiques permet de simuler les baisses des différents types cellulaires sur plusieurs cycles.</a:t>
            </a:r>
            <a:endParaRPr lang="en-US"/>
          </a:p>
        </p:txBody>
      </p:sp>
    </p:spTree>
    <p:extLst>
      <p:ext uri="{BB962C8B-B14F-4D97-AF65-F5344CB8AC3E}">
        <p14:creationId xmlns:p14="http://schemas.microsoft.com/office/powerpoint/2010/main" val="6725547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87A9-3297-1389-9785-64520AE923A4}"/>
              </a:ext>
            </a:extLst>
          </p:cNvPr>
          <p:cNvSpPr>
            <a:spLocks noGrp="1"/>
          </p:cNvSpPr>
          <p:nvPr>
            <p:ph type="title"/>
          </p:nvPr>
        </p:nvSpPr>
        <p:spPr>
          <a:xfrm>
            <a:off x="593653" y="2351727"/>
            <a:ext cx="3887763" cy="2646660"/>
          </a:xfrm>
        </p:spPr>
        <p:txBody>
          <a:bodyPr anchor="ctr">
            <a:normAutofit/>
          </a:bodyPr>
          <a:lstStyle/>
          <a:p>
            <a:r>
              <a:rPr lang="en-US"/>
              <a:t>Graphique de simulation</a:t>
            </a:r>
          </a:p>
        </p:txBody>
      </p:sp>
      <p:sp>
        <p:nvSpPr>
          <p:cNvPr id="4" name="Content Placeholder 3">
            <a:extLst>
              <a:ext uri="{FF2B5EF4-FFF2-40B4-BE49-F238E27FC236}">
                <a16:creationId xmlns:a16="http://schemas.microsoft.com/office/drawing/2014/main" id="{5CCCCD10-8022-ABDF-B029-DF69D416466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42264" y="948906"/>
            <a:ext cx="4331108" cy="5055079"/>
          </a:xfrm>
        </p:spPr>
        <p:txBody>
          <a:bodyPr>
            <a:normAutofit/>
          </a:bodyPr>
          <a:lstStyle/>
          <a:p>
            <a:pPr marL="0" indent="0">
              <a:spcBef>
                <a:spcPts val="2500"/>
              </a:spcBef>
              <a:buFont typeface="Arial" panose="020B0604020202020204" pitchFamily="34" charset="0"/>
              <a:buNone/>
            </a:pPr>
            <a:endParaRPr lang="en-US" sz="1400" b="1"/>
          </a:p>
        </p:txBody>
      </p:sp>
    </p:spTree>
    <p:extLst>
      <p:ext uri="{BB962C8B-B14F-4D97-AF65-F5344CB8AC3E}">
        <p14:creationId xmlns:p14="http://schemas.microsoft.com/office/powerpoint/2010/main" val="1302419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C45F62-BB39-25A0-63A9-F05E7D40DCC2}"/>
              </a:ext>
            </a:extLst>
          </p:cNvPr>
          <p:cNvPicPr>
            <a:picLocks noChangeAspect="1"/>
          </p:cNvPicPr>
          <p:nvPr/>
        </p:nvPicPr>
        <p:blipFill>
          <a:blip r:embed="rId2"/>
          <a:srcRect t="442"/>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133866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81CADC-BEBC-80A6-675E-A79A07760D63}"/>
              </a:ext>
            </a:extLst>
          </p:cNvPr>
          <p:cNvPicPr>
            <a:picLocks noChangeAspect="1"/>
          </p:cNvPicPr>
          <p:nvPr/>
        </p:nvPicPr>
        <p:blipFill>
          <a:blip r:embed="rId2"/>
          <a:srcRect/>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288342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AFE01C59-D90F-8A31-AADF-EE02DF763631}"/>
              </a:ext>
            </a:extLst>
          </p:cNvPr>
          <p:cNvSpPr>
            <a:spLocks noGrp="1"/>
          </p:cNvSpPr>
          <p:nvPr>
            <p:ph type="title"/>
          </p:nvPr>
        </p:nvSpPr>
        <p:spPr>
          <a:xfrm>
            <a:off x="700791" y="759854"/>
            <a:ext cx="8662150" cy="1088692"/>
          </a:xfrm>
        </p:spPr>
        <p:txBody>
          <a:bodyPr/>
          <a:lstStyle/>
          <a:p>
            <a:endParaRPr lang="en-US"/>
          </a:p>
        </p:txBody>
      </p:sp>
      <p:pic>
        <p:nvPicPr>
          <p:cNvPr id="4" name="Picture 3">
            <a:extLst>
              <a:ext uri="{FF2B5EF4-FFF2-40B4-BE49-F238E27FC236}">
                <a16:creationId xmlns:a16="http://schemas.microsoft.com/office/drawing/2014/main" id="{041FF85C-FA61-7BBD-B285-DD38C321479E}"/>
              </a:ext>
            </a:extLst>
          </p:cNvPr>
          <p:cNvPicPr>
            <a:picLocks noChangeAspect="1"/>
          </p:cNvPicPr>
          <p:nvPr/>
        </p:nvPicPr>
        <p:blipFill>
          <a:blip r:embed="rId2"/>
          <a:stretch>
            <a:fillRect/>
          </a:stretch>
        </p:blipFill>
        <p:spPr>
          <a:xfrm>
            <a:off x="680473" y="2175091"/>
            <a:ext cx="10843971" cy="3037345"/>
          </a:xfrm>
          <a:prstGeom prst="rect">
            <a:avLst/>
          </a:prstGeom>
        </p:spPr>
      </p:pic>
    </p:spTree>
    <p:extLst>
      <p:ext uri="{BB962C8B-B14F-4D97-AF65-F5344CB8AC3E}">
        <p14:creationId xmlns:p14="http://schemas.microsoft.com/office/powerpoint/2010/main" val="335056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2C1C9-D5E6-0DF7-3A69-003929ACD6F4}"/>
              </a:ext>
            </a:extLst>
          </p:cNvPr>
          <p:cNvSpPr>
            <a:spLocks noGrp="1"/>
          </p:cNvSpPr>
          <p:nvPr>
            <p:ph type="title"/>
          </p:nvPr>
        </p:nvSpPr>
        <p:spPr>
          <a:xfrm>
            <a:off x="2195102" y="1028"/>
            <a:ext cx="7813623" cy="3702571"/>
          </a:xfrm>
        </p:spPr>
        <p:txBody>
          <a:bodyPr/>
          <a:lstStyle/>
          <a:p>
            <a:r>
              <a:rPr lang="en-US">
                <a:cs typeface="JasmineUPC"/>
              </a:rPr>
              <a:t>Merci </a:t>
            </a:r>
            <a:r>
              <a:rPr lang="en-US" err="1">
                <a:cs typeface="JasmineUPC"/>
              </a:rPr>
              <a:t>d'avoir</a:t>
            </a:r>
            <a:r>
              <a:rPr lang="en-US">
                <a:cs typeface="JasmineUPC"/>
              </a:rPr>
              <a:t> </a:t>
            </a:r>
            <a:r>
              <a:rPr lang="en-US" err="1">
                <a:cs typeface="JasmineUPC"/>
              </a:rPr>
              <a:t>écouté</a:t>
            </a:r>
            <a:r>
              <a:rPr lang="en-US">
                <a:cs typeface="JasmineUPC"/>
              </a:rPr>
              <a:t> !</a:t>
            </a:r>
            <a:endParaRPr lang="en-US"/>
          </a:p>
        </p:txBody>
      </p:sp>
    </p:spTree>
    <p:extLst>
      <p:ext uri="{BB962C8B-B14F-4D97-AF65-F5344CB8AC3E}">
        <p14:creationId xmlns:p14="http://schemas.microsoft.com/office/powerpoint/2010/main" val="3303164635"/>
      </p:ext>
    </p:extLst>
  </p:cSld>
  <p:clrMapOvr>
    <a:masterClrMapping/>
  </p:clrMapOvr>
</p:sld>
</file>

<file path=ppt/theme/theme1.xml><?xml version="1.0" encoding="utf-8"?>
<a:theme xmlns:a="http://schemas.openxmlformats.org/drawingml/2006/main" name="Jours d’école">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ADCDC3-A8CB-4170-8DC0-A1E8881FA17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9E2B330-7DB9-4CB0-97A6-80197FBE828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45643E64-6D3D-44E7-9AA9-BB67A5DC20DA}">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891</Words>
  <Application>Microsoft Office PowerPoint</Application>
  <PresentationFormat>Grand écran</PresentationFormat>
  <Paragraphs>49</Paragraphs>
  <Slides>12</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Aptos</vt:lpstr>
      <vt:lpstr>Arial</vt:lpstr>
      <vt:lpstr>JasmineUPC</vt:lpstr>
      <vt:lpstr>Raleway</vt:lpstr>
      <vt:lpstr>Jours d’école</vt:lpstr>
      <vt:lpstr>Présentation modèles PK et hématotoxicité</vt:lpstr>
      <vt:lpstr>Pharmacocinétique (PK) — Compréhension approfondie</vt:lpstr>
      <vt:lpstr>Principe général et rôle de la PK</vt:lpstr>
      <vt:lpstr>Hématologie — Compréhension de la production sanguine</vt:lpstr>
      <vt:lpstr>Organisation des lignées sanguines et mécanismes d’impact</vt:lpstr>
      <vt:lpstr>Mon avancée et résultats de simulation</vt:lpstr>
      <vt:lpstr>Résumé du travail réalisé et visualisation des sorties</vt:lpstr>
      <vt:lpstr>Graphique de simulation</vt:lpstr>
      <vt:lpstr>Présentation PowerPoint</vt:lpstr>
      <vt:lpstr>Présentation PowerPoint</vt:lpstr>
      <vt:lpstr>Présentation PowerPoint</vt:lpstr>
      <vt:lpstr>Merci d'avoir écouté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HASSANI Omar</cp:lastModifiedBy>
  <cp:revision>21</cp:revision>
  <dcterms:created xsi:type="dcterms:W3CDTF">2025-11-20T18:31:10Z</dcterms:created>
  <dcterms:modified xsi:type="dcterms:W3CDTF">2026-03-09T11:09:21Z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