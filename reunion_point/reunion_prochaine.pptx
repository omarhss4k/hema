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645920"/>
            <a:ext cx="11064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336B"/>
                </a:solidFill>
              </a:rPr>
              <a:t>Réunion de suivi — Stage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7AC2"/>
                </a:solidFill>
              </a:rPr>
              <a:t>Modélisation PKPD de l'hématotoxicité — ADC Pierre Fabre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336B"/>
                </a:solidFill>
              </a:rPr>
              <a:t>Mars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Pipeline : Souris  →  Rat  →  Humain  |  Modèle de Friberg et 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Récapitulatif des avancées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Toutes les étapes franchies depuis le début du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Modèle Friberg — 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40 mg/kg Q14D×8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8 lignées cellulaires modélisées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Ajustement modèle/données 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125 jours de cinétique reproduits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8988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Transfert Rat → Humain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Paramètres PK transférés depuis 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468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Carboplatin Q21D × 2 (clinique)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71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Nadirs neutrophiles &amp; plaquettes 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36B"/>
                </a:solidFill>
              </a:rPr>
              <a:t>▸  Chaîne souris → rat → humain validée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Modèle Friberg — Hématopoïèse 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40 mg/kg Q14D × 8 | 8 lignées cellulaires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Ce qui a été modélisé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Progéniteurs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4767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MPP → CMP → MEP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59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8775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Myéloïde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8775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Neutrophiles  +  Monocytes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7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2783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Érythroïde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2783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Réticulocytes  +  GR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94759"/>
            <a:ext cx="1828800" cy="4572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1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Thrombocytaire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6791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Plaquettes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720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Oscillations cycliques reproduites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937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125 jours de cinétique validés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3035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5511"/>
                </a:solidFill>
              </a:rPr>
              <a:t>✔  PK → Damage → Hématopoïèse ✓</a:t>
            </a:r>
          </a:p>
        </p:txBody>
      </p:sp>
      <p:pic>
        <p:nvPicPr>
          <p:cNvPr id="23" name="Picture 22" descr="Figure3_simu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61872"/>
            <a:ext cx="6492240" cy="5230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Transfert inter-espèce : Rat →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Q21D × 2 | Validation clinique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Carboplatin AUC=5 — Q21D × 2  |  Nadirs neutrophiles &amp; plaquettes</a:t>
            </a:r>
          </a:p>
        </p:txBody>
      </p:sp>
      <p:pic>
        <p:nvPicPr>
          <p:cNvPr id="8" name="Picture 7" descr="Figure4_Q21D_x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6053328"/>
            <a:ext cx="11430000" cy="41148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1081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Chaîne complète validée :  Souris  →  Rat  →  Humain  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VPC — Modèle Humain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Carboplatin AUC=5, Q21D × 2 | 1000 patients simulés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36B"/>
                </a:solidFill>
              </a:rPr>
              <a:t>VPC (Visual Predictive Check) — AUC=5, GFR=125 fixe</a:t>
            </a:r>
          </a:p>
        </p:txBody>
      </p:sp>
      <p:pic>
        <p:nvPicPr>
          <p:cNvPr id="8" name="Picture 7" descr="Figure4_VPC_AUC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8448"/>
            <a:ext cx="3840480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14630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1000 patients simulés (GFR=125 fixe)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Intervalles de prédiction 5–95%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04288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Erreur résiduelle intégrée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88336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336B"/>
                </a:solidFill>
              </a:rPr>
              <a:t>▸  Nadirs cycliques bien capturés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200400"/>
            <a:ext cx="7498079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918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36B"/>
                </a:solidFill>
              </a:rPr>
              <a:t>Grades NCI-CTCAE (Figure 4c)</a:t>
            </a:r>
          </a:p>
        </p:txBody>
      </p:sp>
      <p:pic>
        <p:nvPicPr>
          <p:cNvPr id="15" name="Picture 14" descr="Figure4c_grades_AUC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749039"/>
            <a:ext cx="7498079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Prochaine étape — Application à l'ADC Pierre Fabre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AC2"/>
                </a:solidFill>
              </a:rPr>
              <a:t>Étape 5 du pipeline : données précliniques confidentielles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</a:rPr>
              <a:t>Stage Pierre Fabre — Suivi PKPD | Mars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8B4E"/>
                </a:solidFill>
              </a:rPr>
              <a:t>Script R validé — prêt pour les données réelles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solidFill>
            <a:srgbClr val="003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Étape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116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Application aux données précliniques de l'ADC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317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Chargement des données souris confidentielle
→ Estimation k₁, k₂ spécifiques à la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Vérification de la cohérence biologique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Différenciation des doses, comparaison aux valeurs attendues
→ Même démarche que la validation sur irinotécan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solidFill>
            <a:srgbClr val="21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Transfert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548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36B"/>
                </a:solidFill>
              </a:rPr>
              <a:t>Prédiction de la toxicité humaine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074920"/>
            <a:ext cx="9784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Pipeline souris → rat → humain appliqué à l'ADC
→ Prédiction des nadirs hématologiques en clinique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217920"/>
            <a:ext cx="1143000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07AC2"/>
                </a:solidFill>
              </a:rPr>
              <a:t>Stage Pierre Fabre — Modélisation PKPD de l'hématotoxicité — ADC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Rat modélisé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✔ Humain transféré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114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 ADC en cours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36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Mars 2026  |  Pipeline : Souris → Rat → Humain  |  Modèle Friberg et 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0000"/>
          </a:xfrm>
          <a:prstGeom prst="rect">
            <a:avLst/>
          </a:prstGeom>
          <a:solidFill>
            <a:srgbClr val="1F497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Adaptation du modèle Fornari : ce qu'on garde / ce qu'on remplace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648000"/>
            <a:ext cx="5842476" cy="396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✅  Ce qu'on garde (Fornari)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1098000"/>
            <a:ext cx="5842476" cy="4896000"/>
          </a:xfrm>
          <a:prstGeom prst="rect">
            <a:avLst/>
          </a:prstGeom>
          <a:solidFill>
            <a:srgbClr val="E2EFDA"/>
          </a:solidFill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>
                <a:solidFill>
                  <a:srgbClr val="1A5C1A"/>
                </a:solidFill>
              </a:rPr>
              <a:t>• ODEs de l'hématopoïèse (compartiments 1–9)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>
                <a:solidFill>
                  <a:srgbClr val="1A5C1A"/>
                </a:solidFill>
              </a:rPr>
              <a:t>• Baselines :  Plt₀,  Neut₀,  Ret₀,  RBC₀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>
                <a:solidFill>
                  <a:srgbClr val="1A5C1A"/>
                </a:solidFill>
              </a:rPr>
              <a:t>• MTT_Plt = 168 h,  MTT_Neut = 210 h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>
                <a:solidFill>
                  <a:srgbClr val="1A5C1A"/>
                </a:solidFill>
              </a:rPr>
              <a:t>• Feedbacks γ  (mécanisme de régulation)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>
                <a:solidFill>
                  <a:srgbClr val="1A5C1A"/>
                </a:solidFill>
              </a:rPr>
              <a:t>• Grades NCI-CTCAE (toxicité hématologique)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6476" y="648000"/>
            <a:ext cx="5842476" cy="39600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❌  Ce qu'on remplace (ADC)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6476" y="1098000"/>
            <a:ext cx="5842476" cy="4896000"/>
          </a:xfrm>
          <a:prstGeom prst="rect">
            <a:avLst/>
          </a:prstGeom>
          <a:solidFill>
            <a:srgbClr val="FFE0E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 i="0">
                <a:solidFill>
                  <a:srgbClr val="8B0000"/>
                </a:solidFill>
              </a:rPr>
              <a:t>• PK carboplatine  →  Cavg fixe  (pas de modèle PK)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 i="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 i="0">
                <a:solidFill>
                  <a:srgbClr val="8B0000"/>
                </a:solidFill>
              </a:rPr>
              <a:t>• Damage (adducts ADN)  →  Emax 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 i="1">
                <a:solidFill>
                  <a:srgbClr val="444444"/>
                </a:solidFill>
              </a:rPr>
              <a:t>   Effect = Cavg / (IC50 + Cavg)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0" i="0">
                <a:solidFill>
                  <a:srgbClr val="444444"/>
                </a:solidFill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50" b="1" i="0">
                <a:solidFill>
                  <a:srgbClr val="8B0000"/>
                </a:solidFill>
              </a:rPr>
              <a:t>• Slope / δ_Plt  →  à recalibrer avec données ADC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102000"/>
            <a:ext cx="11828952" cy="576000"/>
          </a:xfrm>
          <a:prstGeom prst="rect">
            <a:avLst/>
          </a:prstGeom>
          <a:solidFill>
            <a:srgbClr val="FFFFCC"/>
          </a:solidFill>
          <a:ln w="19050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1">
                <a:solidFill>
                  <a:srgbClr val="7F6000"/>
                </a:solidFill>
              </a:rPr>
              <a:t>Seul inconnu : Slope / Emax  →  estimation par analyse de sensibilité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