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645920"/>
            <a:ext cx="1106424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336B"/>
                </a:solidFill>
              </a:rPr>
              <a:t>Réunion de suivi — Stage Pierre Fabre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07AC2"/>
                </a:solidFill>
              </a:rPr>
              <a:t>Modélisation PKPD de l'hématotoxicité — ADC Pierre Fabre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00336B"/>
                </a:solidFill>
              </a:rPr>
              <a:t>Mars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3679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Pipeline : Souris  →  Rat  →  Humain  |  Modèle de Friberg et al. + Simeoni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Récapitulatif des avancées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Toutes les étapes franchies depuis le début du stage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3657600" cy="45720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8988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Modèle Friberg — Rat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Carboplatin 40 mg/kg Q14D×8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8 lignées cellulaires modélisées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71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Ajustement modèle/données 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125 jours de cinétique reproduits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371600"/>
            <a:ext cx="3657600" cy="45720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38988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Transfert Rat → Humain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965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Paramètres PK transférés depuis rat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468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Carboplatin Q21D × 2 (clinique)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971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Nadirs neutrophiles &amp; plaquettes 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474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Chaîne souris → rat → humain validée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371600"/>
            <a:ext cx="3657600" cy="45720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38988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Étape 4.2 — Simeoni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965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3 bugs identifiés &amp; corrigés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468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k₁ = 0.638  k₂ = 0.00106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971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Proche valeurs publiées (k₁≈0.7)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474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Script R prêt pour l'ADC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Étape 4.2 — Validation du modèle de Simeoni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Irinotécan (données publiques) → validation avant application à l'ADC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7B10"/>
                </a:solidFill>
              </a:rPr>
              <a:t>Problèmes identifiés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8B4E"/>
                </a:solidFill>
              </a:rPr>
              <a:t>Corrections apportées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1280160"/>
            <a:ext cx="36576" cy="41148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737360"/>
            <a:ext cx="502920" cy="502920"/>
          </a:xfrm>
          <a:prstGeom prst="rect">
            <a:avLst/>
          </a:prstGeom>
          <a:solidFill>
            <a:srgbClr val="E87B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373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737360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36B"/>
                </a:solidFill>
              </a:rPr>
              <a:t>w₀ incorrecte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01168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Fixée à 0.081 g → vraies données à 0.114 g
Décalage systématique du modèle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737360"/>
            <a:ext cx="502920" cy="50292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7373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1737360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36B"/>
                </a:solidFill>
              </a:rPr>
              <a:t>Extraction de w₀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201168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Régression sur premières mesures
→ w₀ = 0.114 g depuis les données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71800"/>
            <a:ext cx="502920" cy="502920"/>
          </a:xfrm>
          <a:prstGeom prst="rect">
            <a:avLst/>
          </a:prstGeom>
          <a:solidFill>
            <a:srgbClr val="E87B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971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971800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36B"/>
                </a:solidFill>
              </a:rPr>
              <a:t>Point mal ordonné PD60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24612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Solveur ODE plantait silencieusement
Courbes parasites sans message d'erreur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971800"/>
            <a:ext cx="502920" cy="50292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2971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2971800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36B"/>
                </a:solidFill>
              </a:rPr>
              <a:t>Tri systématique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324612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order(time) à chaque lecture
→ ODE toujours stable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E87B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206240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36B"/>
                </a:solidFill>
              </a:rPr>
              <a:t>Optimiseur local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48056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nlminb coincé dans faux minimum
→ doses 45 et 60 mg/kg indiscernables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4206240"/>
            <a:ext cx="502920" cy="50292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42062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4206240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36B"/>
                </a:solidFill>
              </a:rPr>
              <a:t>DEoptim (global)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448056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Algorithme évolutionnaire
→ différenciation des 2 doses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440680"/>
            <a:ext cx="11430000" cy="68580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532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Résultat :  k₁ = 0.638  (réf. ≈ 0.7)   |   k₂ = 0.00106  (réf. ≈ 0.0015)   →   Estimations biologiquement cohérentes 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Modèle Friberg — Hématopoïèse 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Carboplatin 40 mg/kg Q14D × 8 | 8 lignées cellulaires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36B"/>
                </a:solidFill>
              </a:rPr>
              <a:t>Ce qui a été modélisé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2011680" cy="50292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96595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Progéniteurs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1965959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MPP → CMP → MEP (hiérarchie hématopoïétique complète)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19"/>
            <a:ext cx="2011680" cy="50292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5175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Myéloïde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651759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Neutrophiles  +  Monocytes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46119"/>
            <a:ext cx="2011680" cy="50292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33755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Érythroïde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3337559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Réticulocytes  +  Globules rouges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31919"/>
            <a:ext cx="2011680" cy="50292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02335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Thrombocytaire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023359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Plaquettes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754880"/>
            <a:ext cx="11430000" cy="36576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846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36B"/>
                </a:solidFill>
              </a:rPr>
              <a:t>Résultats clés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30352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5511"/>
                </a:solidFill>
              </a:rPr>
              <a:t>✔  Oscillations cycliques reproduites après chaque injection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5955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5511"/>
                </a:solidFill>
              </a:rPr>
              <a:t>✔  Cinétique sur 125 jours cohérente avec les données expérimentales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81558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5511"/>
                </a:solidFill>
              </a:rPr>
              <a:t>✔  Modèle PK → Damage → Hématopoïèse validé sur rat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07161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✔  Base solide pour le transfert rat → humain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Transfert inter-espèce : Rat → Humain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Carboplatin Q21D × 2 | Validation clinique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36B"/>
                </a:solidFill>
              </a:rPr>
              <a:t>Démarche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548640" cy="54864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920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Paramètres PK estimés sur rat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2402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CL, V1, V2, Q transférés directement au modèle humain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926080"/>
            <a:ext cx="548640" cy="54864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9260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26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Simulation humaine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246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Carboplatin AUC=5 (750 mg pour GFR=125) — 2 cycles Q21D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931920"/>
            <a:ext cx="548640" cy="54864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931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931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Comparaison données cliniques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251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Courbes modèle superposées aux observations (neutrophiles + plaquettes)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937760"/>
            <a:ext cx="548640" cy="54864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937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937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257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Nadirs bien reproduits — variabilité inter-patient identifiée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806440"/>
            <a:ext cx="1143000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37160" cy="64008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897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336B"/>
                </a:solidFill>
              </a:rPr>
              <a:t>Chaîne complète validée :  Souris  →  Rat  →  Humain  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VPC &amp; Analyse de sensibilité — Modèle Humain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Population de 1000 patients | AUC = 4 / 5 /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36B"/>
                </a:solidFill>
              </a:rPr>
              <a:t>VPC (Visual Predictive Check) — AUC=5, GFR=125 fixe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1000 patients simulés (Supp. S11, GFR=125 fixe)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599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Intervalles de prédiction 5–95% calculés pour neutrophiles et plaquettes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747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Erreur résiduelle intégrée dans la simulation populationnelle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017520"/>
            <a:ext cx="11430000" cy="36576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108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36B"/>
                </a:solidFill>
              </a:rPr>
              <a:t>Analyse de sensibilité sur l'AUC cible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566160"/>
            <a:ext cx="3566160" cy="45720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5935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AUC =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114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Faible exposition — toxicité modérée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799" y="3566160"/>
            <a:ext cx="3566160" cy="4572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9" y="35935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AUC =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39" y="4114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Dose standard Calvert (référence)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38" y="3566160"/>
            <a:ext cx="3566160" cy="457200"/>
          </a:xfrm>
          <a:prstGeom prst="rect">
            <a:avLst/>
          </a:prstGeom>
          <a:solidFill>
            <a:srgbClr val="E87B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8" y="35935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AUC =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8" y="4114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Forte exposition — toxicité accrue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29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→  Grades NCI-CTCAE calculés pour chaque scénario (Figure 4c)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Prochaine étape — Application à l'ADC Pierre Fabre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Étape 5 du pipeline : données précliniques confidentielles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8B4E"/>
                </a:solidFill>
              </a:rPr>
              <a:t>Script R validé — prêt pour les données réelles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1280160" cy="50292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Étape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0116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Application aux données précliniques de l'ADC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31720"/>
            <a:ext cx="9784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Chargement des données souris confidentielle
→ Estimation k₁, k₂ spécifiques à la molécule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83280"/>
            <a:ext cx="1280160" cy="50292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3832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832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Vérification de la cohérence biologique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03320"/>
            <a:ext cx="9784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Différenciation des doses, comparaison aux valeurs attendues
→ Même démarche que la validation sur irinotécan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54880"/>
            <a:ext cx="1280160" cy="50292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Transfert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7548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Prédiction de la toxicité humaine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074920"/>
            <a:ext cx="9784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Pipeline souris → rat → humain appliqué à l'ADC
→ Prédiction des nadirs hématologiques en clinique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6217920"/>
            <a:ext cx="11430000" cy="36576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Questions &amp;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089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007AC2"/>
                </a:solidFill>
              </a:rPr>
              <a:t>Stage Pierre Fabre — Modélisation PKPD de l'hématotoxicité — ADC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931920"/>
            <a:ext cx="9418320" cy="36576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✔ Simeoni validé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✔ Rat modélisé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✔ Humain transféré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 ADC en cours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33679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Mars 2026  |  Pipeline : Souris → Rat → Humain  |  Modèle Friberg + Simeoni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