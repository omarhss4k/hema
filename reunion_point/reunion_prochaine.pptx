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1645920"/>
            <a:ext cx="1106424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0336B"/>
                </a:solidFill>
              </a:rPr>
              <a:t>Réunion de suivi — Stage Pierre Fabre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7AC2"/>
                </a:solidFill>
              </a:rPr>
              <a:t>Modélisation PKPD de l'hématotoxicité — ADC Pierre Fabre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5204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336B"/>
                </a:solidFill>
              </a:rPr>
              <a:t>Mars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63367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Pipeline : Souris  →  Rat  →  Humain  |  Modèle de Friberg et al.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Récapitulatif des avancées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C2"/>
                </a:solidFill>
              </a:rPr>
              <a:t>Toutes les étapes franchies depuis le début du stage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Stage Pierre Fabre — Suivi PKPD | Mars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5486400" cy="457200"/>
          </a:xfrm>
          <a:prstGeom prst="rect">
            <a:avLst/>
          </a:prstGeom>
          <a:solidFill>
            <a:srgbClr val="21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Modèle Friberg — Rat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36B"/>
                </a:solidFill>
              </a:rPr>
              <a:t>▸  Carboplatin 40 mg/kg Q14D×8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468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36B"/>
                </a:solidFill>
              </a:rPr>
              <a:t>▸  8 lignées cellulaires modélisées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36B"/>
                </a:solidFill>
              </a:rPr>
              <a:t>▸  Ajustement modèle/données 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474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36B"/>
                </a:solidFill>
              </a:rPr>
              <a:t>▸  125 jours de cinétique reproduits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solidFill>
            <a:srgbClr val="21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38988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Transfert Rat → Humain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19659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36B"/>
                </a:solidFill>
              </a:rPr>
              <a:t>▸  Paramètres PK transférés depuis rat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4688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36B"/>
                </a:solidFill>
              </a:rPr>
              <a:t>▸  Carboplatin Q21D × 2 (clinique)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9718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36B"/>
                </a:solidFill>
              </a:rPr>
              <a:t>▸  Nadirs neutrophiles &amp; plaquettes 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474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0336B"/>
                </a:solidFill>
              </a:rPr>
              <a:t>▸  Chaîne souris → rat → humain validée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Modèle Friberg — Hématopoïèse Rat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C2"/>
                </a:solidFill>
              </a:rPr>
              <a:t>Carboplatin 40 mg/kg Q14D × 8 | 8 lignées cellulaires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Stage Pierre Fabre — Suivi PKPD | Mars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B"/>
                </a:solidFill>
              </a:rPr>
              <a:t>Ce qui a été modélisé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874519"/>
            <a:ext cx="1828800" cy="4572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94767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Progéniteurs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94767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36B"/>
                </a:solidFill>
              </a:rPr>
              <a:t>MPP → CMP → MEP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514599"/>
            <a:ext cx="1828800" cy="4572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58775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Myéloïde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258775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36B"/>
                </a:solidFill>
              </a:rPr>
              <a:t>Neutrophiles  +  Monocytes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154679"/>
            <a:ext cx="1828800" cy="4572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2783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Érythroïde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322783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36B"/>
                </a:solidFill>
              </a:rPr>
              <a:t>Réticulocytes  +  GR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794759"/>
            <a:ext cx="1828800" cy="45720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867911"/>
            <a:ext cx="1691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Thrombocytaire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0" y="386791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36B"/>
                </a:solidFill>
              </a:rPr>
              <a:t>Plaquettes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57200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5511"/>
                </a:solidFill>
              </a:rPr>
              <a:t>✔  Oscillations cycliques reproduites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4937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5511"/>
                </a:solidFill>
              </a:rPr>
              <a:t>✔  125 jours de cinétique validés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530352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15511"/>
                </a:solidFill>
              </a:rPr>
              <a:t>✔  PK → Damage → Hématopoïèse ✓</a:t>
            </a:r>
          </a:p>
        </p:txBody>
      </p:sp>
      <p:pic>
        <p:nvPicPr>
          <p:cNvPr id="23" name="Picture 22" descr="Figure3_simu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261872"/>
            <a:ext cx="6492240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Transfert inter-espèce : Rat → Humain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C2"/>
                </a:solidFill>
              </a:rPr>
              <a:t>Carboplatin Q21D × 2 | Validation clinique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Stage Pierre Fabre — Suivi PKPD | Mars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B"/>
                </a:solidFill>
              </a:rPr>
              <a:t>Carboplatin AUC=5 — Q21D × 2  |  Nadirs neutrophiles &amp; plaquettes</a:t>
            </a:r>
          </a:p>
        </p:txBody>
      </p:sp>
      <p:pic>
        <p:nvPicPr>
          <p:cNvPr id="8" name="Picture 7" descr="Figure4_Q21D_x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828800"/>
            <a:ext cx="11430000" cy="41605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65760" y="6053328"/>
            <a:ext cx="11430000" cy="41148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081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Chaîne complète validée :  Souris  →  Rat  →  Humain  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VPC — Modèle Humain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C2"/>
                </a:solidFill>
              </a:rPr>
              <a:t>Carboplatin AUC=5, Q21D × 2 | 1000 patients simulés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Stage Pierre Fabre — Suivi PKPD | Mars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336B"/>
                </a:solidFill>
              </a:rPr>
              <a:t>VPC (Visual Predictive Check) — AUC=5, GFR=125 fixe</a:t>
            </a:r>
          </a:p>
        </p:txBody>
      </p:sp>
      <p:pic>
        <p:nvPicPr>
          <p:cNvPr id="8" name="Picture 7" descr="Figure4_VPC_AUC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298448"/>
            <a:ext cx="3840480" cy="51663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146304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36B"/>
                </a:solidFill>
              </a:rPr>
              <a:t>1000 patients simulés (GFR=125 fixe)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192024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36B"/>
                </a:solidFill>
              </a:rPr>
              <a:t>▸  Intervalles de prédiction 5–95%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304288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36B"/>
                </a:solidFill>
              </a:rPr>
              <a:t>▸  Erreur résiduelle intégrée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2688336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336B"/>
                </a:solidFill>
              </a:rPr>
              <a:t>▸  Nadirs cycliques bien capturés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3200400"/>
            <a:ext cx="7498079" cy="36576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3291840"/>
            <a:ext cx="74980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336B"/>
                </a:solidFill>
              </a:rPr>
              <a:t>Grades NCI-CTCAE (Figure 4c)</a:t>
            </a:r>
          </a:p>
        </p:txBody>
      </p:sp>
      <p:pic>
        <p:nvPicPr>
          <p:cNvPr id="15" name="Picture 14" descr="Figure4c_grades_AUC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749039"/>
            <a:ext cx="7498079" cy="2514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371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Prochaine étape — Application à l'ADC Pierre Fabre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80467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7AC2"/>
                </a:solidFill>
              </a:rPr>
              <a:t>Étape 5 du pipeline : données précliniques confidentielles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6556248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</a:rPr>
              <a:t>Stage Pierre Fabre — Suivi PKPD | Mars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18B4E"/>
                </a:solidFill>
              </a:rPr>
              <a:t>Script R validé — prêt pour les données réelles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11680"/>
            <a:ext cx="1280160" cy="502920"/>
          </a:xfrm>
          <a:prstGeom prst="rect">
            <a:avLst/>
          </a:prstGeom>
          <a:solidFill>
            <a:srgbClr val="0033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116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Étape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0116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B"/>
                </a:solidFill>
              </a:rPr>
              <a:t>Application aux données précliniques de l'ADC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331720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Chargement des données souris confidentielle
→ Estimation k₁, k₂ spécifiques à la molécule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383280"/>
            <a:ext cx="1280160" cy="50292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33832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Validation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3832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B"/>
                </a:solidFill>
              </a:rPr>
              <a:t>Vérification de la cohérence biologique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03320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Différenciation des doses, comparaison aux valeurs attendues
→ Même démarche que la validation sur irinotécan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754880"/>
            <a:ext cx="1280160" cy="502920"/>
          </a:xfrm>
          <a:prstGeom prst="rect">
            <a:avLst/>
          </a:prstGeom>
          <a:solidFill>
            <a:srgbClr val="218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754880"/>
            <a:ext cx="1280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Transfert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754880"/>
            <a:ext cx="9784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336B"/>
                </a:solidFill>
              </a:rPr>
              <a:t>Prédiction de la toxicité humaine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5074920"/>
            <a:ext cx="9784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Pipeline souris → rat → humain appliqué à l'ADC
→ Prédiction des nadirs hématologiques en clinique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6217920"/>
            <a:ext cx="11430000" cy="36576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</a:rPr>
              <a:t>Questions &amp;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10896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007AC2"/>
                </a:solidFill>
              </a:rPr>
              <a:t>Stage Pierre Fabre — Modélisation PKPD de l'hématotoxicité — ADC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3931920"/>
            <a:ext cx="9418320" cy="36576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2880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✔ Rat modélisé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✔ Humain transféré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41148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→ ADC en cours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7A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36792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Mars 2026  |  Pipeline : Souris → Rat → Humain  |  Modèle Friberg et 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