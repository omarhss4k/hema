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Modélisation de la toxicité hématologique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DD7EE"/>
                </a:solidFill>
              </a:rPr>
              <a:t>du Carboplatine — Réunion d'avancement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760720" cy="45720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DD7EE"/>
                </a:solidFill>
              </a:rPr>
              <a:t>Référence : Fornari et al. 2019 — CPT:PSP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DB3CC"/>
                </a:solidFill>
              </a:rPr>
              <a:t>Mars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Modélisation PK/PD — Carboplatine &amp; Hématotoxicité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Reproduire et adapter le modèle Fornari 2019 chez l'humain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51206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Problème clinique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1A1A1A"/>
                </a:solidFill>
              </a:rPr>
              <a:t>• Carboplatine = chimiothérapie standard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Dosage par formule de Calvert (AUC cible)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Toxicité hématologique dose-limitante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Neutropénie &amp; thrombocytopénie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Grades NCI-CTCAE : G1 → G4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Besoin d'un modèle prédictif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Anticiper les nadirs par patient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Adapter la dose selon la fonction rénale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43000"/>
            <a:ext cx="5943600" cy="5120640"/>
          </a:xfrm>
          <a:prstGeom prst="rect">
            <a:avLst/>
          </a:prstGeom>
          <a:solidFill>
            <a:srgbClr val="E8F1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Objectifs du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002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1A1A1A"/>
                </a:solidFill>
              </a:rPr>
              <a:t>• 1. Reproduire le modèle Fornari 2019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ODEs 1–9 (hématopoïèse + PK/PD)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Validation rat (Figure 3 papier)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2. Transposer chez l'humain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Scaling allométrique des paramètres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PK carboplatine 2-compartiments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3. Simuler la population humaine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VPC — 1000 patients (GFR variable)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Distribution des grades par AUC cible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4. Calibrer le modèle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Ajuster δ_Plt &amp; γ pour reproduire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les grades observés (Fornari Fig. 4c)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Modélisation PK/PD — Carboplatine &amp; Hématotoxicité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Structure du modèle PK/PD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Système d'EDOs couplé — Hématopoïèse + Pharmacocinétique carboplatine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286000" cy="6400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PK Carboplatine
2 compartiments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22860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1488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Damage (Eq. 3)
adducts ADN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188720"/>
            <a:ext cx="2194560" cy="64008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234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MPP
Prog. multipotente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103120"/>
            <a:ext cx="2194560" cy="64008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1488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CMP / MEP
Prog. engagées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188720"/>
            <a:ext cx="2194560" cy="640080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234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Neut / Mono
(voie myéloïde)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103120"/>
            <a:ext cx="2194560" cy="640080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21488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Ret / RBC
(voie érythroïde)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188720"/>
            <a:ext cx="219456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234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Plaquettes (Plt)
Thrombocytes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103120"/>
            <a:ext cx="2194560" cy="6400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148839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Feedbacks
Eq. 11–13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1444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23591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1444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3591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4447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3017520"/>
            <a:ext cx="6583680" cy="548640"/>
          </a:xfrm>
          <a:prstGeom prst="rect">
            <a:avLst/>
          </a:prstGeom>
          <a:solidFill>
            <a:srgbClr val="FF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3063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Effet drogue : Kill = Slope × Damage  (MPP, CMP, MEP)   +   δ × Damage  (Ret, Plt)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49039"/>
            <a:ext cx="11430000" cy="265176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794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Paramètres clés implémentés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0624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1A1A1A"/>
                </a:solidFill>
              </a:rPr>
              <a:t>• PK : CL=6.18 L/h, V1=7.87 L, Q=1.98 L/h, V2=8.06 L</a:t>
            </a:r>
          </a:p>
          <a:p>
            <a:pPr/>
            <a:r>
              <a:rPr sz="1200" b="1">
                <a:solidFill>
                  <a:srgbClr val="1A1A1A"/>
                </a:solidFill>
              </a:rPr>
              <a:t>• Baselines : Plt0=345 · 10⁹/L, Neut0=4.5 · 10⁹/L</a:t>
            </a:r>
          </a:p>
          <a:p>
            <a:pPr/>
            <a:r>
              <a:rPr sz="1200" b="1">
                <a:solidFill>
                  <a:srgbClr val="1A1A1A"/>
                </a:solidFill>
              </a:rPr>
              <a:t>• MTT_Plt = 168 h, MTT_Neut = 210 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2062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1A1A1A"/>
                </a:solidFill>
              </a:rPr>
              <a:t>• Slopes : MPP=0.79, CMP=0.57, MEP=0.66</a:t>
            </a:r>
          </a:p>
          <a:p>
            <a:pPr/>
            <a:r>
              <a:rPr sz="1200" b="1">
                <a:solidFill>
                  <a:srgbClr val="1A1A1A"/>
                </a:solidFill>
              </a:rPr>
              <a:t>• δ_Plt = 0.80  (calibré), δ_Ret = 2.8</a:t>
            </a:r>
          </a:p>
          <a:p>
            <a:pPr/>
            <a:r>
              <a:rPr sz="1200" b="1">
                <a:solidFill>
                  <a:srgbClr val="1A1A1A"/>
                </a:solidFill>
              </a:rPr>
              <a:t>• GFR ~ N(78, 20²) mL/min  pour la population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Modélisation PK/PD — Carboplatine &amp; Hématotoxicité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Validation : modèle rat (Figure 3 Fornari 2019)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Reproduction des courbes Neut, Plt, Ret — données rat carboplatine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338560" cy="3657600"/>
          </a:xfrm>
          <a:prstGeom prst="rect">
            <a:avLst/>
          </a:prstGeom>
          <a:solidFill>
            <a:srgbClr val="E8F1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Résultats rat (Figure 3 du papier reproduite)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1A1A1A"/>
                </a:solidFill>
              </a:rPr>
              <a:t>• Simulation déterministe : patient rat typique, dose unique carboplatine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Courbes Neut, Plt, Ret, RBC reproduites → nadirs &amp; temps de récupération conformes au papier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VPC (Supplementary Figure S1) : 1000 rats simulés avec variabilité inter-individuelle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Bandes 5–95e percentile encadrent les données observées (rat)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Grades NCI-CTCAE calculés sur la population simulée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Distribution G0–G4 cohérente avec les données rat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Validations techniques : convergence EDOs (LSODA, rtol=1e-7), diagnostics PK/PD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937760"/>
            <a:ext cx="11338560" cy="1554480"/>
          </a:xfrm>
          <a:prstGeom prst="rect">
            <a:avLst/>
          </a:prstGeom>
          <a:solidFill>
            <a:srgbClr val="E2EFDA"/>
          </a:solidFill>
          <a:ln w="190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Conclusion — Étape 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49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Le modèle ODE (Éqs 1–9 + feedbacks 11–13) reproduit fidèlement les données rat de Fornari 2019. Les fichiers pkpd_model_FORNARI.R, parameters_rat.R, run_CORRECT.R, plots.R sont finalisés.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Modélisation PK/PD — Carboplatine &amp; Hématotoxicité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Simulation humaine — Patient type (Figure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Carboplatine AUC=5, schéma Q21D × 2 cycles, GFR=125 mL/min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Hypothèses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1A1A1A"/>
                </a:solidFill>
              </a:rPr>
              <a:t>• Dose Calvert : AUC × (GFR + 25)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AUC=5, GFR=125 → Dose = 750 mg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Infusion 1h, 2 cycles à J0 &amp; J21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Patient médian (paramètres Table 1 &amp; 2)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PK 2 compartiments (Zandvliet 2008)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Fraction libre fu₀=fu∞=1 (carboplatine)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Pas de δ_Neut (absent du modèle Fornari)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E8F1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Résultats déterministes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1A1A1A"/>
                </a:solidFill>
              </a:rPr>
              <a:t>• Neut : nadir Cycle 1 ≈ 2.5 · 10⁹/L → Grade 1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Nadir C2 légèrement inférieur (cumul)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Plt : nadir C1 ≈ 160 · 10⁹/L → Grade 1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Nadir C2 ≈ 146 · 10⁹/L → Grade 1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Ret &amp; RBC : légère suppression érythroïde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Récupération complète entre les cycles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Conforme à Figure 4 du papier Fornari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532120"/>
            <a:ext cx="11338560" cy="777240"/>
          </a:xfrm>
          <a:prstGeom prst="rect">
            <a:avLst/>
          </a:prstGeom>
          <a:solidFill>
            <a:srgbClr val="FFF0CC"/>
          </a:solidFill>
          <a:ln w="12700">
            <a:solidFill>
              <a:srgbClr val="C5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4000"/>
                </a:solidFill>
              </a:rPr>
              <a:t>Note : La courbe déterministe = patient médian (Grade 1 attendu). Les grades G3/G4 apparaissent dans la queue de distribution de la population simulée (voir VPC &amp; Figure 4c).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Modélisation PK/PD — Carboplatine &amp; Hématotoxicité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Simulation population — VPC &amp; Grades (Figure 4b/4c)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1000 patients simulés, GFR ~ N(78, 20²) mL/min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VPC (Visual Predictive Check)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1A1A1A"/>
                </a:solidFill>
              </a:rPr>
              <a:t>• Variabilité inter-individuelle simulée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GFR ~ N(78, 20²) → CL individuelle (Calvert)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IIV sur baselines (CV 20–30%)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Bandes 5e–95e percentile tracées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Encadrent la médiane et les données Fornari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AUC testées : 4, 5, 6 mg/mL·min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Figures : Figure4_VPC_AUC4/5/6.pdf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E8F1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Distribution des grades (Figure 4c)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1A1A1A"/>
                </a:solidFill>
              </a:rPr>
              <a:t>• % patients par grade NCI-CTCAE (Plt &amp; Neut)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AUC=4 : majorité G0–G1, très peu G3/G4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AUC=5 : montée des G2–G3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Plt : ~15% G2, ~5% G3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AUC=6 : G3/G4 significatifs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Nécessite ajustement de dose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Calibration δ_Plt=0.80, γ=0.40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Reproduit les proportions de Fornari Fig 4c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532120"/>
            <a:ext cx="11338560" cy="777240"/>
          </a:xfrm>
          <a:prstGeom prst="rect">
            <a:avLst/>
          </a:prstGeom>
          <a:solidFill>
            <a:srgbClr val="E2EFDA"/>
          </a:solidFill>
          <a:ln w="1270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4"/>
                </a:solidFill>
              </a:rPr>
              <a:t>Fichiers générés : Figure4_VPC.pdf, Figure4c_AUC4/5/6.pdf, Figure4c_grades_AUC5.pdf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Modélisation PK/PD — Carboplatine &amp; Hématotoxicité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Calibration du modèle &amp; Difficultés rencontrées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Ajustement itératif des paramètres pour reproduire Fornari 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21208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Processus de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1A1A1A"/>
                </a:solidFill>
              </a:rPr>
              <a:t>• Cible : nadirs Plt ≈ 160 (C1) &amp; 146 (C2)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Paramètre ajusté : δ_Plt (effet drogue Plt)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Résultat : δ_Plt = 0.80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γ_prolTrans = 0.40  (feedback Plt → MPP)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GFR patient de référence : 125 mL/min (S11)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Cohérence avec le papier (annexe S11)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IIV ajustée pour reproduire les G3/G4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CV 25% sur Plt0, 20% sur Neut0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Procédure : script calibrate_plt.R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FFEBEB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</a:rPr>
              <a:t>Difficultés rencontrées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1A1A1A"/>
                </a:solidFill>
              </a:rPr>
              <a:t>• GFR de référence non explicite dans Table 1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Trouvé dans le Supplementary S11 (125 mL/min)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Ambiguïté courbe déterministe vs. grade G4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Courbe = patient médian ≠ données observées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G4 vient de la queue de la distribution pop.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Scaling allométrique des paramètres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MTT, baselines, taux de circulation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Références multiples (Table 1 + annexes)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δ_Neut absent du modèle (confirmé papier)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Tentative initiale erronée → corrigée</a:t>
            </a:r>
          </a:p>
          <a:p>
            <a:pPr/>
            <a:r>
              <a:rPr sz="1400" b="1">
                <a:solidFill>
                  <a:srgbClr val="1A1A1A"/>
                </a:solidFill>
              </a:rPr>
              <a:t>• Convergence numérique (stiff ODEs)</a:t>
            </a:r>
          </a:p>
          <a:p>
            <a:pPr lvl="1"/>
            <a:r>
              <a:rPr sz="1300" b="0">
                <a:solidFill>
                  <a:srgbClr val="404040"/>
                </a:solidFill>
              </a:rPr>
              <a:t>  – LSODA + rtol/atol ajustés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Modélisation PK/PD — Carboplatine &amp; Hématotoxicité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Bilan &amp; Prochaines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55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338560" cy="2560320"/>
          </a:xfrm>
          <a:prstGeom prst="rect">
            <a:avLst/>
          </a:prstGeom>
          <a:solidFill>
            <a:srgbClr val="E2EFDA"/>
          </a:solidFill>
          <a:ln w="19050"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44"/>
                </a:solidFill>
              </a:rPr>
              <a:t>Ce qui est accompli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78644"/>
                </a:solidFill>
              </a:rPr>
              <a:t>• Modèle PK/PD complet implémenté en R  (pkpd_model_FORNARI.R)</a:t>
            </a:r>
          </a:p>
          <a:p>
            <a:pPr/>
            <a:r>
              <a:rPr sz="1300" b="1">
                <a:solidFill>
                  <a:srgbClr val="378644"/>
                </a:solidFill>
              </a:rPr>
              <a:t>• Validation rat : Figure 3 + Figure S1 reproduites</a:t>
            </a:r>
          </a:p>
          <a:p>
            <a:pPr/>
            <a:r>
              <a:rPr sz="1300" b="1">
                <a:solidFill>
                  <a:srgbClr val="378644"/>
                </a:solidFill>
              </a:rPr>
              <a:t>• Simulation humaine déterministe : Figure 4 Neut &amp; Plt</a:t>
            </a:r>
          </a:p>
          <a:p>
            <a:pPr/>
            <a:r>
              <a:rPr sz="1300" b="1">
                <a:solidFill>
                  <a:srgbClr val="378644"/>
                </a:solidFill>
              </a:rPr>
              <a:t>• VPC population (1000 patients) — AUC 4, 5, 6</a:t>
            </a:r>
          </a:p>
          <a:p>
            <a:pPr/>
            <a:r>
              <a:rPr sz="1300" b="1">
                <a:solidFill>
                  <a:srgbClr val="378644"/>
                </a:solidFill>
              </a:rPr>
              <a:t>• Grades NCI-CTCAE : barplots Figure 4c — AUC 4, 5, 6</a:t>
            </a:r>
          </a:p>
          <a:p>
            <a:pPr/>
            <a:r>
              <a:rPr sz="1300" b="1">
                <a:solidFill>
                  <a:srgbClr val="378644"/>
                </a:solidFill>
              </a:rPr>
              <a:t>• Calibration δ_Plt = 0.80 et γ_prolTrans = 0.40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840480"/>
            <a:ext cx="11338560" cy="2560320"/>
          </a:xfrm>
          <a:prstGeom prst="rect">
            <a:avLst/>
          </a:prstGeom>
          <a:solidFill>
            <a:srgbClr val="E8F1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Prochaines étapes envisagées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1A1A1A"/>
                </a:solidFill>
              </a:rPr>
              <a:t>• Optimisation bayésienne des paramètres IIV (NONMEM / nlmixr2)</a:t>
            </a:r>
          </a:p>
          <a:p>
            <a:pPr/>
            <a:r>
              <a:rPr sz="1300" b="1">
                <a:solidFill>
                  <a:srgbClr val="1A1A1A"/>
                </a:solidFill>
              </a:rPr>
              <a:t>• Intégration de données cliniques réelles (validation externe)</a:t>
            </a:r>
          </a:p>
          <a:p>
            <a:pPr/>
            <a:r>
              <a:rPr sz="1300" b="1">
                <a:solidFill>
                  <a:srgbClr val="1A1A1A"/>
                </a:solidFill>
              </a:rPr>
              <a:t>• Extension à d'autres schémas (Q28D, combinaisons)</a:t>
            </a:r>
          </a:p>
          <a:p>
            <a:pPr/>
            <a:r>
              <a:rPr sz="1300" b="1">
                <a:solidFill>
                  <a:srgbClr val="1A1A1A"/>
                </a:solidFill>
              </a:rPr>
              <a:t>• Outil de prédiction de grade par patient (Shiny app ou rapport automatisé)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Modélisation PK/PD — Carboplatine &amp; Hématotoxicité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65836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