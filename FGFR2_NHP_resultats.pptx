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5C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77440"/>
            <a:ext cx="12188952" cy="2560320"/>
          </a:xfrm>
          <a:prstGeom prst="rect">
            <a:avLst/>
          </a:prstGeom>
          <a:solidFill>
            <a:srgbClr val="2E75B6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3601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D6E4F0"/>
                </a:solidFill>
              </a:rPr>
              <a:t>Étape 6 — Composé en développement interne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60320"/>
            <a:ext cx="112745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</a:rPr>
              <a:t>Modélisation PK/PD de l'hématotoxicité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2044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</a:rPr>
              <a:t>Données NHP précliniques — 8 singes cynomolgus — 4 niveaux de dose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D6E4F0"/>
                </a:solidFill>
              </a:rPr>
              <a:t>Modèle semi-mécaniste Fornari (2019)  |  Ajustement PK individuel  |  Calibration PD visuelle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4846320"/>
            <a:ext cx="5788152" cy="54864"/>
          </a:xfrm>
          <a:prstGeom prst="rect">
            <a:avLst/>
          </a:prstGeom>
          <a:solidFill>
            <a:srgbClr val="FFC00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29200"/>
            <a:ext cx="103601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FFC000"/>
                </a:solidFill>
              </a:rPr>
              <a:t>Résultats confidentiels — ne pas diffuser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943600"/>
            <a:ext cx="103601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5F5F5"/>
                </a:solidFill>
              </a:rPr>
              <a:t>M2 Sciences de la Donnée de Santé  |  Stage Pierre Fabre  |  2024–2025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3A5C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Design expérimental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D6E4F0"/>
                </a:solidFill>
              </a:rPr>
              <a:t>Étude PK/PD préclinique chez le singe cynomolgus (NHP)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A3A5C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92824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F5F5F5"/>
                </a:solidFill>
              </a:rPr>
              <a:t>Confidentiel — Usage interne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188720"/>
            <a:ext cx="2423160" cy="411480"/>
          </a:xfrm>
          <a:prstGeom prst="rect">
            <a:avLst/>
          </a:prstGeom>
          <a:solidFill>
            <a:srgbClr val="2E75B6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207008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Groupe</a:t>
            </a:r>
          </a:p>
        </p:txBody>
      </p:sp>
      <p:sp>
        <p:nvSpPr>
          <p:cNvPr id="9" name="Rectangle 8"/>
          <p:cNvSpPr/>
          <p:nvPr/>
        </p:nvSpPr>
        <p:spPr>
          <a:xfrm>
            <a:off x="2926080" y="1188720"/>
            <a:ext cx="2423160" cy="411480"/>
          </a:xfrm>
          <a:prstGeom prst="rect">
            <a:avLst/>
          </a:prstGeom>
          <a:solidFill>
            <a:srgbClr val="2E75B6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71800" y="1207008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Dose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0" y="1188720"/>
            <a:ext cx="2423160" cy="411480"/>
          </a:xfrm>
          <a:prstGeom prst="rect">
            <a:avLst/>
          </a:prstGeom>
          <a:solidFill>
            <a:srgbClr val="2E75B6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32120" y="1207008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N animaux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1188720"/>
            <a:ext cx="1965960" cy="411480"/>
          </a:xfrm>
          <a:prstGeom prst="rect">
            <a:avLst/>
          </a:prstGeom>
          <a:solidFill>
            <a:srgbClr val="2E75B6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2440" y="1207008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Schéma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0" y="1188720"/>
            <a:ext cx="1965960" cy="411480"/>
          </a:xfrm>
          <a:prstGeom prst="rect">
            <a:avLst/>
          </a:prstGeom>
          <a:solidFill>
            <a:srgbClr val="2E75B6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04120" y="1207008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Observations PK/PD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1600200"/>
            <a:ext cx="242316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" y="1645920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</a:rPr>
              <a:t>Groupe 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26080" y="1600200"/>
            <a:ext cx="242316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99232" y="1645920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</a:rPr>
              <a:t>4 mg/kg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0" y="1600200"/>
            <a:ext cx="242316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59552" y="1645920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</a:rPr>
              <a:t>2 (1001, 1002)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600200"/>
            <a:ext cx="196596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19872" y="1645920"/>
            <a:ext cx="1874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</a:rPr>
              <a:t>Q3W × 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58400" y="1600200"/>
            <a:ext cx="196596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31552" y="1645920"/>
            <a:ext cx="1874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</a:rPr>
              <a:t>PK multi-temps + hémogramme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2039112"/>
            <a:ext cx="2423160" cy="41148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8912" y="2084831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</a:rPr>
              <a:t>Groupe 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926080" y="2039112"/>
            <a:ext cx="2423160" cy="41148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999232" y="2084831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</a:rPr>
              <a:t>13 mg/kg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0" y="2039112"/>
            <a:ext cx="2423160" cy="41148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559552" y="2084831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</a:rPr>
              <a:t>2 (2001, 2002)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046720" y="2039112"/>
            <a:ext cx="1965960" cy="41148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19872" y="2084831"/>
            <a:ext cx="1874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</a:rPr>
              <a:t>Q3W × 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058400" y="2039112"/>
            <a:ext cx="1965960" cy="41148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31552" y="2084831"/>
            <a:ext cx="1874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</a:rPr>
              <a:t>PK multi-temps + hémogramme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2478024"/>
            <a:ext cx="242316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8912" y="2523744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</a:rPr>
              <a:t>Groupe 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926080" y="2478024"/>
            <a:ext cx="242316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999232" y="2523744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</a:rPr>
              <a:t>26 mg/kg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0" y="2478024"/>
            <a:ext cx="242316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559552" y="2523744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</a:rPr>
              <a:t>2 (4001, 4002)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046720" y="2478024"/>
            <a:ext cx="196596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19872" y="2523744"/>
            <a:ext cx="1874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</a:rPr>
              <a:t>Q3W × 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058400" y="2478024"/>
            <a:ext cx="196596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131552" y="2523744"/>
            <a:ext cx="1874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</a:rPr>
              <a:t>PK multi-temps + hémogramme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2916936"/>
            <a:ext cx="2423160" cy="41148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38912" y="2962656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</a:rPr>
              <a:t>Groupe 4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926080" y="2916936"/>
            <a:ext cx="2423160" cy="41148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999232" y="2962656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</a:rPr>
              <a:t>39 mg/kg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86400" y="2916936"/>
            <a:ext cx="2423160" cy="41148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559552" y="2962656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</a:rPr>
              <a:t>2 (3101, 3002)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046720" y="2916936"/>
            <a:ext cx="1965960" cy="41148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119872" y="2962656"/>
            <a:ext cx="1874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</a:rPr>
              <a:t>Q3W × 3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058400" y="2916936"/>
            <a:ext cx="1965960" cy="41148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131552" y="2962656"/>
            <a:ext cx="1874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</a:rPr>
              <a:t>PK multi-temps + hémogramme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5760" y="3840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3A5C"/>
                </a:solidFill>
              </a:rPr>
              <a:t>Points clés du pipeline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5760" y="4251960"/>
            <a:ext cx="621792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</a:rPr>
              <a:t>▸ Ajustement PK individuel : modèle 2 compartiments (CL, V1, Q, V2) par Nelder-Mead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60" y="4599432"/>
            <a:ext cx="621792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</a:rPr>
              <a:t>▸ Concentrations prédites utilisées comme entrée du modèle PD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65760" y="4946904"/>
            <a:ext cx="621792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</a:rPr>
              <a:t>▸ Paramètres PD (Slope_MPP, Slope_CMP, Slope_MEP) ajustés visuellement / animal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5760" y="5294376"/>
            <a:ext cx="621792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</a:rPr>
              <a:t>▸ Baselines hématologiques individuelles dérivées des valeurs pré-dose (J-3)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65760" y="5641848"/>
            <a:ext cx="621792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</a:rPr>
              <a:t>▸ Cellules suivies : Neutrophiles, Plaquettes, Réticulocytes, RBC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675120" y="3840480"/>
            <a:ext cx="5120640" cy="2651760"/>
          </a:xfrm>
          <a:prstGeom prst="rect">
            <a:avLst/>
          </a:prstGeom>
          <a:solidFill>
            <a:srgbClr val="D6E4F0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858000" y="38862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</a:rPr>
              <a:t>Schéma posologique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0" y="4297680"/>
            <a:ext cx="457200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</a:rPr>
              <a:t>▸ Dose 1 : Jour 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0" y="4617720"/>
            <a:ext cx="457200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</a:rPr>
              <a:t>▸ Dose 2 : Jour 21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0" y="4937760"/>
            <a:ext cx="457200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</a:rPr>
              <a:t>▸ Dose 3 : Jour 42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858000" y="5257800"/>
            <a:ext cx="457200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</a:rPr>
              <a:t>▸ Suivi PD jusqu'à J25 (post-dose 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58000" y="5577840"/>
            <a:ext cx="457200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</a:rPr>
              <a:t>▸ Récupération observée après J42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3A5C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Résultats PK — Ajustement individuel 2 compartiments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D6E4F0"/>
                </a:solidFill>
              </a:rPr>
              <a:t>Modèle bi-exponentiel ajusté par Nelder-Mead (SSR log-scale) pour chaque animal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A3A5C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92824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F5F5F5"/>
                </a:solidFill>
              </a:rPr>
              <a:t>Confidentiel — Usage interne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43000"/>
            <a:ext cx="7772400" cy="539496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3657600"/>
            <a:ext cx="7589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CCCCCC"/>
                </a:solidFill>
              </a:rPr>
              <a:t>[Image : pk_fit_all_animals.png]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0" y="1143000"/>
            <a:ext cx="3657600" cy="539496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0" y="123444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3A5C"/>
                </a:solidFill>
              </a:rPr>
              <a:t>Observations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1691640"/>
            <a:ext cx="3429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▸ Excellent ajustement sur
l'échelle log pour les 4 doses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2514600"/>
            <a:ext cx="3429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▸ Cinétique bi-exponentielle
bien capturée (phases α et β)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3337560"/>
            <a:ext cx="3429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▸ Variabilité inter-animale
modérée sur CL et V1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4160520"/>
            <a:ext cx="3429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▸ Dose-proportionnalité PK
confirmée (Cmax et AUC)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4983480"/>
            <a:ext cx="3429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▸ Demi-vie terminale t½β
cohérente entre animaux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580644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A5C"/>
                </a:solidFill>
              </a:rPr>
              <a:t>Modèle 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608076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1A1A1A"/>
                </a:solidFill>
              </a:rPr>
              <a:t>dA1/dt = −(CL/V1 + Q/V1)·A1 + (Q/V2)·A2
C(t) = A·e⁻ᵅᵗ + B·e⁻ᵝᵗ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3A5C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Résultats PD — Profils individuels : modèle vs observations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D6E4F0"/>
                </a:solidFill>
              </a:rPr>
              <a:t>% de la baseline individuelle (J-3)  |  Lignes = modèle  |  Points = données observées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A3A5C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92824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F5F5F5"/>
                </a:solidFill>
              </a:rPr>
              <a:t>Confidentiel — Usage interne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097280"/>
            <a:ext cx="8686800" cy="548640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365760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CCCCCC"/>
                </a:solidFill>
              </a:rPr>
              <a:t>[Image : ind_pred_profiles.png]</a:t>
            </a:r>
          </a:p>
        </p:txBody>
      </p:sp>
      <p:sp>
        <p:nvSpPr>
          <p:cNvPr id="9" name="Rectangle 8"/>
          <p:cNvSpPr/>
          <p:nvPr/>
        </p:nvSpPr>
        <p:spPr>
          <a:xfrm>
            <a:off x="9052560" y="1097280"/>
            <a:ext cx="2834640" cy="548640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0" y="118872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3A5C"/>
                </a:solidFill>
              </a:rPr>
              <a:t>Lectures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1627632"/>
            <a:ext cx="26517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▸ ✓ Neutrophiles :
bonne concordance
modèle–données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2542032"/>
            <a:ext cx="26517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▸ ✓ RBC &amp; Plaquettes :
suppression bien
reproduites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3566160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5501A"/>
                </a:solidFill>
              </a:rPr>
              <a:t>⚠ Pics réticulocytes (D2–D8)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3913632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1A1A1A"/>
                </a:solidFill>
              </a:rPr>
              <a:t>Non captés par le modèle
→ facteurs extérieurs 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4434840"/>
            <a:ext cx="2651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▸ Anémie préexistante
(réticulocytose compensatoire)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4818888"/>
            <a:ext cx="2651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▸ Stress de contention /
manipulation des animaux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5202936"/>
            <a:ext cx="2651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▸ Réponse à la phlébotomie
répétée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5586983"/>
            <a:ext cx="2651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▸ Variabilité biologique NHP
naturellement élevée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5971031"/>
            <a:ext cx="2651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▸ Indépendant du composé
(survient dès J2)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3A5C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Décalage cinétique PK → Hématotoxicité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D6E4F0"/>
                </a:solidFill>
              </a:rPr>
              <a:t>Dissociation temporelle entre le pic plasmatique et le nadir hématologique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A3A5C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92824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F5F5F5"/>
                </a:solidFill>
              </a:rPr>
              <a:t>Confidentiel — Usage interne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097280"/>
            <a:ext cx="8686800" cy="548640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365760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CCCCCC"/>
                </a:solidFill>
              </a:rPr>
              <a:t>[Image : pk_hema_shift.png]</a:t>
            </a:r>
          </a:p>
        </p:txBody>
      </p:sp>
      <p:sp>
        <p:nvSpPr>
          <p:cNvPr id="9" name="Rectangle 8"/>
          <p:cNvSpPr/>
          <p:nvPr/>
        </p:nvSpPr>
        <p:spPr>
          <a:xfrm>
            <a:off x="9052560" y="1097280"/>
            <a:ext cx="2834640" cy="548640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0" y="118872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3A5C"/>
                </a:solidFill>
              </a:rPr>
              <a:t>Message clé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1645920"/>
            <a:ext cx="26517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▸ PK : Cmax atteint
dès J1 (pic immédiat)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2560320"/>
            <a:ext cx="26517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▸ Nadir hématologique :
décalé de plusieurs jours
après le Cmax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3474720"/>
            <a:ext cx="26517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▸ Ce délai reflète la
durée de vie des
précurseurs médullaires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4572000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5501A"/>
                </a:solidFill>
              </a:rPr>
              <a:t>Pourquoi c'est important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4956048"/>
            <a:ext cx="2651760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▸ Un modèle Emax direct
serait inadapté ici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5431536"/>
            <a:ext cx="2651760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▸ Le modèle semi-mécaniste
(Fornari) capture ce
décalage explicitement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5907024"/>
            <a:ext cx="2651760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→ Justifie l'approche
PK/PD mécaniste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3A5C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Projections PD — Simulation Q3W × 3 cycles + récupération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D6E4F0"/>
                </a:solidFill>
              </a:rPr>
              <a:t>Profils prédits D0–D90 | % de la baseline individuelle | Sans données observées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A3A5C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92824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F5F5F5"/>
                </a:solidFill>
              </a:rPr>
              <a:t>Confidentiel — Usage interne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097280"/>
            <a:ext cx="8686800" cy="548640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365760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CCCCCC"/>
                </a:solidFill>
              </a:rPr>
              <a:t>[Image : poster_PD_predicted_individual_noobs.png]</a:t>
            </a:r>
          </a:p>
        </p:txBody>
      </p:sp>
      <p:sp>
        <p:nvSpPr>
          <p:cNvPr id="9" name="Rectangle 8"/>
          <p:cNvSpPr/>
          <p:nvPr/>
        </p:nvSpPr>
        <p:spPr>
          <a:xfrm>
            <a:off x="9052560" y="1097280"/>
            <a:ext cx="2834640" cy="548640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0" y="118872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3A5C"/>
                </a:solidFill>
              </a:rPr>
              <a:t>Points clés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1645920"/>
            <a:ext cx="2651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▸ Effet cumulatif sur
3 cycles visible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2468880"/>
            <a:ext cx="2651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▸ Nadir le plus profond
après la 3ᵉ dose (J42)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3291840"/>
            <a:ext cx="2651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▸ Récupération partielle
entre cycles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4114800"/>
            <a:ext cx="2651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▸ Dose-réponse claire :
39 mg/kg &gt; 26 &gt; 13 &gt; 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4937760"/>
            <a:ext cx="2651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▸ Retour à la baseline
attendu ~J80–D90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557784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78644"/>
                </a:solidFill>
              </a:rPr>
              <a:t>NOAEL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585216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78644"/>
                </a:solidFill>
              </a:rPr>
              <a:t>Aucun grade ≥3 prédit
à 4 mg/kg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3A5C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Prochaines étapes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D6E4F0"/>
                </a:solidFill>
              </a:rPr>
              <a:t>De la caractérisation NHP à la prédiction clinique (FIH)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A3A5C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92824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F5F5F5"/>
                </a:solidFill>
              </a:rPr>
              <a:t>Confidentiel — Usage interne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234440"/>
            <a:ext cx="5669280" cy="2423160"/>
          </a:xfrm>
          <a:prstGeom prst="rect">
            <a:avLst/>
          </a:prstGeom>
          <a:solidFill>
            <a:srgbClr val="FFFFFF"/>
          </a:solidFill>
          <a:ln w="317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234440"/>
            <a:ext cx="5669280" cy="411480"/>
          </a:xfrm>
          <a:prstGeom prst="rect">
            <a:avLst/>
          </a:prstGeom>
          <a:solidFill>
            <a:srgbClr val="2E75B6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27101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1. Estimation formelle des paramètres PD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79" y="1709928"/>
            <a:ext cx="53949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▸ Remplacer l'ajustement visuel par une optimisation numérique (Nelder-Mead ou NLME)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79" y="2276856"/>
            <a:ext cx="53949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▸ Quantifier l'incertitude sur Slope_MPP, Slope_CMP, Slope_MEP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2843784"/>
            <a:ext cx="53949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▸ Calculer des intervalles de confiance sur les nadirs prédits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234440"/>
            <a:ext cx="5669280" cy="2423160"/>
          </a:xfrm>
          <a:prstGeom prst="rect">
            <a:avLst/>
          </a:prstGeom>
          <a:solidFill>
            <a:srgbClr val="FFFFFF"/>
          </a:solidFill>
          <a:ln w="31750">
            <a:solidFill>
              <a:srgbClr val="3786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1234440"/>
            <a:ext cx="5669280" cy="411480"/>
          </a:xfrm>
          <a:prstGeom prst="rect">
            <a:avLst/>
          </a:prstGeom>
          <a:solidFill>
            <a:srgbClr val="378644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59" y="127101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2. Transposition PK NHP → Humain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1709928"/>
            <a:ext cx="53949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▸ Allométrie standard : CL_hum = CL_NHP × (70/BW_NHP)⁰·⁷⁵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2276856"/>
            <a:ext cx="53949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▸ Validée sur T-DXd (facteur erreur &lt; 2 sur CL)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2843784"/>
            <a:ext cx="53949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▸ Générer les paramètres PK humains de départ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840480"/>
            <a:ext cx="5669280" cy="2423160"/>
          </a:xfrm>
          <a:prstGeom prst="rect">
            <a:avLst/>
          </a:prstGeom>
          <a:solidFill>
            <a:srgbClr val="FFFFFF"/>
          </a:solidFill>
          <a:ln w="31750">
            <a:solidFill>
              <a:srgbClr val="C550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74320" y="3840480"/>
            <a:ext cx="5669280" cy="411480"/>
          </a:xfrm>
          <a:prstGeom prst="rect">
            <a:avLst/>
          </a:prstGeom>
          <a:solidFill>
            <a:srgbClr val="C5501A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387705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3. Simulation de la toxicité humaine attendue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79" y="4315968"/>
            <a:ext cx="53949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▸ Utiliser les Slopes NHP comme estimation initiale chez l'humain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79" y="4882896"/>
            <a:ext cx="53949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▸ Simuler N=300 patients virtuels (IIV log-normal)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79" y="5449824"/>
            <a:ext cx="53949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▸ Prédire la distribution des grades CTCAE v5 à différentes doses FIH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3840480"/>
            <a:ext cx="5669280" cy="2423160"/>
          </a:xfrm>
          <a:prstGeom prst="rect">
            <a:avLst/>
          </a:prstGeom>
          <a:solidFill>
            <a:srgbClr val="FFFFFF"/>
          </a:solidFill>
          <a:ln w="31750">
            <a:solidFill>
              <a:srgbClr val="603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17920" y="3840480"/>
            <a:ext cx="5669280" cy="411480"/>
          </a:xfrm>
          <a:prstGeom prst="rect">
            <a:avLst/>
          </a:prstGeom>
          <a:solidFill>
            <a:srgbClr val="60328A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9359" y="387705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4. Support à la dose de départ FIH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4315968"/>
            <a:ext cx="53949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▸ Identifier la dose associée à P(G≥3) &lt; 10%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4882896"/>
            <a:ext cx="53949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▸ Intégrer le NOAEL NHP comme contrainte de sécurité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5449824"/>
            <a:ext cx="53949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▸ Documenter pour le dossier IND/CTA (FDA/EMA)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3A5C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Synthèse — Ce que le modèle apporte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D6E4F0"/>
                </a:solidFill>
              </a:rPr>
              <a:t>Valeur ajoutée de la modélisation PK/PD pour le développement interne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A3A5C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92824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F5F5F5"/>
                </a:solidFill>
              </a:rPr>
              <a:t>Confidentiel — Usage interne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43000"/>
            <a:ext cx="3749039" cy="5394960"/>
          </a:xfrm>
          <a:prstGeom prst="rect">
            <a:avLst/>
          </a:prstGeom>
          <a:solidFill>
            <a:srgbClr val="FFFFFF"/>
          </a:solidFill>
          <a:ln w="25400">
            <a:solidFill>
              <a:srgbClr val="3786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143000"/>
            <a:ext cx="3749039" cy="457200"/>
          </a:xfrm>
          <a:prstGeom prst="rect">
            <a:avLst/>
          </a:prstGeom>
          <a:solidFill>
            <a:srgbClr val="378644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170432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Réalisé ✓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79" y="1691640"/>
            <a:ext cx="3474720" cy="1005840"/>
          </a:xfrm>
          <a:prstGeom prst="rect">
            <a:avLst/>
          </a:prstGeom>
          <a:solidFill>
            <a:srgbClr val="F5F5F5"/>
          </a:solidFill>
          <a:ln w="6350">
            <a:solidFill>
              <a:srgbClr val="3786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73736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Ajustement PK 2-comp individuel
(8 animaux, 4 doses)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79" y="2770632"/>
            <a:ext cx="3474720" cy="1005840"/>
          </a:xfrm>
          <a:prstGeom prst="rect">
            <a:avLst/>
          </a:prstGeom>
          <a:solidFill>
            <a:srgbClr val="F5F5F5"/>
          </a:solidFill>
          <a:ln w="6350">
            <a:solidFill>
              <a:srgbClr val="3786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816352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Calibration PD multi-lignées
(Neut, Plt, Ret, RBC)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79" y="3849624"/>
            <a:ext cx="3474720" cy="1005840"/>
          </a:xfrm>
          <a:prstGeom prst="rect">
            <a:avLst/>
          </a:prstGeom>
          <a:solidFill>
            <a:srgbClr val="F5F5F5"/>
          </a:solidFill>
          <a:ln w="6350">
            <a:solidFill>
              <a:srgbClr val="3786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895344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Simulation 3 cycles + récupération
(D0–D90)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79" y="4928616"/>
            <a:ext cx="3474720" cy="1005840"/>
          </a:xfrm>
          <a:prstGeom prst="rect">
            <a:avLst/>
          </a:prstGeom>
          <a:solidFill>
            <a:srgbClr val="F5F5F5"/>
          </a:solidFill>
          <a:ln w="6350">
            <a:solidFill>
              <a:srgbClr val="3786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974336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Prédiction nadir dose-dépendant
confirmée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06240" y="1143000"/>
            <a:ext cx="3749039" cy="5394960"/>
          </a:xfrm>
          <a:prstGeom prst="rect">
            <a:avLst/>
          </a:prstGeom>
          <a:solidFill>
            <a:srgbClr val="FFFFFF"/>
          </a:solidFill>
          <a:ln w="25400">
            <a:solidFill>
              <a:srgbClr val="C550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06240" y="1143000"/>
            <a:ext cx="3749039" cy="457200"/>
          </a:xfrm>
          <a:prstGeom prst="rect">
            <a:avLst/>
          </a:prstGeom>
          <a:solidFill>
            <a:srgbClr val="C5501A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97679" y="1170432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Limite connue ⚠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43400" y="1691640"/>
            <a:ext cx="3474720" cy="1005840"/>
          </a:xfrm>
          <a:prstGeom prst="rect">
            <a:avLst/>
          </a:prstGeom>
          <a:solidFill>
            <a:srgbClr val="F5F5F5"/>
          </a:solidFill>
          <a:ln w="6350">
            <a:solidFill>
              <a:srgbClr val="C550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34840" y="173736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Ajustement PD visuel (non formel) :
incertitude non quantifiée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43400" y="2770632"/>
            <a:ext cx="3474720" cy="1005840"/>
          </a:xfrm>
          <a:prstGeom prst="rect">
            <a:avLst/>
          </a:prstGeom>
          <a:solidFill>
            <a:srgbClr val="F5F5F5"/>
          </a:solidFill>
          <a:ln w="6350">
            <a:solidFill>
              <a:srgbClr val="C550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34840" y="2816352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n=2 animaux/groupe : variabilité
inter-individuelle mal estimée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43400" y="3849624"/>
            <a:ext cx="3474720" cy="1005840"/>
          </a:xfrm>
          <a:prstGeom prst="rect">
            <a:avLst/>
          </a:prstGeom>
          <a:solidFill>
            <a:srgbClr val="F5F5F5"/>
          </a:solidFill>
          <a:ln w="6350">
            <a:solidFill>
              <a:srgbClr val="C550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34840" y="3895344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Pics réticulocytes non modélisés
(facteurs extérieurs)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43400" y="4928616"/>
            <a:ext cx="3474720" cy="1005840"/>
          </a:xfrm>
          <a:prstGeom prst="rect">
            <a:avLst/>
          </a:prstGeom>
          <a:solidFill>
            <a:srgbClr val="F5F5F5"/>
          </a:solidFill>
          <a:ln w="6350">
            <a:solidFill>
              <a:srgbClr val="C550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34840" y="4974336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Transposition clinique
encore préliminaire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38160" y="1143000"/>
            <a:ext cx="3749039" cy="5394960"/>
          </a:xfrm>
          <a:prstGeom prst="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38160" y="1143000"/>
            <a:ext cx="3749039" cy="457200"/>
          </a:xfrm>
          <a:prstGeom prst="rect">
            <a:avLst/>
          </a:prstGeom>
          <a:solidFill>
            <a:srgbClr val="2E75B6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0" y="1170432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Perspectives 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75320" y="1691640"/>
            <a:ext cx="3474720" cy="1005840"/>
          </a:xfrm>
          <a:prstGeom prst="rect">
            <a:avLst/>
          </a:prstGeom>
          <a:solidFill>
            <a:srgbClr val="F5F5F5"/>
          </a:solidFill>
          <a:ln w="63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66760" y="173736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Estimation formelle NLME
(nlmixr2) sur données NHP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75320" y="2770632"/>
            <a:ext cx="3474720" cy="1005840"/>
          </a:xfrm>
          <a:prstGeom prst="rect">
            <a:avLst/>
          </a:prstGeom>
          <a:solidFill>
            <a:srgbClr val="F5F5F5"/>
          </a:solidFill>
          <a:ln w="63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66760" y="2816352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Allométrie NHP → humain
+ simulation FIH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75320" y="3849624"/>
            <a:ext cx="3474720" cy="1005840"/>
          </a:xfrm>
          <a:prstGeom prst="rect">
            <a:avLst/>
          </a:prstGeom>
          <a:solidFill>
            <a:srgbClr val="F5F5F5"/>
          </a:solidFill>
          <a:ln w="63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66760" y="3895344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IC50 CFU cellules humaines
pour ancrer les Slopes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75320" y="4928616"/>
            <a:ext cx="3474720" cy="1005840"/>
          </a:xfrm>
          <a:prstGeom prst="rect">
            <a:avLst/>
          </a:prstGeom>
          <a:solidFill>
            <a:srgbClr val="F5F5F5"/>
          </a:solidFill>
          <a:ln w="63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66760" y="4974336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Dossier réglementaire
IND/CTA support M&amp;S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