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560320"/>
          </a:xfrm>
          <a:prstGeom prst="rect">
            <a:avLst/>
          </a:prstGeom>
          <a:solidFill>
            <a:srgbClr val="2E75B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6E4F0"/>
                </a:solidFill>
              </a:rPr>
              <a:t>Étape 6 — Composé en développement interne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Modélisation PK/PD de l'hématotoxicité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Données NHP précliniques — 8 singes cynomolgus — 4 niveaux de dose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6E4F0"/>
                </a:solidFill>
              </a:rPr>
              <a:t>Modèle semi-mécaniste Fornari (2019)  |  Ajustement PK individuel  |  Calibration PD visuelle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846320"/>
            <a:ext cx="5788152" cy="54864"/>
          </a:xfrm>
          <a:prstGeom prst="rect">
            <a:avLst/>
          </a:prstGeom>
          <a:solidFill>
            <a:srgbClr val="FFC0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C000"/>
                </a:solidFill>
              </a:rPr>
              <a:t>Résultats confidentiels — ne pas diffuser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5F5"/>
                </a:solidFill>
              </a:rPr>
              <a:t>M2 Sciences de la Donnée de Santé  |  Stage Pierre Fabre  |  2024–2025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Design expérimental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0"/>
                </a:solidFill>
              </a:rPr>
              <a:t>Étude PK/PD préclinique chez le singe cynomolgus (NHP)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928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F5F5"/>
                </a:solidFill>
              </a:rPr>
              <a:t>Confidentiel — Usage interne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423160" cy="411480"/>
          </a:xfrm>
          <a:prstGeom prst="rect">
            <a:avLst/>
          </a:prstGeom>
          <a:solidFill>
            <a:srgbClr val="2E75B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Groupe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188720"/>
            <a:ext cx="2423160" cy="411480"/>
          </a:xfrm>
          <a:prstGeom prst="rect">
            <a:avLst/>
          </a:prstGeom>
          <a:solidFill>
            <a:srgbClr val="2E75B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188720"/>
            <a:ext cx="2423160" cy="411480"/>
          </a:xfrm>
          <a:prstGeom prst="rect">
            <a:avLst/>
          </a:prstGeom>
          <a:solidFill>
            <a:srgbClr val="2E75B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12070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 animaux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188720"/>
            <a:ext cx="1965960" cy="411480"/>
          </a:xfrm>
          <a:prstGeom prst="rect">
            <a:avLst/>
          </a:prstGeom>
          <a:solidFill>
            <a:srgbClr val="2E75B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2070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Schéma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1188720"/>
            <a:ext cx="1965960" cy="411480"/>
          </a:xfrm>
          <a:prstGeom prst="rect">
            <a:avLst/>
          </a:prstGeom>
          <a:solidFill>
            <a:srgbClr val="2E75B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04120" y="12070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Observations PK/PD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600200"/>
            <a:ext cx="2423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164592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Groupe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1600200"/>
            <a:ext cx="2423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164592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4 mg/kg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1600200"/>
            <a:ext cx="2423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59552" y="164592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2 (1001, 1002)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600200"/>
            <a:ext cx="1965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1645920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Q3W ×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600200"/>
            <a:ext cx="1965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31552" y="1645920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PK multi-temps + hémogramme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039112"/>
            <a:ext cx="242316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2084831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Groupe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2039112"/>
            <a:ext cx="242316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99232" y="2084831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13 mg/kg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2039112"/>
            <a:ext cx="242316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9552" y="2084831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2 (2001, 2002)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2039112"/>
            <a:ext cx="196596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9872" y="2084831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Q3W × 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0" y="2039112"/>
            <a:ext cx="196596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31552" y="2084831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PK multi-temps + hémogramme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478024"/>
            <a:ext cx="2423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252374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Groupe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2478024"/>
            <a:ext cx="2423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99232" y="252374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26 mg/kg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2478024"/>
            <a:ext cx="2423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59552" y="252374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2 (4001, 4002)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2478024"/>
            <a:ext cx="1965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19872" y="2523744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Q3W × 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0" y="2478024"/>
            <a:ext cx="1965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2523744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PK multi-temps + hémogramme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916936"/>
            <a:ext cx="242316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296265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Groupe 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2916936"/>
            <a:ext cx="242316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9232" y="296265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39 mg/kg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2916936"/>
            <a:ext cx="242316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59552" y="296265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2 (3101, 3002)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2916936"/>
            <a:ext cx="196596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19872" y="2962656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Q3W × 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8400" y="2916936"/>
            <a:ext cx="196596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31552" y="2962656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PK multi-temps + hémogramme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Points clés du pipeline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4251960"/>
            <a:ext cx="6217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▸ Ajustement PK individuel : modèle 2 compartiments (CL, V1, Q, V2) par Nelder-Mead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4599432"/>
            <a:ext cx="6217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▸ Concentrations prédites utilisées comme entrée du modèle PD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4946904"/>
            <a:ext cx="6217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▸ Paramètres PD (Slope_MPP, Slope_CMP, Slope_MEP) ajustés visuellement / animal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5294376"/>
            <a:ext cx="6217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▸ Baselines hématologiques individuelles dérivées des valeurs pré-dose (J-3)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5641848"/>
            <a:ext cx="6217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▸ Cellules suivies : Neutrophiles, Plaquettes, Réticulocytes, RBC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75120" y="3840480"/>
            <a:ext cx="5120640" cy="265176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Schéma posologique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0" y="4297680"/>
            <a:ext cx="4572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▸ Dose 1 : Jour 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4617720"/>
            <a:ext cx="4572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▸ Dose 2 : Jour 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4937760"/>
            <a:ext cx="4572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▸ Dose 3 : Jour 42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0" y="5257800"/>
            <a:ext cx="4572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▸ Suivi PD jusqu'à J25 (post-dose 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5577840"/>
            <a:ext cx="4572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▸ Récupération observée après J42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Résultats PK — Ajustement individuel 2 compartiments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0"/>
                </a:solidFill>
              </a:rPr>
              <a:t>Modèle bi-exponentiel ajusté par Nelder-Mead (SSR log-scale) pour chaque animal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928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F5F5"/>
                </a:solidFill>
              </a:rPr>
              <a:t>Confidentiel — Usage interne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772400" cy="5394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6576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</a:rPr>
              <a:t>[Image : pk_fit_all_animals.png]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143000"/>
            <a:ext cx="3657600" cy="53949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234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69164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▸ Excellent ajustement sur
l'échelle log pour les 4 doses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▸ Cinétique bi-exponentielle
bien capturée (phases α et 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33756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▸ Variabilité inter-animale
modérée sur CL et 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6052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▸ Dose-proportionnalité PK
confirmée (Cmax et AUC)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98348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▸ Demi-vie terminale t½β
cohérente entre animaux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806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Modèle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6080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</a:rPr>
              <a:t>dA1/dt = −(CL/V1 + Q/V1)·A1 + (Q/V2)·A2
C(t) = A·e⁻ᵅᵗ + B·e⁻ᵝᵗ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Résultats PD — Profils individuels : modèle vs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0"/>
                </a:solidFill>
              </a:rPr>
              <a:t>% de la baseline individuelle (J-3)  |  Lignes = modèle  |  Points = données observées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928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F5F5"/>
                </a:solidFill>
              </a:rPr>
              <a:t>Confidentiel — Usage interne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8686800" cy="5486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6576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</a:rPr>
              <a:t>[Image : ind_pred_profiles.png]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1097280"/>
            <a:ext cx="2834640" cy="54864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Lectures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64592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▸ ✓ Neutrophiles :
bonne concordance
modèle–données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5176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▸ ✓ RBC &amp; Plaquettes :
suppression modérée
bien reproduite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65760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▸ ⚠ Réticulocytes :
pics D2–D8 non
captés par le modèle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466344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→ Ces pics résultent
de facteurs extérieurs
(état préexistant,
stress de manipulation)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Projections PD — Simulation Q3W × 3 cycles + récupération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0"/>
                </a:solidFill>
              </a:rPr>
              <a:t>Profils prédits D0–D90 | % de la baseline individuelle | Sans données observées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928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F5F5"/>
                </a:solidFill>
              </a:rPr>
              <a:t>Confidentiel — Usage interne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8686800" cy="5486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6576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</a:rPr>
              <a:t>[Image : poster_PD_predicted_individual_noobs.png]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1097280"/>
            <a:ext cx="2834640" cy="54864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Points clés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64592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▸ Effet cumulatif sur
3 cycles visible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46888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▸ Nadir le plus profond
après la 3ᵉ dose (J42)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29184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▸ Récupération partielle
entre cycles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411480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▸ Dose-réponse claire :
39 mg/kg &gt; 26 &gt; 13 &gt;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93776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▸ Retour à la baseline
attendu ~J80–D90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577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644"/>
                </a:solidFill>
              </a:rPr>
              <a:t>NOAEL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8521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44"/>
                </a:solidFill>
              </a:rPr>
              <a:t>Aucun grade ≥3 prédit
à 4 mg/kg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Prochaines étapes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0"/>
                </a:solidFill>
              </a:rPr>
              <a:t>De la caractérisation NHP à la prédiction clinique (FIH)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928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F5F5"/>
                </a:solidFill>
              </a:rPr>
              <a:t>Confidentiel — Usage interne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2423160"/>
          </a:xfrm>
          <a:prstGeom prst="rect">
            <a:avLst/>
          </a:prstGeom>
          <a:solidFill>
            <a:srgbClr val="FFFFFF"/>
          </a:solidFill>
          <a:ln w="317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669280" cy="411480"/>
          </a:xfrm>
          <a:prstGeom prst="rect">
            <a:avLst/>
          </a:prstGeom>
          <a:solidFill>
            <a:srgbClr val="2E75B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7101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1. Estimation formelle des paramètres 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09928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▸ Remplacer l'ajustement visuel par une optimisation numérique (Nelder-Mead ou NLME)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76856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▸ Quantifier l'incertitude sur Slope_MPP, Slope_CMP, Slope_MEP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843784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▸ Calculer des intervalles de confiance sur les nadirs prédits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2423160"/>
          </a:xfrm>
          <a:prstGeom prst="rect">
            <a:avLst/>
          </a:prstGeom>
          <a:solidFill>
            <a:srgbClr val="FFFFFF"/>
          </a:solidFill>
          <a:ln w="3175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5669280" cy="411480"/>
          </a:xfrm>
          <a:prstGeom prst="rect">
            <a:avLst/>
          </a:prstGeom>
          <a:solidFill>
            <a:srgbClr val="378644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27101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2. Transposition PK NHP → Humain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09928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▸ Allométrie standard : CL_hum = CL_NHP × (70/BW_NHP)⁰·⁷⁵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76856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▸ Validée sur T-DXd (facteur erreur &lt; 2 sur CL)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843784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▸ Générer les paramètres PK humains de départ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40480"/>
            <a:ext cx="5669280" cy="2423160"/>
          </a:xfrm>
          <a:prstGeom prst="rect">
            <a:avLst/>
          </a:prstGeom>
          <a:solidFill>
            <a:srgbClr val="FFFFFF"/>
          </a:solidFill>
          <a:ln w="31750">
            <a:solidFill>
              <a:srgbClr val="C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840480"/>
            <a:ext cx="5669280" cy="411480"/>
          </a:xfrm>
          <a:prstGeom prst="rect">
            <a:avLst/>
          </a:prstGeom>
          <a:solidFill>
            <a:srgbClr val="C5501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8770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3. Simulation de la toxicité humaine attendue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315968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▸ Utiliser les Slopes NHP comme estimation initiale chez l'humain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882896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▸ Simuler N=300 patients virtuels (IIV log-normal)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5449824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▸ Prédire la distribution des grades CTCAE v5 à différentes doses FIH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840480"/>
            <a:ext cx="5669280" cy="2423160"/>
          </a:xfrm>
          <a:prstGeom prst="rect">
            <a:avLst/>
          </a:prstGeom>
          <a:solidFill>
            <a:srgbClr val="FFFFFF"/>
          </a:solidFill>
          <a:ln w="31750">
            <a:solidFill>
              <a:srgbClr val="603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840480"/>
            <a:ext cx="5669280" cy="411480"/>
          </a:xfrm>
          <a:prstGeom prst="rect">
            <a:avLst/>
          </a:prstGeom>
          <a:solidFill>
            <a:srgbClr val="60328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38770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4. Support à la dose de départ FIH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315968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▸ Identifier la dose associée à P(G≥3) &lt; 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882896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▸ Intégrer le NOAEL NHP comme contrainte de sécurité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449824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▸ Documenter pour le dossier IND/CTA (FDA/EMA)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Synthèse — Ce que le modèle apporte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0"/>
                </a:solidFill>
              </a:rPr>
              <a:t>Valeur ajoutée de la modélisation PK/PD pour le développement interne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928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F5F5"/>
                </a:solidFill>
              </a:rPr>
              <a:t>Confidentiel — Usage interne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749039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3749039" cy="457200"/>
          </a:xfrm>
          <a:prstGeom prst="rect">
            <a:avLst/>
          </a:prstGeom>
          <a:solidFill>
            <a:srgbClr val="378644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7043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Réalisé 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1691640"/>
            <a:ext cx="347472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Ajustement PK 2-comp individuel
(8 animaux, 4 doses)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2770632"/>
            <a:ext cx="347472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1635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Calibration PD multi-lignées
(Neut, Plt, Ret, RBC)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3849624"/>
            <a:ext cx="347472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95344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Simulation 3 cycles + récupération
(D0–D90)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4928616"/>
            <a:ext cx="347472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974336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Prédiction nadir dose-dépendant
confirmée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143000"/>
            <a:ext cx="3749039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C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1143000"/>
            <a:ext cx="3749039" cy="457200"/>
          </a:xfrm>
          <a:prstGeom prst="rect">
            <a:avLst/>
          </a:prstGeom>
          <a:solidFill>
            <a:srgbClr val="C5501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117043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Limite connue 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691640"/>
            <a:ext cx="347472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C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17373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Ajustement PD visuel (non formel) :
incertitude non quantifiée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2770632"/>
            <a:ext cx="347472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C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281635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n=2 animaux/groupe : variabilité
inter-individuelle mal estimée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849624"/>
            <a:ext cx="347472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C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895344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Pics réticulocytes non modélisés
(facteurs extérieurs)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928616"/>
            <a:ext cx="347472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C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974336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Transposition clinique
encore préliminaire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1143000"/>
            <a:ext cx="3749039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1143000"/>
            <a:ext cx="3749039" cy="457200"/>
          </a:xfrm>
          <a:prstGeom prst="rect">
            <a:avLst/>
          </a:prstGeom>
          <a:solidFill>
            <a:srgbClr val="2E75B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117043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Perspectives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20" y="1691640"/>
            <a:ext cx="347472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17373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Estimation formelle NLME
(nlmixr2) sur données NHP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2770632"/>
            <a:ext cx="347472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281635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Allométrie NHP → humain
+ simulation FIH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3849624"/>
            <a:ext cx="347472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3895344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IC50 CFU cellules humaines
pour ancrer les Slopes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4928616"/>
            <a:ext cx="347472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4974336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Dossier réglementaire
IND/CTA support M&amp;S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