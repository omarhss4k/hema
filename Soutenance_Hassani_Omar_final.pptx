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128016" cy="4389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22860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Modélisation de l'hématotoxicité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induite par les ADCs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10972800" cy="7315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200" b="0" i="0">
                <a:solidFill>
                  <a:srgbClr val="2E86AB"/>
                </a:solidFill>
                <a:latin typeface="Calibri"/>
              </a:rPr>
              <a:t>Développement d'un pipeline PK/PD de l'animal au patient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4160520"/>
            <a:ext cx="105156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10972800" cy="5486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0" i="0">
                <a:solidFill>
                  <a:srgbClr val="AED6F1"/>
                </a:solidFill>
                <a:latin typeface="Calibri"/>
              </a:rPr>
              <a:t>Omar Hassani  |  Hervé Perdry  |  Aurélie Petain  |  Pierre Fabre  |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56048"/>
            <a:ext cx="1097280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1">
                <a:solidFill>
                  <a:srgbClr val="7FB3D3"/>
                </a:solidFill>
                <a:latin typeface="Calibri"/>
              </a:rPr>
              <a:t>M2 Science des Données de Santé — Université Paris-Saclay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225" dur="indefinite" restart="whenNotActive" nodeType="tmRoot">
          <p:childTnLst>
            <p:seq concurrent="1" nextAc="seek">
              <p:cTn id="224" dur="indefinite" nodeType="mainSeq">
                <p:childTnLst>
                  <p:par>
                    <p:cTn id="200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2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206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207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12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213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4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18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19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Les anticorps-drogue conjugués (ADCs)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3749039" cy="20116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356616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Anticorps monoclonal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65960"/>
            <a:ext cx="35661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1">
                <a:solidFill>
                  <a:srgbClr val="2E86AB"/>
                </a:solidFill>
                <a:latin typeface="Calibri"/>
              </a:rPr>
              <a:t>Guidage tumoral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233172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395728"/>
            <a:ext cx="3566160" cy="9144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Reconnaissance spécifique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 l'antigène tumoral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(ex. HER2, TROP2, FGFR2)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5655" y="2103120"/>
            <a:ext cx="27432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800" b="1" i="0">
                <a:solidFill>
                  <a:srgbClr val="2E86AB"/>
                </a:solidFill>
                <a:latin typeface="Calibri"/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417320"/>
            <a:ext cx="3749039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463040"/>
            <a:ext cx="356616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Linker chimique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965960"/>
            <a:ext cx="35661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Liant clivable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233172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395728"/>
            <a:ext cx="3566160" cy="9144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Stable en circulation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Cliváble en intra-cellulaire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(pH acide / protéases)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3" y="2103120"/>
            <a:ext cx="27432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800" b="1" i="0">
                <a:solidFill>
                  <a:srgbClr val="2E86AB"/>
                </a:solidFill>
                <a:latin typeface="Calibri"/>
              </a:rPr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417320"/>
            <a:ext cx="3749039" cy="20116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463040"/>
            <a:ext cx="356616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Payload cytotoxique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1965960"/>
            <a:ext cx="35661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1">
                <a:solidFill>
                  <a:srgbClr val="2E86AB"/>
                </a:solidFill>
                <a:latin typeface="Calibri"/>
              </a:rPr>
              <a:t>Agent cytotoxique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1896" y="233172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395728"/>
            <a:ext cx="3566160" cy="9144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Topoisomérase I inhibiteur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(DXd) ou agent alkylant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(MMAE, DM1…)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11880"/>
            <a:ext cx="11521440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639312"/>
            <a:ext cx="11338560" cy="53035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1" i="0">
                <a:solidFill>
                  <a:srgbClr val="1B4F72"/>
                </a:solidFill>
                <a:latin typeface="Calibri"/>
              </a:rPr>
              <a:t>Mécanisme :  Liaison antigène → Internalisation → Libération payload → Dommages ADN → Apoptose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43400"/>
            <a:ext cx="11521440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370832"/>
            <a:ext cx="113385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Exemple clé : T-DXd (Enhertu®)  —  ORR 61%  —  DESTINY-Breast01  —  FDA approval 2019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120640"/>
            <a:ext cx="11521440" cy="5029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138928"/>
            <a:ext cx="1133856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1">
                <a:solidFill>
                  <a:srgbClr val="5D6D7E"/>
                </a:solidFill>
                <a:latin typeface="Calibri"/>
              </a:rPr>
              <a:t>→ Environ 100+ ADCs en développement clinique — nouvelle classe thérapeutique majeure en oncologie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355" dur="indefinite" restart="whenNotActive" nodeType="tmRoot">
          <p:childTnLst>
            <p:seq concurrent="1" nextAc="seek">
              <p:cTn id="354" dur="indefinite" nodeType="mainSeq">
                <p:childTnLst>
                  <p:par>
                    <p:cTn id="23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35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6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240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24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2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46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247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8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52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53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58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259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0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64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265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6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70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271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2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76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277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8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82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283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4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88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289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0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94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295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6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00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301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306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307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8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312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313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4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18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319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0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24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325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6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30" presetID="10" presetClass="entr" presetSubtype="0" fill="hold" grpId="0" nodeType="afterEffect">
                      <p:stCondLst>
                        <p:cond delay="5600"/>
                      </p:stCondLst>
                      <p:childTnLst>
                        <p:set>
                          <p:cBhvr>
                            <p:cTn id="331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2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36" presetID="10" presetClass="entr" presetSubtype="0" fill="hold" grpId="0" nodeType="afterEffect">
                      <p:stCondLst>
                        <p:cond delay="5950"/>
                      </p:stCondLst>
                      <p:childTnLst>
                        <p:set>
                          <p:cBhvr>
                            <p:cTn id="337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8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42" presetID="10" presetClass="entr" presetSubtype="0" fill="hold" grpId="0" nodeType="afterEffect">
                      <p:stCondLst>
                        <p:cond delay="6300"/>
                      </p:stCondLst>
                      <p:childTnLst>
                        <p:set>
                          <p:cBhvr>
                            <p:cTn id="343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4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48" presetID="10" presetClass="entr" presetSubtype="0" fill="hold" grpId="0" nodeType="afterEffect">
                      <p:stCondLst>
                        <p:cond delay="6650"/>
                      </p:stCondLst>
                      <p:childTnLst>
                        <p:set>
                          <p:cBhvr>
                            <p:cTn id="349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0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Hématotoxicité : mécanisme et enjeux cliniques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1521440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1338560" cy="53035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500" b="1" i="0">
                <a:solidFill>
                  <a:srgbClr val="1B4F72"/>
                </a:solidFill>
                <a:latin typeface="Calibri"/>
              </a:rPr>
              <a:t>Payload libre → Moelle osseuse → Progéniteurs hématopoïétiques → Cytopénies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3749039" cy="2468880"/>
          </a:xfrm>
          <a:prstGeom prst="rect">
            <a:avLst/>
          </a:prstGeom>
          <a:solidFill>
            <a:srgbClr val="CB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194560"/>
            <a:ext cx="35661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🔴  Neutropénie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78892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852928"/>
            <a:ext cx="3566160" cy="1645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Infections opportunistes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Risque vital si Grade 4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16% G≥3 — DESTINY-Breast01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2148840"/>
            <a:ext cx="3749039" cy="2468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194560"/>
            <a:ext cx="35661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🟠  Anémie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278892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852928"/>
            <a:ext cx="3566160" cy="1645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Fatigue sévère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Réduction qualité de vie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Transfusion si Grade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2148840"/>
            <a:ext cx="3749039" cy="2468880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2194560"/>
            <a:ext cx="35661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🔵  Thrombocytopénie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11896" y="278892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852928"/>
            <a:ext cx="3566160" cy="1645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Risque hémorragique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Saignements spontanés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Plasmaphérèse si G4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773168"/>
            <a:ext cx="5486400" cy="658368"/>
          </a:xfrm>
          <a:prstGeom prst="rect">
            <a:avLst/>
          </a:prstGeom>
          <a:solidFill>
            <a:srgbClr val="FD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800600"/>
            <a:ext cx="530352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1" i="0">
                <a:solidFill>
                  <a:srgbClr val="7D6008"/>
                </a:solidFill>
                <a:latin typeface="Calibri"/>
              </a:rPr>
              <a:t>⚠  Chiffre clé : 16% neutropénie G≥3</a:t>
            </a:r>
          </a:p>
          <a:p>
            <a:pPr algn="l"/>
            <a:r>
              <a:rPr sz="1300" b="1" i="0">
                <a:solidFill>
                  <a:srgbClr val="7D6008"/>
                </a:solidFill>
                <a:latin typeface="Calibri"/>
              </a:rPr>
              <a:t>dans DESTINY-Breast01 (FDA 2019)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773168"/>
            <a:ext cx="557784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800600"/>
            <a:ext cx="53949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Double enjeu :</a:t>
            </a:r>
          </a:p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Sécurité patient FIH + Optimisation posologique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596128"/>
            <a:ext cx="1152144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  <a:latin typeface="Calibri"/>
              </a:rPr>
              <a:t>Les cytopénies surviennent 7–21 jours post-dose — gestion clinique critique — dose-limiting toxicity dans 30% ADCs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461" dur="indefinite" restart="whenNotActive" nodeType="tmRoot">
          <p:childTnLst>
            <p:seq concurrent="1" nextAc="seek">
              <p:cTn id="460" dur="indefinite" nodeType="mainSeq">
                <p:childTnLst>
                  <p:par>
                    <p:cTn id="36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65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6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370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37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2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76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377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8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82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383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4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88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389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0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394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395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6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400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401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2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06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407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8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12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413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4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418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419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0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24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425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6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30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431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2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436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437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8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442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443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4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448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449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0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454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455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6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Pourquoi un modèle mécanistique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91440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114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1B4F72"/>
                </a:solidFill>
                <a:latin typeface="Calibri"/>
              </a:rPr>
              <a:t>▶  Données précliniques rares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37944"/>
            <a:ext cx="1124712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n=8 NHP, seulement 2 animaux par groupe de dose → statistiques classiques inapplicables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532888"/>
            <a:ext cx="91440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32888"/>
            <a:ext cx="10972800" cy="4114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Calibri"/>
              </a:rPr>
              <a:t>▶  Modèles empiriques insuffisants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53512"/>
            <a:ext cx="1124712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Régressions dose-réponse sans mécanisme : pas d'extrapolation inter-espèces possible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648456"/>
            <a:ext cx="91440" cy="1005840"/>
          </a:xfrm>
          <a:prstGeom prst="rect">
            <a:avLst/>
          </a:prstGeom>
          <a:solidFill>
            <a:srgbClr val="CB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48456"/>
            <a:ext cx="10972800" cy="4114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CB4C35"/>
                </a:solidFill>
                <a:latin typeface="Calibri"/>
              </a:rPr>
              <a:t>▶  Hystérèse PK/PD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1124712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Le nadir cellulaire survient plusieurs jours après le pic plasmatique → seul un modèle mécanistique peut le reproduire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764024"/>
            <a:ext cx="91440" cy="100584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64024"/>
            <a:ext cx="10972800" cy="4114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5D6D7E"/>
                </a:solidFill>
                <a:latin typeface="Calibri"/>
              </a:rPr>
              <a:t>▶  Machine learning inadapté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84648"/>
            <a:ext cx="1124712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Trop peu de données + architecture boîte noire + pas d'extrapolation causale entre espèces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897880"/>
            <a:ext cx="11521440" cy="685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916168"/>
            <a:ext cx="1133856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✦  Seul un modèle PK/PD semi-mécanistique peut reproduire l'hystérèse et permettre l'extrapolation inter-espèces causalement interprétable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555" dur="indefinite" restart="whenNotActive" nodeType="tmRoot">
          <p:childTnLst>
            <p:seq concurrent="1" nextAc="seek">
              <p:cTn id="554" dur="indefinite" nodeType="mainSeq">
                <p:childTnLst>
                  <p:par>
                    <p:cTn id="470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7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2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476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477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482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83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4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88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489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0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94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495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6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00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501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2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06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507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512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513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4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18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519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0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524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525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6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30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531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2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536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537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42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543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4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548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549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0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Objectifs du stage — 4 étapes progressives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834640" cy="2743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731520" cy="640080"/>
          </a:xfrm>
          <a:prstGeom prst="rect">
            <a:avLst/>
          </a:prstGeom>
          <a:solidFill>
            <a:srgbClr val="FFFFFF"/>
          </a:solidFill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200" b="1" i="0">
                <a:solidFill>
                  <a:srgbClr val="1B4F72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212848"/>
            <a:ext cx="26517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Rat + carboplatine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852928"/>
            <a:ext cx="2651760" cy="8229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Validation du cadre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Fornari (littérature)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514600"/>
            <a:ext cx="164592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2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417320"/>
            <a:ext cx="2834640" cy="2743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463040"/>
            <a:ext cx="731520" cy="640080"/>
          </a:xfrm>
          <a:prstGeom prst="rect">
            <a:avLst/>
          </a:prstGeom>
          <a:solidFill>
            <a:srgbClr val="FFFFFF"/>
          </a:solidFill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200" b="1" i="0">
                <a:solidFill>
                  <a:srgbClr val="2E86AB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212848"/>
            <a:ext cx="26517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Humain + T-DXd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852928"/>
            <a:ext cx="2651760" cy="8229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Simulation N=300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Validation FDA BLA 761139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2514600"/>
            <a:ext cx="164592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2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417320"/>
            <a:ext cx="2834640" cy="27432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1463040"/>
            <a:ext cx="731520" cy="640080"/>
          </a:xfrm>
          <a:prstGeom prst="rect">
            <a:avLst/>
          </a:prstGeom>
          <a:solidFill>
            <a:srgbClr val="FFFFFF"/>
          </a:solidFill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200" b="1" i="0">
                <a:solidFill>
                  <a:srgbClr val="1A5C38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12848"/>
            <a:ext cx="26517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NHP + composé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852928"/>
            <a:ext cx="2651760" cy="8229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Données précliniques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confidentielles Pierre Fabre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2514600"/>
            <a:ext cx="164592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2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1417320"/>
            <a:ext cx="2834640" cy="274320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04704" y="1463040"/>
            <a:ext cx="731520" cy="640080"/>
          </a:xfrm>
          <a:prstGeom prst="rect">
            <a:avLst/>
          </a:prstGeom>
          <a:solidFill>
            <a:srgbClr val="FFFFFF"/>
          </a:solidFill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200" b="1" i="0">
                <a:solidFill>
                  <a:srgbClr val="6C3583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212848"/>
            <a:ext cx="26517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Transposition clinique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852928"/>
            <a:ext cx="2651760" cy="8229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Prédiction dose FIH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PK allométrique + PD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43400"/>
            <a:ext cx="1152144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480560"/>
            <a:ext cx="1152144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1">
                <a:solidFill>
                  <a:srgbClr val="5D6D7E"/>
                </a:solidFill>
                <a:latin typeface="Calibri"/>
              </a:rPr>
              <a:t>Progression : du plus simple (rat/carboplatine connu) vers le plus complexe (composé interne/FIH)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047488"/>
            <a:ext cx="11521440" cy="9601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074920"/>
            <a:ext cx="11338560" cy="9144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Fil conducteur : Un seul cadre PK/PD unifié (Friberg/Fornari) — paramétrisé par espèce et composé</a:t>
            </a:r>
          </a:p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Reproductibilité totale : 28 scripts R modulaires, set.seed(42), versionnés sur Git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703" dur="indefinite" restart="whenNotActive" nodeType="tmRoot">
          <p:childTnLst>
            <p:seq concurrent="1" nextAc="seek">
              <p:cTn id="702" dur="indefinite" nodeType="mainSeq">
                <p:childTnLst>
                  <p:par>
                    <p:cTn id="56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5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6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570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57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2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76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577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8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82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583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4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88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589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94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595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600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601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2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06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607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8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612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613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4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618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619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0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624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625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6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630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631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2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636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637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8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642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643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4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648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649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0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654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655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6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660" presetID="10" presetClass="entr" presetSubtype="0" fill="hold" grpId="0" nodeType="afterEffect">
                      <p:stCondLst>
                        <p:cond delay="5600"/>
                      </p:stCondLst>
                      <p:childTnLst>
                        <p:set>
                          <p:cBhvr>
                            <p:cTn id="661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2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666" presetID="10" presetClass="entr" presetSubtype="0" fill="hold" grpId="0" nodeType="afterEffect">
                      <p:stCondLst>
                        <p:cond delay="5950"/>
                      </p:stCondLst>
                      <p:childTnLst>
                        <p:set>
                          <p:cBhvr>
                            <p:cTn id="667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8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672" presetID="10" presetClass="entr" presetSubtype="0" fill="hold" grpId="0" nodeType="afterEffect">
                      <p:stCondLst>
                        <p:cond delay="6300"/>
                      </p:stCondLst>
                      <p:childTnLst>
                        <p:set>
                          <p:cBhvr>
                            <p:cTn id="673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4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678" presetID="10" presetClass="entr" presetSubtype="0" fill="hold" grpId="0" nodeType="afterEffect">
                      <p:stCondLst>
                        <p:cond delay="6650"/>
                      </p:stCondLst>
                      <p:childTnLst>
                        <p:set>
                          <p:cBhvr>
                            <p:cTn id="679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0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684" presetID="10" presetClass="entr" presetSubtype="0" fill="hold" grpId="0" nodeType="afterEffect">
                      <p:stCondLst>
                        <p:cond delay="7000"/>
                      </p:stCondLst>
                      <p:childTnLst>
                        <p:set>
                          <p:cBhvr>
                            <p:cTn id="68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6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690" presetID="10" presetClass="entr" presetSubtype="0" fill="hold" grpId="0" nodeType="afterEffect">
                      <p:stCondLst>
                        <p:cond delay="7350"/>
                      </p:stCondLst>
                      <p:childTnLst>
                        <p:set>
                          <p:cBhvr>
                            <p:cTn id="691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2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696" presetID="10" presetClass="entr" presetSubtype="0" fill="hold" grpId="0" nodeType="afterEffect">
                      <p:stCondLst>
                        <p:cond delay="7700"/>
                      </p:stCondLst>
                      <p:childTnLst>
                        <p:set>
                          <p:cBhvr>
                            <p:cTn id="697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8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Cascade hématopoïétique — cible du modèle PD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926080"/>
            <a:ext cx="1828800" cy="8686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3035808"/>
            <a:ext cx="1737360" cy="731519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Cellules Souches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(HSC)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926080"/>
            <a:ext cx="1920240" cy="86868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39" y="3035808"/>
            <a:ext cx="1828800" cy="731519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MPP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(Multipotent Progenitors)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554480"/>
            <a:ext cx="1828800" cy="868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59" y="1664207"/>
            <a:ext cx="1737360" cy="731519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CMP (Myéloïde)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3749039"/>
            <a:ext cx="1828800" cy="868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3858768"/>
            <a:ext cx="1737360" cy="731519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MEP (Érythroïde-Mgk)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822960"/>
            <a:ext cx="2103120" cy="7772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932688"/>
            <a:ext cx="2011679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Neutrophiles / Monocytes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148840"/>
            <a:ext cx="2103120" cy="77724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2258568"/>
            <a:ext cx="2011679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Éosinophiles / Basophiles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474720"/>
            <a:ext cx="2103120" cy="777240"/>
          </a:xfrm>
          <a:prstGeom prst="rect">
            <a:avLst/>
          </a:prstGeom>
          <a:solidFill>
            <a:srgbClr val="CB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3584448"/>
            <a:ext cx="2011679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Réticulocytes → GR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754880"/>
            <a:ext cx="2103120" cy="77724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4864608"/>
            <a:ext cx="2011679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Mégacaryocytes → PLT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3328416"/>
            <a:ext cx="41147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328416"/>
            <a:ext cx="64007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328416"/>
            <a:ext cx="64007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1956816"/>
            <a:ext cx="7315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1956816"/>
            <a:ext cx="7315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4151376"/>
            <a:ext cx="7315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4151376"/>
            <a:ext cx="7315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2103120"/>
            <a:ext cx="2286000" cy="548640"/>
          </a:xfrm>
          <a:prstGeom prst="rect">
            <a:avLst/>
          </a:prstGeom>
          <a:solidFill>
            <a:srgbClr val="CB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121408"/>
            <a:ext cx="219456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⚡ Cible du médicament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(MPP — Multipotent Progenitors)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897880"/>
            <a:ext cx="11521440" cy="6583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925312"/>
            <a:ext cx="113385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B4F72"/>
                </a:solidFill>
                <a:latin typeface="Calibri"/>
              </a:rPr>
              <a:t>Rétrocontrôle homéostatique : si Neut↓ → G-CSF↑ → moelle accélère production   |   Durée de vie : Neut ~6–8h | Plt ~9j (NHP) | GR ~120j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875" dur="indefinite" restart="whenNotActive" nodeType="tmRoot">
          <p:childTnLst>
            <p:seq concurrent="1" nextAc="seek">
              <p:cTn id="874" dur="indefinite" nodeType="mainSeq">
                <p:childTnLst>
                  <p:par>
                    <p:cTn id="71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13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14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718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719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20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724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725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26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730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73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32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736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737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38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742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743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44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48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749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50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754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755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56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760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761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6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766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767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68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772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773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74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778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779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80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784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785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86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790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791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9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796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797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98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802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803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04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808" presetID="10" presetClass="entr" presetSubtype="0" fill="hold" grpId="0" nodeType="afterEffect">
                      <p:stCondLst>
                        <p:cond delay="5600"/>
                      </p:stCondLst>
                      <p:childTnLst>
                        <p:set>
                          <p:cBhvr>
                            <p:cTn id="809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10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814" presetID="10" presetClass="entr" presetSubtype="0" fill="hold" grpId="0" nodeType="afterEffect">
                      <p:stCondLst>
                        <p:cond delay="5950"/>
                      </p:stCondLst>
                      <p:childTnLst>
                        <p:set>
                          <p:cBhvr>
                            <p:cTn id="815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16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820" presetID="10" presetClass="entr" presetSubtype="0" fill="hold" grpId="0" nodeType="afterEffect">
                      <p:stCondLst>
                        <p:cond delay="6300"/>
                      </p:stCondLst>
                      <p:childTnLst>
                        <p:set>
                          <p:cBhvr>
                            <p:cTn id="821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22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826" presetID="10" presetClass="entr" presetSubtype="0" fill="hold" grpId="0" nodeType="afterEffect">
                      <p:stCondLst>
                        <p:cond delay="6650"/>
                      </p:stCondLst>
                      <p:childTnLst>
                        <p:set>
                          <p:cBhvr>
                            <p:cTn id="827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28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832" presetID="10" presetClass="entr" presetSubtype="0" fill="hold" grpId="0" nodeType="afterEffect">
                      <p:stCondLst>
                        <p:cond delay="7000"/>
                      </p:stCondLst>
                      <p:childTnLst>
                        <p:set>
                          <p:cBhvr>
                            <p:cTn id="833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34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838" presetID="10" presetClass="entr" presetSubtype="0" fill="hold" grpId="0" nodeType="afterEffect">
                      <p:stCondLst>
                        <p:cond delay="7350"/>
                      </p:stCondLst>
                      <p:childTnLst>
                        <p:set>
                          <p:cBhvr>
                            <p:cTn id="839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40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844" presetID="10" presetClass="entr" presetSubtype="0" fill="hold" grpId="0" nodeType="afterEffect">
                      <p:stCondLst>
                        <p:cond delay="7700"/>
                      </p:stCondLst>
                      <p:childTnLst>
                        <p:set>
                          <p:cBhvr>
                            <p:cTn id="845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46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850" presetID="10" presetClass="entr" presetSubtype="0" fill="hold" grpId="0" nodeType="afterEffect">
                      <p:stCondLst>
                        <p:cond delay="8050"/>
                      </p:stCondLst>
                      <p:childTnLst>
                        <p:set>
                          <p:cBhvr>
                            <p:cTn id="851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52"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856" presetID="10" presetClass="entr" presetSubtype="0" fill="hold" grpId="0" nodeType="afterEffect">
                      <p:stCondLst>
                        <p:cond delay="8400"/>
                      </p:stCondLst>
                      <p:childTnLst>
                        <p:set>
                          <p:cBhvr>
                            <p:cTn id="857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58"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862" presetID="10" presetClass="entr" presetSubtype="0" fill="hold" grpId="0" nodeType="afterEffect">
                      <p:stCondLst>
                        <p:cond delay="8750"/>
                      </p:stCondLst>
                      <p:childTnLst>
                        <p:set>
                          <p:cBhvr>
                            <p:cTn id="863" dur="1" fill="hold"/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64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868" presetID="10" presetClass="entr" presetSubtype="0" fill="hold" grpId="0" nodeType="afterEffect">
                      <p:stCondLst>
                        <p:cond delay="9100"/>
                      </p:stCondLst>
                      <p:childTnLst>
                        <p:set>
                          <p:cBhvr>
                            <p:cTn id="869" dur="1" fill="hold"/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70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Architecture du modèle PK/PD semi-mécanistique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3749039" cy="35661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35608"/>
            <a:ext cx="35661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BLOC 1 — Pharmacocinétique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2084831"/>
            <a:ext cx="356616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176272"/>
            <a:ext cx="35661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1" i="1">
                <a:solidFill>
                  <a:srgbClr val="2E86AB"/>
                </a:solidFill>
                <a:latin typeface="Calibri"/>
              </a:rPr>
              <a:t>C(t) = A·e^(−αt) + B·e^(−βt)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816352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898648"/>
            <a:ext cx="3566160" cy="1920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Modèle 2 compartiments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 paramètres : CL, V1, Q, V2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Univers des concentrations plasmatiques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5655" y="2834640"/>
            <a:ext cx="228600" cy="6858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6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389888"/>
            <a:ext cx="3749039" cy="3566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435608"/>
            <a:ext cx="35661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BLOC 2 — Dommage cellulaire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2084831"/>
            <a:ext cx="3566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176272"/>
            <a:ext cx="35661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1" i="1">
                <a:solidFill>
                  <a:srgbClr val="FFFFFF"/>
                </a:solidFill>
                <a:latin typeface="Calibri"/>
              </a:rPr>
              <a:t>dDmg/dt = k_dam×C(µM) − k_rep×Dmg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2816352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2898648"/>
            <a:ext cx="3566160" cy="1920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Accumulation du dommage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Proportionnel à la concentration libre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Réparation linéaire k_rep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3" y="2834640"/>
            <a:ext cx="228600" cy="6858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6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389888"/>
            <a:ext cx="3749039" cy="35661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435608"/>
            <a:ext cx="35661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BLOC 3 — Pharmacodynamique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11896" y="2084831"/>
            <a:ext cx="356616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2176272"/>
            <a:ext cx="35661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1" i="1">
                <a:solidFill>
                  <a:srgbClr val="2E86AB"/>
                </a:solidFill>
                <a:latin typeface="Calibri"/>
              </a:rPr>
              <a:t>Effet = 1 − Slope × Damage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11896" y="2816352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2898648"/>
            <a:ext cx="3566160" cy="1920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Cascade hématopoïétique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Neutrophiles, GR, Plaquettes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Retour à l'équilibre homéostatique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20640"/>
            <a:ext cx="11521440" cy="685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138928"/>
            <a:ext cx="113385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500" b="1" i="0">
                <a:solidFill>
                  <a:srgbClr val="1B4F72"/>
                </a:solidFill>
                <a:latin typeface="Calibri"/>
              </a:rPr>
              <a:t>Chaîne causale :   Dose  →  PK C(t)  →  Dommage cellulaire  →  PD  →  Cellules circulantes observées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943600"/>
            <a:ext cx="1152144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1">
                <a:solidFill>
                  <a:srgbClr val="5D6D7E"/>
                </a:solidFill>
                <a:latin typeface="Calibri"/>
              </a:rPr>
              <a:t>Chaque paramètre a une signification biologique — aucun paramètre purement statistique — interprétabilité totale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987" dur="indefinite" restart="whenNotActive" nodeType="tmRoot">
          <p:childTnLst>
            <p:seq concurrent="1" nextAc="seek">
              <p:cTn id="986" dur="indefinite" nodeType="mainSeq">
                <p:childTnLst>
                  <p:par>
                    <p:cTn id="88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885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86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890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89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92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896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897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98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02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903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04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908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909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10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14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915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16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20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921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2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926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927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28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932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933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34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938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939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40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944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945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46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950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951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52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956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957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58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962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963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64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968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969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70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974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975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76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980" presetID="10" presetClass="entr" presetSubtype="0" fill="hold" grpId="0" nodeType="afterEffect">
                      <p:stCondLst>
                        <p:cond delay="5600"/>
                      </p:stCondLst>
                      <p:childTnLst>
                        <p:set>
                          <p:cBhvr>
                            <p:cTn id="981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82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Méthodes d'estimation PK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5394960" cy="3657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212080" cy="777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Étape 1 — NCA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(Analyse Non Compartimentale)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67712"/>
            <a:ext cx="5212080" cy="26517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Estimation directe des paramètres :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CL = Dose / AUC∞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V1 = Dose / C₀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→ Fournit les valeurs initiales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 pour l'optimisation numérique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→ Pas d'hypothèse de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926080"/>
            <a:ext cx="365760" cy="777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8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89888"/>
            <a:ext cx="5577840" cy="3657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394960" cy="777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Étape 2 — Nelder-Mead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(Optimisation numérique)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67712"/>
            <a:ext cx="5394960" cy="26517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Critère : SSR = Σ[log(Cobs) − log(Cpred)]²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Optimisation sur log(θ) :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• Garantit positivité paramètres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• Symétrie des résidus relatifs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Multi-start n=10 points de départ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CV inter-start &lt; 5% sur CL et V1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Convergence globale robuste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212080"/>
            <a:ext cx="11521440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230368"/>
            <a:ext cx="11338560" cy="5486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500" b="1" i="0">
                <a:solidFill>
                  <a:srgbClr val="1B4F72"/>
                </a:solidFill>
                <a:latin typeface="Calibri"/>
              </a:rPr>
              <a:t>✓  Critère de satisfaction : résidus médians &lt; 20%  |  Log-transformation → normalisation résidus relatifs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43600"/>
            <a:ext cx="1152144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1">
                <a:solidFill>
                  <a:srgbClr val="5D6D7E"/>
                </a:solidFill>
                <a:latin typeface="Calibri"/>
              </a:rPr>
              <a:t>Appliqué indépendamment à chaque animal/patient — estimation individuelle (non NLME à ce stade)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1057" dur="indefinite" restart="whenNotActive" nodeType="tmRoot">
          <p:childTnLst>
            <p:seq concurrent="1" nextAc="seek">
              <p:cTn id="1056" dur="indefinite" nodeType="mainSeq">
                <p:childTnLst>
                  <p:par>
                    <p:cTn id="99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997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98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002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100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4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008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009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014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015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6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020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02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026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1027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8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032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1033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038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1039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044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1045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050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1051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2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Simulation Monte-Carlo &amp; Grading CTCAE v5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5029200" cy="30175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4846320" cy="5486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Simulation Monte-Carlo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29968"/>
            <a:ext cx="4846320" cy="22860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 = 300 patients virtuels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θᵢ = θpop × exp(ηᵢ)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Distribution log-normale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Variabilité PK :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CV 25–30% (FDA BLA 761139)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Variabilité PD :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CV 30% sur Slopes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set.seed(42) → reproductibilité exacte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32120" y="1389888"/>
          <a:ext cx="6355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1097280"/>
                <a:gridCol w="1325880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Toxicité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Grade 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Grade 2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Grade 3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Grade 4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Neutrophiles (×10⁹/L)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1.5–1.9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1.0–1.5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0.5–1.0 ⚠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&lt;0.5 🔴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Plaquettes (×10⁹/L)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75–LNI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50–75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25–50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&lt;25 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Hémoglobine (g/dL)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10–LNI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8–10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&lt;8 ⚠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Transf. 🔴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Leucocytes (×10⁹/L)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3.0–3.9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2.0–3.0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1.0–2.0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&lt;1.0 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4572000"/>
            <a:ext cx="11521440" cy="530352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4590288"/>
            <a:ext cx="11338560" cy="47548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1" i="0">
                <a:solidFill>
                  <a:srgbClr val="1B4F72"/>
                </a:solidFill>
                <a:latin typeface="Calibri"/>
              </a:rPr>
              <a:t>G0 Normal  |  G1 Léger  |  G2 Modéré  |  G3 Sévère (hospit.)  |  G4 Critique (pronostic vital)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212080"/>
            <a:ext cx="1152144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230368"/>
            <a:ext cx="113385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Proportion G≥3 = métrique principale de validation — comparaison directe aux données cliniques FDA BLA 761139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007608"/>
            <a:ext cx="11521440" cy="4114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1">
                <a:solidFill>
                  <a:srgbClr val="5D6D7E"/>
                </a:solidFill>
                <a:latin typeface="Calibri"/>
              </a:rPr>
              <a:t>CTCAE v5 NCI — standard réglementaire FDA/EMA pour essais oncologiques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1121" dur="indefinite" restart="whenNotActive" nodeType="tmRoot">
          <p:childTnLst>
            <p:seq concurrent="1" nextAc="seek">
              <p:cTn id="1120" dur="indefinite" nodeType="mainSeq">
                <p:childTnLst>
                  <p:par>
                    <p:cTn id="106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67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8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072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107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078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079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0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084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085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6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090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09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2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096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1097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8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102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1103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4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108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1109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14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1115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6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Étape 1 : Validation rat/carboplatine (Fornari 2011)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1521440" cy="5486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08176"/>
            <a:ext cx="1133856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1" i="0">
                <a:solidFill>
                  <a:srgbClr val="1B4F72"/>
                </a:solidFill>
                <a:latin typeface="Calibri"/>
              </a:rPr>
              <a:t>Rat Sprague-Dawley  |  Carboplatine 40 mg/kg  |  8 cycles  |  Données Fornari et al. 2011 (JPKPD)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2084831"/>
          <a:ext cx="103327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5486400"/>
                <a:gridCol w="1005840"/>
              </a:tblGrid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Lignée cellulaire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Résidu médian (%)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Interprétation clinique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Neutrophiles (Neut)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2.67%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Excellent ajustement — profil nadir reproduit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8B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CMP (Myéloïde)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2.37%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Excellent ajustement — dynamique correcte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8B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GR (Érythrocytes)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2.79%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Excellent ajustement — stabilité bien reproduite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8B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7FBFD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MPP (Multipotent)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26.96%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Digitalisation figure originale — non cliniquement pertinent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⚠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MEP (Érythroïde-Mgk)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50.69%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Digitalisation figure originale — valeurs proches de zéro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⚠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</a:tr>
              <a:tr h="46373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Plaquettes (Plt)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25.67%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4F72"/>
                          </a:solidFill>
                          <a:latin typeface="Calibri"/>
                        </a:rPr>
                        <a:t>Digitalisation figure originale — cinétique globale reproduite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39C12"/>
                          </a:solidFill>
                          <a:latin typeface="Calibri"/>
                        </a:rPr>
                        <a:t>⚠</a:t>
                      </a:r>
                    </a:p>
                  </a:txBody>
                  <a:tcPr>
                    <a:solidFill>
                      <a:srgbClr val="FDF2D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0040" y="5486400"/>
            <a:ext cx="11521440" cy="685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5504688"/>
            <a:ext cx="1133856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B4F72"/>
                </a:solidFill>
                <a:latin typeface="Calibri"/>
              </a:rPr>
              <a:t>⚠  Résidus élevés MPP/MEP/Plt attribuables à la digitalisation des figures originales (WebPlotDigitizer)</a:t>
            </a:r>
          </a:p>
          <a:p>
            <a:pPr algn="l"/>
            <a:r>
              <a:rPr sz="1300" b="0" i="0">
                <a:solidFill>
                  <a:srgbClr val="1B4F72"/>
                </a:solidFill>
                <a:latin typeface="Calibri"/>
              </a:rPr>
              <a:t>    Données Neut/CMP/GR directement disponibles — celles-ci sont cliniquement pertinentes et validées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1161" dur="indefinite" restart="whenNotActive" nodeType="tmRoot">
          <p:childTnLst>
            <p:seq concurrent="1" nextAc="seek">
              <p:cTn id="1160" dur="indefinite" nodeType="mainSeq">
                <p:childTnLst>
                  <p:par>
                    <p:cTn id="1130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3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2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36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1137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42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143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4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148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149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0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154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155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6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Transposition rat → humain (carboplatine)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1521440" cy="5029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08176"/>
            <a:ext cx="1133856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Adaptation PK — Allométrie inter-espèces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38528"/>
            <a:ext cx="5486400" cy="1234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5303520" cy="11430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CL_humain = CL_rat × (70 / BW_rat)^0.75</a:t>
            </a:r>
          </a:p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V proportionnel au poids corporel</a:t>
            </a:r>
          </a:p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Loi allométrique inter-espèces (West 2002)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938528"/>
            <a:ext cx="5577840" cy="1234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965960"/>
            <a:ext cx="5394960" cy="11430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Adaptation PD — Recalibration des Slopes</a:t>
            </a:r>
          </a:p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Slopes recalibrées sur données</a:t>
            </a:r>
          </a:p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cellulaires humaines disponibles (litterature)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310128"/>
            <a:ext cx="1152144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328416"/>
            <a:ext cx="1133856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Résultats de la transposition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13632"/>
            <a:ext cx="4114800" cy="53035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  <a:latin typeface="Calibri"/>
              </a:rPr>
              <a:t>✓  Neutrophiles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913632"/>
            <a:ext cx="7132320" cy="53035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Concordance excellente sur profil cinétique complet (nadir, récupération, baseline)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4114800" cy="53035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  <a:latin typeface="Calibri"/>
              </a:rPr>
              <a:t>✓  Plaquettes — profil 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572000"/>
            <a:ext cx="7132320" cy="53035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Accord global satisfaisant (Δ = 6.4%) — profil cinétique bien reproduit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30368"/>
            <a:ext cx="4114800" cy="53035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⚠  Plaquettes — 2e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5230368"/>
            <a:ext cx="7132320" cy="53035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Accumulation 2e cycle non reproduite — limite propre à l'architecture Fornari, non à l'implémentation Python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61888"/>
            <a:ext cx="11521440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980176"/>
            <a:ext cx="11338560" cy="5486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1" i="0">
                <a:solidFill>
                  <a:srgbClr val="1B4F72"/>
                </a:solidFill>
                <a:latin typeface="Calibri"/>
              </a:rPr>
              <a:t>Validation satisfaisante — ouvre la voie à l'application sur T-DXd (N=300 simulation Monte-Carlo)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1267" dur="indefinite" restart="whenNotActive" nodeType="tmRoot">
          <p:childTnLst>
            <p:seq concurrent="1" nextAc="seek">
              <p:cTn id="1266" dur="indefinite" nodeType="mainSeq">
                <p:childTnLst>
                  <p:par>
                    <p:cTn id="1170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7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2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76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1177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82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183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84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188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189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90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194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195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96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200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1201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02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206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1207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0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212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1213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4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218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1219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0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224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1225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6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230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1231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32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236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1237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3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242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1243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44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248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1249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50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254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1255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56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260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1261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62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521440" cy="8046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⭐  Résultat central : T-DXd / DESTINY-Breast01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24128"/>
            <a:ext cx="1152144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0" i="0">
                <a:solidFill>
                  <a:srgbClr val="2E86AB"/>
                </a:solidFill>
                <a:latin typeface="Calibri"/>
              </a:rPr>
              <a:t>T-DXd 5.4 mg/kg Q3W × 6 cycles  |  N=300 patients virtuels (Monte-Carlo)  vs  FDA DESTINY-Breast01 n=184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834640" cy="3429000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45920"/>
            <a:ext cx="265176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Neutropénie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tout grade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256032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26517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0">
                <a:solidFill>
                  <a:srgbClr val="2E86AB"/>
                </a:solidFill>
                <a:latin typeface="Calibri"/>
              </a:rPr>
              <a:t>Modèle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788920"/>
            <a:ext cx="2651760" cy="777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29.3%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657600"/>
            <a:ext cx="26517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  <a:latin typeface="Calibri"/>
              </a:rPr>
              <a:t>FDA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005072"/>
            <a:ext cx="2651760" cy="65836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600" b="1" i="0">
                <a:solidFill>
                  <a:srgbClr val="AED6F1"/>
                </a:solidFill>
                <a:latin typeface="Calibri"/>
              </a:rPr>
              <a:t>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663440"/>
            <a:ext cx="100584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  <a:latin typeface="Calibri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1600200"/>
            <a:ext cx="2834640" cy="3429000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1645920"/>
            <a:ext cx="265176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Neutropénie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G3–4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9856" y="2331720"/>
            <a:ext cx="256032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2423160"/>
            <a:ext cx="26517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0">
                <a:solidFill>
                  <a:srgbClr val="2E86AB"/>
                </a:solidFill>
                <a:latin typeface="Calibri"/>
              </a:rPr>
              <a:t>Modèle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2788920"/>
            <a:ext cx="2651760" cy="777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3657600"/>
            <a:ext cx="26517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  <a:latin typeface="Calibri"/>
              </a:rPr>
              <a:t>FDA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4005072"/>
            <a:ext cx="2651760" cy="65836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600" b="1" i="0">
                <a:solidFill>
                  <a:srgbClr val="AED6F1"/>
                </a:solidFill>
                <a:latin typeface="Calibri"/>
              </a:rPr>
              <a:t>16%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7096" y="4663440"/>
            <a:ext cx="100584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  <a:latin typeface="Calibr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1600200"/>
            <a:ext cx="2834640" cy="3429000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45920"/>
            <a:ext cx="265176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Anémie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tout grade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2331720"/>
            <a:ext cx="256032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2423160"/>
            <a:ext cx="26517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0">
                <a:solidFill>
                  <a:srgbClr val="2E86AB"/>
                </a:solidFill>
                <a:latin typeface="Calibri"/>
              </a:rPr>
              <a:t>Modèle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2788920"/>
            <a:ext cx="2651760" cy="777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67.7%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657600"/>
            <a:ext cx="26517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  <a:latin typeface="Calibri"/>
              </a:rPr>
              <a:t>FDA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005072"/>
            <a:ext cx="2651760" cy="65836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600" b="1" i="0">
                <a:solidFill>
                  <a:srgbClr val="AED6F1"/>
                </a:solidFill>
                <a:latin typeface="Calibri"/>
              </a:rPr>
              <a:t>70%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4663440"/>
            <a:ext cx="100584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08008" y="1600200"/>
            <a:ext cx="2834640" cy="3429000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1645920"/>
            <a:ext cx="265176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Anémie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G3–4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45168" y="2331720"/>
            <a:ext cx="256032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2423160"/>
            <a:ext cx="26517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0">
                <a:solidFill>
                  <a:srgbClr val="2E86AB"/>
                </a:solidFill>
                <a:latin typeface="Calibri"/>
              </a:rPr>
              <a:t>Modèle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788920"/>
            <a:ext cx="2651760" cy="777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3657600"/>
            <a:ext cx="2651760" cy="3474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  <a:latin typeface="Calibri"/>
              </a:rPr>
              <a:t>FDA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4005072"/>
            <a:ext cx="2651760" cy="65836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600" b="1" i="0">
                <a:solidFill>
                  <a:srgbClr val="AED6F1"/>
                </a:solidFill>
                <a:latin typeface="Calibri"/>
              </a:rPr>
              <a:t>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22408" y="4663440"/>
            <a:ext cx="100584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303520"/>
            <a:ext cx="1152144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321808"/>
            <a:ext cx="11338560" cy="7772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Concordance remarquable — toutes proportions dans IC95% Wilson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Le pipeline PK/PD reproduit fidèlement les données du dossier BLA FDA 761139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1469" dur="indefinite" restart="whenNotActive" nodeType="tmRoot">
          <p:childTnLst>
            <p:seq concurrent="1" nextAc="seek">
              <p:cTn id="1468" dur="indefinite" nodeType="mainSeq">
                <p:childTnLst>
                  <p:par>
                    <p:cTn id="127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77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78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282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1283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84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288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289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90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94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295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96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300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30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02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306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1307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08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312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1313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14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318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1319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2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324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1325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26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30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1331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32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336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1337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38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342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1343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44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348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1349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50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354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1355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56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360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1361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62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366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1367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68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372" presetID="10" presetClass="entr" presetSubtype="0" fill="hold" grpId="0" nodeType="afterEffect">
                      <p:stCondLst>
                        <p:cond delay="5600"/>
                      </p:stCondLst>
                      <p:childTnLst>
                        <p:set>
                          <p:cBhvr>
                            <p:cTn id="1373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74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378" presetID="10" presetClass="entr" presetSubtype="0" fill="hold" grpId="0" nodeType="afterEffect">
                      <p:stCondLst>
                        <p:cond delay="5950"/>
                      </p:stCondLst>
                      <p:childTnLst>
                        <p:set>
                          <p:cBhvr>
                            <p:cTn id="1379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80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1384" presetID="10" presetClass="entr" presetSubtype="0" fill="hold" grpId="0" nodeType="afterEffect">
                      <p:stCondLst>
                        <p:cond delay="6300"/>
                      </p:stCondLst>
                      <p:childTnLst>
                        <p:set>
                          <p:cBhvr>
                            <p:cTn id="138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86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390" presetID="10" presetClass="entr" presetSubtype="0" fill="hold" grpId="0" nodeType="afterEffect">
                      <p:stCondLst>
                        <p:cond delay="6650"/>
                      </p:stCondLst>
                      <p:childTnLst>
                        <p:set>
                          <p:cBhvr>
                            <p:cTn id="1391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92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1396" presetID="10" presetClass="entr" presetSubtype="0" fill="hold" grpId="0" nodeType="afterEffect">
                      <p:stCondLst>
                        <p:cond delay="7000"/>
                      </p:stCondLst>
                      <p:childTnLst>
                        <p:set>
                          <p:cBhvr>
                            <p:cTn id="1397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98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1402" presetID="10" presetClass="entr" presetSubtype="0" fill="hold" grpId="0" nodeType="afterEffect">
                      <p:stCondLst>
                        <p:cond delay="7350"/>
                      </p:stCondLst>
                      <p:childTnLst>
                        <p:set>
                          <p:cBhvr>
                            <p:cTn id="1403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04"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1408" presetID="10" presetClass="entr" presetSubtype="0" fill="hold" grpId="0" nodeType="afterEffect">
                      <p:stCondLst>
                        <p:cond delay="7700"/>
                      </p:stCondLst>
                      <p:childTnLst>
                        <p:set>
                          <p:cBhvr>
                            <p:cTn id="1409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10"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1414" presetID="10" presetClass="entr" presetSubtype="0" fill="hold" grpId="0" nodeType="afterEffect">
                      <p:stCondLst>
                        <p:cond delay="8050"/>
                      </p:stCondLst>
                      <p:childTnLst>
                        <p:set>
                          <p:cBhvr>
                            <p:cTn id="1415" dur="1" fill="hold"/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16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1420" presetID="10" presetClass="entr" presetSubtype="0" fill="hold" grpId="0" nodeType="afterEffect">
                      <p:stCondLst>
                        <p:cond delay="8400"/>
                      </p:stCondLst>
                      <p:childTnLst>
                        <p:set>
                          <p:cBhvr>
                            <p:cTn id="1421" dur="1" fill="hold"/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2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1426" presetID="10" presetClass="entr" presetSubtype="0" fill="hold" grpId="0" nodeType="afterEffect">
                      <p:stCondLst>
                        <p:cond delay="8750"/>
                      </p:stCondLst>
                      <p:childTnLst>
                        <p:set>
                          <p:cBhvr>
                            <p:cTn id="1427" dur="1" fill="hold"/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8" dur="5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1432" presetID="10" presetClass="entr" presetSubtype="0" fill="hold" grpId="0" nodeType="afterEffect">
                      <p:stCondLst>
                        <p:cond delay="9100"/>
                      </p:stCondLst>
                      <p:childTnLst>
                        <p:set>
                          <p:cBhvr>
                            <p:cTn id="1433" dur="1" fill="hold"/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34" dur="5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1438" presetID="10" presetClass="entr" presetSubtype="0" fill="hold" grpId="0" nodeType="afterEffect">
                      <p:stCondLst>
                        <p:cond delay="9450"/>
                      </p:stCondLst>
                      <p:childTnLst>
                        <p:set>
                          <p:cBhvr>
                            <p:cTn id="1439" dur="1" fill="hold"/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40" dur="5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1444" presetID="10" presetClass="entr" presetSubtype="0" fill="hold" grpId="0" nodeType="afterEffect">
                      <p:stCondLst>
                        <p:cond delay="9800"/>
                      </p:stCondLst>
                      <p:childTnLst>
                        <p:set>
                          <p:cBhvr>
                            <p:cTn id="1445" dur="1" fill="hold"/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46" dur="5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1450" presetID="10" presetClass="entr" presetSubtype="0" fill="hold" grpId="0" nodeType="afterEffect">
                      <p:stCondLst>
                        <p:cond delay="10150"/>
                      </p:stCondLst>
                      <p:childTnLst>
                        <p:set>
                          <p:cBhvr>
                            <p:cTn id="1451" dur="1" fill="hold"/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52" dur="5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1456" presetID="10" presetClass="entr" presetSubtype="0" fill="hold" grpId="0" nodeType="afterEffect">
                      <p:stCondLst>
                        <p:cond delay="10500"/>
                      </p:stCondLst>
                      <p:childTnLst>
                        <p:set>
                          <p:cBhvr>
                            <p:cTn id="1457" dur="1" fill="hold"/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58" dur="5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1462" presetID="10" presetClass="entr" presetSubtype="0" fill="hold" grpId="0" nodeType="afterEffect">
                      <p:stCondLst>
                        <p:cond delay="10850"/>
                      </p:stCondLst>
                      <p:childTnLst>
                        <p:set>
                          <p:cBhvr>
                            <p:cTn id="1463" dur="1" fill="hold"/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64" dur="5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NHP cynomolgus : design expérimental &amp; PK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7223760" cy="1600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7040880" cy="47548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Design expérimental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56816"/>
            <a:ext cx="7040880" cy="98755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8 singes cynomolgus (Macaca fascicularis) — 4 groupes de 2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Doses D1–D4 : 3 / 13 / 26 / 39 mg/kg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Composé FGFR2 interne — données confidentielles Pierre Fabre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108960"/>
            <a:ext cx="7223760" cy="594360"/>
          </a:xfrm>
          <a:prstGeom prst="rect">
            <a:avLst/>
          </a:prstGeom>
          <a:solidFill>
            <a:srgbClr val="CB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127248"/>
            <a:ext cx="7040880" cy="5486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⚠  D4 (39 mg/kg) : sacrifiés prématurément → toxicité sévère → PD non analysable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822191"/>
            <a:ext cx="7223760" cy="21945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840480"/>
            <a:ext cx="7040880" cy="47548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  <a:latin typeface="Calibri"/>
              </a:rPr>
              <a:t>Paramètres PK moyens (D1–D3)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07408"/>
            <a:ext cx="164592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Calibri"/>
              </a:rPr>
              <a:t>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407408"/>
            <a:ext cx="228600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= 1.83 mL/h/kg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407408"/>
            <a:ext cx="292608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  <a:latin typeface="Calibri"/>
              </a:rPr>
              <a:t>CV inter-animal : 17%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28032"/>
            <a:ext cx="164592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Calibri"/>
              </a:rPr>
              <a:t>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28032"/>
            <a:ext cx="228600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= 54.2 mL/kg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828032"/>
            <a:ext cx="292608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  <a:latin typeface="Calibri"/>
              </a:rPr>
              <a:t>CV inter-animal : 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48656"/>
            <a:ext cx="164592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Calibri"/>
              </a:rPr>
              <a:t>t½β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248656"/>
            <a:ext cx="228600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= 54.7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248656"/>
            <a:ext cx="292608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  <a:latin typeface="Calibri"/>
              </a:rPr>
              <a:t>Demi-vie d'élimination terminale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669280"/>
            <a:ext cx="164592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Calibri"/>
              </a:rPr>
              <a:t>Résidus médians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669280"/>
            <a:ext cx="228600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&lt; 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669280"/>
            <a:ext cx="2926080" cy="3840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  <a:latin typeface="Calibri"/>
              </a:rPr>
              <a:t>Tous animaux D1–D3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1389888"/>
            <a:ext cx="4160520" cy="2971800"/>
          </a:xfrm>
          <a:prstGeom prst="rect">
            <a:avLst/>
          </a:prstGeom>
          <a:solidFill>
            <a:srgbClr val="D5E8F4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286000"/>
            <a:ext cx="3977639" cy="13716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0" i="1">
                <a:solidFill>
                  <a:srgbClr val="5D6D7E"/>
                </a:solidFill>
                <a:latin typeface="Calibri"/>
              </a:rPr>
              <a:t>Macaca fascicularis</a:t>
            </a:r>
          </a:p>
          <a:p>
            <a:pPr algn="ctr"/>
            <a:r>
              <a:rPr sz="1400" b="0" i="1">
                <a:solidFill>
                  <a:srgbClr val="5D6D7E"/>
                </a:solidFill>
                <a:latin typeface="Calibri"/>
              </a:rPr>
              <a:t>(singe cynomolgus)</a:t>
            </a:r>
          </a:p>
          <a:p>
            <a:pPr algn="ctr"/>
            <a:r>
              <a:rPr sz="1400" b="0" i="1">
                <a:solidFill>
                  <a:srgbClr val="5D6D7E"/>
                </a:solidFill>
                <a:latin typeface="Calibri"/>
              </a:rPr>
              <a:t/>
            </a:r>
          </a:p>
          <a:p>
            <a:pPr algn="ctr"/>
            <a:r>
              <a:rPr sz="1400" b="0" i="1">
                <a:solidFill>
                  <a:srgbClr val="5D6D7E"/>
                </a:solidFill>
                <a:latin typeface="Calibri"/>
              </a:rPr>
              <a:t>Modèle préclinique standard</a:t>
            </a:r>
          </a:p>
          <a:p>
            <a:pPr algn="ctr"/>
            <a:r>
              <a:rPr sz="1400" b="0" i="1">
                <a:solidFill>
                  <a:srgbClr val="5D6D7E"/>
                </a:solidFill>
                <a:latin typeface="Calibri"/>
              </a:rPr>
              <a:t>pour les ADCs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172200"/>
            <a:ext cx="11521440" cy="457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190488"/>
            <a:ext cx="11338560" cy="4114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  <a:latin typeface="Calibri"/>
              </a:rPr>
              <a:t>✓  Résidus médians &lt; 12% pour tous les animaux D1–D3 — ajustement PK robuste et reproductible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1617" dur="indefinite" restart="whenNotActive" nodeType="tmRoot">
          <p:childTnLst>
            <p:seq concurrent="1" nextAc="seek">
              <p:cTn id="1616" dur="indefinite" nodeType="mainSeq">
                <p:childTnLst>
                  <p:par>
                    <p:cTn id="1478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479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80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84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1485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86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490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49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92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496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497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98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502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503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0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508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1509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10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514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1515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16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520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1521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22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526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1527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28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532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1533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3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38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1539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40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544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1545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46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550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1551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52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556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1557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58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562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1563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6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568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1569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70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574" presetID="10" presetClass="entr" presetSubtype="0" fill="hold" grpId="0" nodeType="afterEffect">
                      <p:stCondLst>
                        <p:cond delay="5600"/>
                      </p:stCondLst>
                      <p:childTnLst>
                        <p:set>
                          <p:cBhvr>
                            <p:cTn id="1575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76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580" presetID="10" presetClass="entr" presetSubtype="0" fill="hold" grpId="0" nodeType="afterEffect">
                      <p:stCondLst>
                        <p:cond delay="5950"/>
                      </p:stCondLst>
                      <p:childTnLst>
                        <p:set>
                          <p:cBhvr>
                            <p:cTn id="1581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82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586" presetID="10" presetClass="entr" presetSubtype="0" fill="hold" grpId="0" nodeType="afterEffect">
                      <p:stCondLst>
                        <p:cond delay="6300"/>
                      </p:stCondLst>
                      <p:childTnLst>
                        <p:set>
                          <p:cBhvr>
                            <p:cTn id="1587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88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1592" presetID="10" presetClass="entr" presetSubtype="0" fill="hold" grpId="0" nodeType="afterEffect">
                      <p:stCondLst>
                        <p:cond delay="6650"/>
                      </p:stCondLst>
                      <p:childTnLst>
                        <p:set>
                          <p:cBhvr>
                            <p:cTn id="1593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94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598" presetID="10" presetClass="entr" presetSubtype="0" fill="hold" grpId="0" nodeType="afterEffect">
                      <p:stCondLst>
                        <p:cond delay="7000"/>
                      </p:stCondLst>
                      <p:childTnLst>
                        <p:set>
                          <p:cBhvr>
                            <p:cTn id="1599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00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604" presetID="10" presetClass="entr" presetSubtype="0" fill="hold" grpId="0" nodeType="afterEffect">
                      <p:stCondLst>
                        <p:cond delay="7350"/>
                      </p:stCondLst>
                      <p:childTnLst>
                        <p:set>
                          <p:cBhvr>
                            <p:cTn id="1605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06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1610" presetID="10" presetClass="entr" presetSubtype="0" fill="hold" grpId="0" nodeType="afterEffect">
                      <p:stCondLst>
                        <p:cond delay="7700"/>
                      </p:stCondLst>
                      <p:childTnLst>
                        <p:set>
                          <p:cBhvr>
                            <p:cTn id="1611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12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NHP : dynamique PD &amp; hystérèse temporelle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11521440" cy="102412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133856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Hystérèse PK/PD : le nadir des neutrophiles précède celui des plaquettes de 1–2 semaines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Durée de vie : Neutrophiles ~6–8 heures (NHP)  vs  Plaquettes ~9 jours (NHP)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→ Signature temporelle distincte par lignée — mécanisme bien capturé par le modèle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542032"/>
            <a:ext cx="5394960" cy="26060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569464"/>
            <a:ext cx="521208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  <a:latin typeface="Calibri"/>
              </a:rPr>
              <a:t>Le modèle reproduit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27248"/>
            <a:ext cx="521208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E8B4C"/>
                </a:solidFill>
                <a:latin typeface="Calibri"/>
              </a:rPr>
              <a:t>✓  Chute Neut/Plt cohérente D2–D3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02736"/>
            <a:ext cx="521208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E8B4C"/>
                </a:solidFill>
                <a:latin typeface="Calibri"/>
              </a:rPr>
              <a:t>✓  Décalage temporel Neut → Plt (1–2 sem.)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78224"/>
            <a:ext cx="521208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E8B4C"/>
                </a:solidFill>
                <a:latin typeface="Calibri"/>
              </a:rPr>
              <a:t>✓  Stabilité relative des GR (durée de vie longue)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553712"/>
            <a:ext cx="521208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E8B4C"/>
                </a:solidFill>
                <a:latin typeface="Calibri"/>
              </a:rPr>
              <a:t>✓  Dose-réponse croissante D1 → D3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542032"/>
            <a:ext cx="5852160" cy="2606040"/>
          </a:xfrm>
          <a:prstGeom prst="rect">
            <a:avLst/>
          </a:prstGeom>
          <a:solidFill>
            <a:srgbClr val="FD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569464"/>
            <a:ext cx="566928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7D6008"/>
                </a:solidFill>
                <a:latin typeface="Calibri"/>
              </a:rPr>
              <a:t>Limites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127248"/>
            <a:ext cx="566928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7D6008"/>
                </a:solidFill>
                <a:latin typeface="Calibri"/>
              </a:rPr>
              <a:t>⚠  n=2/groupe → variabilité non caractérisée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602736"/>
            <a:ext cx="566928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7D6008"/>
                </a:solidFill>
                <a:latin typeface="Calibri"/>
              </a:rPr>
              <a:t>⚠  Calibration PD visuelle sans IC formels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078224"/>
            <a:ext cx="566928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7D6008"/>
                </a:solidFill>
                <a:latin typeface="Calibri"/>
              </a:rPr>
              <a:t>⚠  Rebonds 400–600% non capturés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553712"/>
            <a:ext cx="566928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7D6008"/>
                </a:solidFill>
                <a:latin typeface="Calibri"/>
              </a:rPr>
              <a:t>⚠  D4 exclu → gamme incomplète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285232"/>
            <a:ext cx="1152144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303520"/>
            <a:ext cx="1133856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Calibration PD préliminaire — base suffisante pour la transposition clinique FIH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943600"/>
            <a:ext cx="11521440" cy="47548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1">
                <a:solidFill>
                  <a:srgbClr val="5D6D7E"/>
                </a:solidFill>
                <a:latin typeface="Calibri"/>
              </a:rPr>
              <a:t>L'hystérèse PK/PD est la signature distinctive de l'hématotoxicité des ADCs — sans alternative empirique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1729" dur="indefinite" restart="whenNotActive" nodeType="tmRoot">
          <p:childTnLst>
            <p:seq concurrent="1" nextAc="seek">
              <p:cTn id="1728" dur="indefinite" nodeType="mainSeq">
                <p:childTnLst>
                  <p:par>
                    <p:cTn id="162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27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28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632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163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34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638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639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40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44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645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46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650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65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52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656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1657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58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662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1663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64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668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1669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7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674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1675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76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680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1681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82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686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1687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88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692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1693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94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698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1699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00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704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1705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06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710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1711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12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716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1717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18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722" presetID="10" presetClass="entr" presetSubtype="0" fill="hold" grpId="0" nodeType="afterEffect">
                      <p:stCondLst>
                        <p:cond delay="5600"/>
                      </p:stCondLst>
                      <p:childTnLst>
                        <p:set>
                          <p:cBhvr>
                            <p:cTn id="1723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24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Transposition clinique — Prédiction dose FIH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3749039" cy="39319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35608"/>
            <a:ext cx="35661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PK — Allométrie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2048256"/>
            <a:ext cx="356616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130552"/>
            <a:ext cx="35661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1" i="1">
                <a:solidFill>
                  <a:srgbClr val="2E86AB"/>
                </a:solidFill>
                <a:latin typeface="Calibri"/>
              </a:rPr>
              <a:t>CL_humain = CL_NHP × (70/BW_NHP)^0.75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74320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816352"/>
            <a:ext cx="3566160" cy="23774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Validée sur T-DXd :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erreur &lt; facteur 2 sur CL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Approche réglementairement acceptée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(FDA MIDD guidance)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5655" y="3017520"/>
            <a:ext cx="228600" cy="6858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6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389888"/>
            <a:ext cx="3749039" cy="3931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435608"/>
            <a:ext cx="35661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PD — Conservatrice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2048256"/>
            <a:ext cx="3566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130552"/>
            <a:ext cx="35661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Slopes NHP → humain directement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274320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2816352"/>
            <a:ext cx="3566160" cy="23774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Hypothèse conservatrice :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humain plus sensible que NHP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Marge de sécurité supplémentaire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pour les patients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3" y="3017520"/>
            <a:ext cx="228600" cy="6858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6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389888"/>
            <a:ext cx="3749039" cy="393192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435608"/>
            <a:ext cx="35661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Simulation — FIH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11896" y="2048256"/>
            <a:ext cx="356616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2130552"/>
            <a:ext cx="35661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1" i="1">
                <a:solidFill>
                  <a:srgbClr val="2E86AB"/>
                </a:solidFill>
                <a:latin typeface="Calibri"/>
              </a:rPr>
              <a:t>Dose FIH = argmin_d P(G3+) &lt; 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11896" y="2743200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2816352"/>
            <a:ext cx="3566160" cy="23774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Profil toxicité modéré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Comparable à T-DXd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Sélection data-driven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non empirique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486400"/>
            <a:ext cx="11521440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504688"/>
            <a:ext cx="11338560" cy="5486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500" b="1" i="0">
                <a:solidFill>
                  <a:srgbClr val="1B4F72"/>
                </a:solidFill>
                <a:latin typeface="Calibri"/>
              </a:rPr>
              <a:t>Marge de sécurité : Dose tolérée NHP (sans toxicité sévère) → Dose FIH humain par allométrie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199632"/>
            <a:ext cx="1152144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1">
                <a:solidFill>
                  <a:srgbClr val="5D6D7E"/>
                </a:solidFill>
                <a:latin typeface="Calibri"/>
              </a:rPr>
              <a:t>FIH = First-In-Human  |  La simulation guide la dose initiale sans exposer les patients à des doses toxiques inutiles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1841" dur="indefinite" restart="whenNotActive" nodeType="tmRoot">
          <p:childTnLst>
            <p:seq concurrent="1" nextAc="seek">
              <p:cTn id="1840" dur="indefinite" nodeType="mainSeq">
                <p:childTnLst>
                  <p:par>
                    <p:cTn id="1738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739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40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744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1745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46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750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75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52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56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757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58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762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763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64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768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1769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7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774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1775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76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780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1781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82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786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1787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88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792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1793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94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798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1799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00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804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1805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06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810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1811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12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816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1817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18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822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1823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24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828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1829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30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1834" presetID="10" presetClass="entr" presetSubtype="0" fill="hold" grpId="0" nodeType="afterEffect">
                      <p:stCondLst>
                        <p:cond delay="5600"/>
                      </p:stCondLst>
                      <p:childTnLst>
                        <p:set>
                          <p:cBhvr>
                            <p:cTn id="1835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36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Forces du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5669280" cy="22128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53949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① Généricité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4572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394960" cy="12984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2 composés, 3 espèces,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 cadre unifié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Rat  →  Humain  →  NHP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Extensible à tout ADC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216" y="1389888"/>
            <a:ext cx="5669280" cy="22128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481328"/>
            <a:ext cx="53949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② Interprétabilité biologique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37376" y="2103120"/>
            <a:ext cx="5394960" cy="4572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2194560"/>
            <a:ext cx="5394960" cy="12984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Chaque paramètre =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signification mécanistique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Pas de boîte noire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Knowledge-based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85616"/>
            <a:ext cx="5669280" cy="221284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77056"/>
            <a:ext cx="53949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③ Simulation in silico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98848"/>
            <a:ext cx="5394960" cy="4572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590288"/>
            <a:ext cx="5394960" cy="12984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Doses non testées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sans expérimentation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N=300 en quelques secondes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Analyses de sensibilité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216" y="3785616"/>
            <a:ext cx="5669280" cy="2212848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877056"/>
            <a:ext cx="5394960" cy="56692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④ Reproductibilité totale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7376" y="4498848"/>
            <a:ext cx="5394960" cy="4572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590288"/>
            <a:ext cx="5394960" cy="129844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28 scripts R modulaires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set.seed(42)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Versionné sur Git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Audit complet possible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309360"/>
            <a:ext cx="1152144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300" b="0" i="1">
                <a:solidFill>
                  <a:srgbClr val="5D6D7E"/>
                </a:solidFill>
                <a:latin typeface="Calibri"/>
              </a:rPr>
              <a:t>Validation en 3 contextes indépendants : rat/carboplatine (litérature), humain/T-DXd (FDA), NHP/FGFR2 (interne)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1929" dur="indefinite" restart="whenNotActive" nodeType="tmRoot">
          <p:childTnLst>
            <p:seq concurrent="1" nextAc="seek">
              <p:cTn id="1928" dur="indefinite" nodeType="mainSeq">
                <p:childTnLst>
                  <p:par>
                    <p:cTn id="1850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85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52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856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1857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5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862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863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64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868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869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7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74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875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7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880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1881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82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886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1887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88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892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1893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9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898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1899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00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04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1905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06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910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1911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1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916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1917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18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922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1923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24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Limites &amp; points d'attention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92608" cy="1051560"/>
          </a:xfrm>
          <a:prstGeom prst="rect">
            <a:avLst/>
          </a:prstGeom>
          <a:solidFill>
            <a:srgbClr val="CB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709928"/>
            <a:ext cx="256032" cy="47548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07040" cy="4114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7D6008"/>
                </a:solidFill>
                <a:latin typeface="Calibri"/>
              </a:rPr>
              <a:t>⚠  n=2 par groupe NHP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37944"/>
            <a:ext cx="621792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B4F72"/>
                </a:solidFill>
                <a:latin typeface="Calibri"/>
              </a:rPr>
              <a:t>Variabilité inter-individuelle mal caractérisée → impossible de distinguer vraie variabilité biologique du bruit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746504"/>
            <a:ext cx="4663440" cy="6583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764792"/>
            <a:ext cx="448056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0" i="1">
                <a:solidFill>
                  <a:srgbClr val="2E86AB"/>
                </a:solidFill>
                <a:latin typeface="Calibri"/>
              </a:rPr>
              <a:t>→ Élargir cohorte NHP ou données historiques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78608"/>
            <a:ext cx="292608" cy="1051560"/>
          </a:xfrm>
          <a:prstGeom prst="rect">
            <a:avLst/>
          </a:prstGeom>
          <a:solidFill>
            <a:srgbClr val="CB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871216"/>
            <a:ext cx="256032" cy="47548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10607040" cy="4114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7D6008"/>
                </a:solidFill>
                <a:latin typeface="Calibri"/>
              </a:rPr>
              <a:t>⚠  Calibration PD visuelle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621792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B4F72"/>
                </a:solidFill>
                <a:latin typeface="Calibri"/>
              </a:rPr>
              <a:t>Absence d'IC formels sur les Slopes → incertitude sur les paramètres non quantifiée rigoureusement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907792"/>
            <a:ext cx="4663440" cy="6583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926080"/>
            <a:ext cx="448056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0" i="1">
                <a:solidFill>
                  <a:srgbClr val="2E86AB"/>
                </a:solidFill>
                <a:latin typeface="Calibri"/>
              </a:rPr>
              <a:t>→ NLME (nlmixr2) pour IC95% rigoureux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39896"/>
            <a:ext cx="292608" cy="1051560"/>
          </a:xfrm>
          <a:prstGeom prst="rect">
            <a:avLst/>
          </a:prstGeom>
          <a:solidFill>
            <a:srgbClr val="CB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4032504"/>
            <a:ext cx="256032" cy="47548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39896"/>
            <a:ext cx="10607040" cy="4114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7D6008"/>
                </a:solidFill>
                <a:latin typeface="Calibri"/>
              </a:rPr>
              <a:t>⚠  Transposition PD inter-espèces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621792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B4F72"/>
                </a:solidFill>
                <a:latin typeface="Calibri"/>
              </a:rPr>
              <a:t>Hypothèse de conservation des Slopes NHP→humain non démontrée → données CFU nécessaires pour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4069080"/>
            <a:ext cx="4663440" cy="6583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087368"/>
            <a:ext cx="448056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0" i="1">
                <a:solidFill>
                  <a:srgbClr val="2E86AB"/>
                </a:solidFill>
                <a:latin typeface="Calibri"/>
              </a:rPr>
              <a:t>→ Expériences CFU in vitro sur progéniteurs humains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901184"/>
            <a:ext cx="292608" cy="1051560"/>
          </a:xfrm>
          <a:prstGeom prst="rect">
            <a:avLst/>
          </a:prstGeom>
          <a:solidFill>
            <a:srgbClr val="CB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5193792"/>
            <a:ext cx="256032" cy="475488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01184"/>
            <a:ext cx="10607040" cy="4114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500" b="1" i="0">
                <a:solidFill>
                  <a:srgbClr val="7D6008"/>
                </a:solidFill>
                <a:latin typeface="Calibri"/>
              </a:rPr>
              <a:t>⚠  Pas de modèle d'efficacité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21808"/>
            <a:ext cx="621792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B4F72"/>
                </a:solidFill>
                <a:latin typeface="Calibri"/>
              </a:rPr>
              <a:t>Pipeline centré toxicité uniquement → analyse bénéfice-risque incomplète pour décision dose FIH finale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5230368"/>
            <a:ext cx="4663440" cy="6583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5248656"/>
            <a:ext cx="4480560" cy="62179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200" b="0" i="1">
                <a:solidFill>
                  <a:srgbClr val="2E86AB"/>
                </a:solidFill>
                <a:latin typeface="Calibri"/>
              </a:rPr>
              <a:t>→ Modélisation PK/PD tumorale complémentaire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2083" dur="indefinite" restart="whenNotActive" nodeType="tmRoot">
          <p:childTnLst>
            <p:seq concurrent="1" nextAc="seek">
              <p:cTn id="2082" dur="indefinite" nodeType="mainSeq">
                <p:childTnLst>
                  <p:par>
                    <p:cTn id="1938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39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40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944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1945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46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950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95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52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956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957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58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962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963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6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68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1969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70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74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1975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76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980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1981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82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986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1987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88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992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1993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9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998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1999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00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004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2005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06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010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2011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12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016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2017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18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022" presetID="10" presetClass="entr" presetSubtype="0" fill="hold" grpId="0" nodeType="afterEffect">
                      <p:stCondLst>
                        <p:cond delay="4900"/>
                      </p:stCondLst>
                      <p:childTnLst>
                        <p:set>
                          <p:cBhvr>
                            <p:cTn id="2023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2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028" presetID="10" presetClass="entr" presetSubtype="0" fill="hold" grpId="0" nodeType="afterEffect">
                      <p:stCondLst>
                        <p:cond delay="5250"/>
                      </p:stCondLst>
                      <p:childTnLst>
                        <p:set>
                          <p:cBhvr>
                            <p:cTn id="2029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30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034" presetID="10" presetClass="entr" presetSubtype="0" fill="hold" grpId="0" nodeType="afterEffect">
                      <p:stCondLst>
                        <p:cond delay="5600"/>
                      </p:stCondLst>
                      <p:childTnLst>
                        <p:set>
                          <p:cBhvr>
                            <p:cTn id="2035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36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040" presetID="10" presetClass="entr" presetSubtype="0" fill="hold" grpId="0" nodeType="afterEffect">
                      <p:stCondLst>
                        <p:cond delay="5950"/>
                      </p:stCondLst>
                      <p:childTnLst>
                        <p:set>
                          <p:cBhvr>
                            <p:cTn id="2041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42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2046" presetID="10" presetClass="entr" presetSubtype="0" fill="hold" grpId="0" nodeType="afterEffect">
                      <p:stCondLst>
                        <p:cond delay="6300"/>
                      </p:stCondLst>
                      <p:childTnLst>
                        <p:set>
                          <p:cBhvr>
                            <p:cTn id="2047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48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2052" presetID="10" presetClass="entr" presetSubtype="0" fill="hold" grpId="0" nodeType="afterEffect">
                      <p:stCondLst>
                        <p:cond delay="6650"/>
                      </p:stCondLst>
                      <p:childTnLst>
                        <p:set>
                          <p:cBhvr>
                            <p:cTn id="2053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54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2058" presetID="10" presetClass="entr" presetSubtype="0" fill="hold" grpId="0" nodeType="afterEffect">
                      <p:stCondLst>
                        <p:cond delay="7000"/>
                      </p:stCondLst>
                      <p:childTnLst>
                        <p:set>
                          <p:cBhvr>
                            <p:cTn id="2059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60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2064" presetID="10" presetClass="entr" presetSubtype="0" fill="hold" grpId="0" nodeType="afterEffect">
                      <p:stCondLst>
                        <p:cond delay="7350"/>
                      </p:stCondLst>
                      <p:childTnLst>
                        <p:set>
                          <p:cBhvr>
                            <p:cTn id="2065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66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2070" presetID="10" presetClass="entr" presetSubtype="0" fill="hold" grpId="0" nodeType="afterEffect">
                      <p:stCondLst>
                        <p:cond delay="7700"/>
                      </p:stCondLst>
                      <p:childTnLst>
                        <p:set>
                          <p:cBhvr>
                            <p:cTn id="2071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72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2076" presetID="10" presetClass="entr" presetSubtype="0" fill="hold" grpId="0" nodeType="afterEffect">
                      <p:stCondLst>
                        <p:cond delay="8050"/>
                      </p:stCondLst>
                      <p:childTnLst>
                        <p:set>
                          <p:cBhvr>
                            <p:cTn id="2077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78"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Perspectives : vers le NLME (nlmixr2)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5394960" cy="33375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21208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5D6D7E"/>
                </a:solidFill>
                <a:latin typeface="Calibri"/>
              </a:rPr>
              <a:t>Approche actuelle — 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93392"/>
            <a:ext cx="5212080" cy="26060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Estimation individuelle Nelder-Mead</a:t>
            </a:r>
          </a:p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→ Moyenne des paramètres individuels</a:t>
            </a:r>
          </a:p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❌  Pas d'IC formels sur Slopes PD</a:t>
            </a:r>
          </a:p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❌  Variabilité inter-individuelle ignorée</a:t>
            </a:r>
          </a:p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❌  Données BLQ non intégrées</a:t>
            </a:r>
          </a:p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❌  Corrélations entre paramètres perdues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3872" y="2788920"/>
            <a:ext cx="411480" cy="8229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28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89888"/>
            <a:ext cx="5394960" cy="3337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521208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NLME (nlmixr2) — Apports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93392"/>
            <a:ext cx="5212080" cy="260604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θpop + ω² + ε estimés simultanément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IC95% rigoureux sur les Slopes PD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Meilleure caractérisation variabilité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Intégration données BLQ (M3 method)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Matrice Ω : corrélations paramètres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864608"/>
            <a:ext cx="11521440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892040"/>
            <a:ext cx="11338560" cy="7315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Approche bayésienne : priors rat/T-DXd → régulariser estimation NLME NHP (n=2/groupe)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nlmixr2 est l'implémentation R de référence — intégrable directement dans le pipeline existant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806440"/>
            <a:ext cx="11521440" cy="43891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200" b="0" i="1">
                <a:solidFill>
                  <a:srgbClr val="5D6D7E"/>
                </a:solidFill>
                <a:latin typeface="Calibri"/>
              </a:rPr>
              <a:t>NLME = Non-Linear Mixed Effects  |  nlmixr2 : package R CRAN, intégration ODE, algorithme SAEM/FOCE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2153" dur="indefinite" restart="whenNotActive" nodeType="tmRoot">
          <p:childTnLst>
            <p:seq concurrent="1" nextAc="seek">
              <p:cTn id="2152" dur="indefinite" nodeType="mainSeq">
                <p:childTnLst>
                  <p:par>
                    <p:cTn id="209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93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94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2098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2099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00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104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2105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06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110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11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12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116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2117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18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122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2123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24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128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2129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30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134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2135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36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40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2141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4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146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2147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48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9601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Impact opérationnel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3749039" cy="4251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35608"/>
            <a:ext cx="35661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① Dose FIH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2084831"/>
            <a:ext cx="3566160" cy="4572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176272"/>
            <a:ext cx="3566160" cy="33375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Simulation des grades G3-4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à différentes doses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Sélection dose initiale :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 &lt; 10% G3-4 prédit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Décision data-driven,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non empirique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389888"/>
            <a:ext cx="3749039" cy="4251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435608"/>
            <a:ext cx="35661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② Monitoring clinique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2084831"/>
            <a:ext cx="3566160" cy="4572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176272"/>
            <a:ext cx="3566160" cy="33375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Prédiction du timing du nadir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par lignée cellulaire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Fréquence hémogrammes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 adaptée à la cinétique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Surveillance ciblée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pas systématique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389888"/>
            <a:ext cx="3749039" cy="42519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435608"/>
            <a:ext cx="3566160" cy="5943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③ Comm. MIDD réglementaire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11896" y="2084831"/>
            <a:ext cx="3566160" cy="4572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2176272"/>
            <a:ext cx="3566160" cy="333756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Model-Informed Drug Development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Valorisé FDA/EMA dans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 dossiers IND/CTA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Accélère dialogue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réglementaire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806440"/>
            <a:ext cx="11521440" cy="566928"/>
          </a:xfrm>
          <a:prstGeom prst="rect">
            <a:avLst/>
          </a:prstGeom>
          <a:solidFill>
            <a:srgbClr val="FD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24728"/>
            <a:ext cx="11338560" cy="50292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300" b="0" i="1">
                <a:solidFill>
                  <a:srgbClr val="7D6008"/>
                </a:solidFill>
                <a:latin typeface="Calibri"/>
              </a:rPr>
              <a:t>Note honnête : pipeline fonctionnel en scripts R (28 scripts modulaires) — pas encore déployé comme outil clé-en-main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2229" dur="indefinite" restart="whenNotActive" nodeType="tmRoot">
          <p:childTnLst>
            <p:seq concurrent="1" nextAc="seek">
              <p:cTn id="2228" dur="indefinite" nodeType="mainSeq">
                <p:childTnLst>
                  <p:par>
                    <p:cTn id="216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63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64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2168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2169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70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174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2175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76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180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18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82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186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2187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88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192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2193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94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98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2199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00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04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2205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06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210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2211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12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216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2217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18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222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2223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24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521440" cy="80467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05840"/>
            <a:ext cx="7616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128016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Calibri"/>
              </a:rPr>
              <a:t>Pipeline PK/PD semi-mécanistique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097280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  <a:latin typeface="Calibri"/>
              </a:rPr>
              <a:t>Complet, reproductible, multi-espèces &amp; multi-composés — cadre Friberg/Fornari unifié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9152"/>
            <a:ext cx="128016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1097280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Calibri"/>
              </a:rPr>
              <a:t>Validation clinique T-DXd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34640"/>
            <a:ext cx="1097280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  <a:latin typeface="Calibri"/>
              </a:rPr>
              <a:t>29.3% vs 29% neutropénie — 67.7% vs 70% anémie — concordance remarquable dossier FDA BLA 761139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547872"/>
            <a:ext cx="128016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547872"/>
            <a:ext cx="1097280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Calibri"/>
              </a:rPr>
              <a:t>Application composé interne NHP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023360"/>
            <a:ext cx="1097280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  <a:latin typeface="Calibri"/>
              </a:rPr>
              <a:t>PK robuste (résidus &lt;12%) — calibration PD préliminaire — base solide pour la dose FIH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736592"/>
            <a:ext cx="128016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736592"/>
            <a:ext cx="10972800" cy="4572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Calibri"/>
              </a:rPr>
              <a:t>Complémentarité SDS × Pharmacologie quantitative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212080"/>
            <a:ext cx="10972800" cy="64008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  <a:latin typeface="Calibri"/>
              </a:rPr>
              <a:t>Optimisation posologique, simulation de cohortes, diagnostics statistiques rigoureux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25312"/>
            <a:ext cx="11521440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053328"/>
            <a:ext cx="11521440" cy="530352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mbria"/>
              </a:rPr>
              <a:t>Merci de votre attention — je suis à votre disposition pour les questions</a:t>
            </a:r>
          </a:p>
        </p:txBody>
      </p:sp>
    </p:spTree>
  </p:cSld>
  <p:clrMapOvr>
    <a:masterClrMapping/>
  </p:clrMapOvr>
  <p:transition spd="med" dur="500">
    <p:fade/>
  </p:transition>
  <p:timing>
    <p:tnLst>
      <p:par>
        <p:cTn id="2323" dur="indefinite" restart="whenNotActive" nodeType="tmRoot">
          <p:childTnLst>
            <p:seq concurrent="1" nextAc="seek">
              <p:cTn id="2322" dur="indefinite" nodeType="mainSeq">
                <p:childTnLst>
                  <p:par>
                    <p:cTn id="2238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39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40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244" presetID="10" presetClass="entr" presetSubtype="0" fill="hold" grpId="0" nodeType="afterEffect">
                      <p:stCondLst>
                        <p:cond delay="350"/>
                      </p:stCondLst>
                      <p:childTnLst>
                        <p:set>
                          <p:cBhvr>
                            <p:cTn id="2245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46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250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225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52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256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257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58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262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2263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6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268" presetID="10" presetClass="entr" presetSubtype="0" fill="hold" grpId="0" nodeType="afterEffect">
                      <p:stCondLst>
                        <p:cond delay="1750"/>
                      </p:stCondLst>
                      <p:childTnLst>
                        <p:set>
                          <p:cBhvr>
                            <p:cTn id="2269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70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274" presetID="10" presetClass="entr" presetSubtype="0" fill="hold" grpId="0" nodeType="afterEffect">
                      <p:stCondLst>
                        <p:cond delay="2100"/>
                      </p:stCondLst>
                      <p:childTnLst>
                        <p:set>
                          <p:cBhvr>
                            <p:cTn id="2275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76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280" presetID="10" presetClass="entr" presetSubtype="0" fill="hold" grpId="0" nodeType="afterEffect">
                      <p:stCondLst>
                        <p:cond delay="2450"/>
                      </p:stCondLst>
                      <p:childTnLst>
                        <p:set>
                          <p:cBhvr>
                            <p:cTn id="2281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82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286" presetID="10" presetClass="entr" presetSubtype="0" fill="hold" grpId="0" nodeType="afterEffect">
                      <p:stCondLst>
                        <p:cond delay="2800"/>
                      </p:stCondLst>
                      <p:childTnLst>
                        <p:set>
                          <p:cBhvr>
                            <p:cTn id="2287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88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292" presetID="10" presetClass="entr" presetSubtype="0" fill="hold" grpId="0" nodeType="afterEffect">
                      <p:stCondLst>
                        <p:cond delay="3150"/>
                      </p:stCondLst>
                      <p:childTnLst>
                        <p:set>
                          <p:cBhvr>
                            <p:cTn id="2293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9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298" presetID="10" presetClass="entr" presetSubtype="0" fill="hold" grpId="0" nodeType="afterEffect">
                      <p:stCondLst>
                        <p:cond delay="3500"/>
                      </p:stCondLst>
                      <p:childTnLst>
                        <p:set>
                          <p:cBhvr>
                            <p:cTn id="2299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00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304" presetID="10" presetClass="entr" presetSubtype="0" fill="hold" grpId="0" nodeType="afterEffect">
                      <p:stCondLst>
                        <p:cond delay="3850"/>
                      </p:stCondLst>
                      <p:childTnLst>
                        <p:set>
                          <p:cBhvr>
                            <p:cTn id="2305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06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310" presetID="10" presetClass="entr" presetSubtype="0" fill="hold" grpId="0" nodeType="afterEffect">
                      <p:stCondLst>
                        <p:cond delay="4200"/>
                      </p:stCondLst>
                      <p:childTnLst>
                        <p:set>
                          <p:cBhvr>
                            <p:cTn id="2311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12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316" presetID="10" presetClass="entr" presetSubtype="0" fill="hold" grpId="0" nodeType="afterEffect">
                      <p:stCondLst>
                        <p:cond delay="4550"/>
                      </p:stCondLst>
                      <p:childTnLst>
                        <p:set>
                          <p:cBhvr>
                            <p:cTn id="2317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18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