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Modele PK/PD T-DXd — Resultats et Prochaines Etapes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CCEE"/>
                </a:solidFill>
              </a:rPr>
              <a:t>Trastuzumab deruxtecan (ENHERTU) — Toxicite hematologique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1828800" y="3017520"/>
            <a:ext cx="8503920" cy="25400"/>
          </a:xfrm>
          <a:prstGeom prst="parallelogram">
            <a:avLst/>
          </a:prstGeom>
          <a:noFill/>
          <a:ln w="12700">
            <a:solidFill>
              <a:srgbClr val="74A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291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DEEFF"/>
                </a:solidFill>
              </a:rPr>
              <a:t>  Modele : PK 2-compartiments ADC + Fornari 2019 (hematopoiese 20 etats)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587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DEEFF"/>
                </a:solidFill>
              </a:rPr>
              <a:t>  Population : N=300 patients, IIV log-normale (Yin 2020)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2569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DEEFF"/>
                </a:solidFill>
              </a:rPr>
              <a:t>  Validation : FDA BLA 761139 — DESTINY-Breast01 (n=184)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9262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DEEFF"/>
                </a:solidFill>
              </a:rPr>
              <a:t>  Dose : 5.4 mg/kg Q3W x6 cycles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Structure du modele PK/PD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365760" y="777240"/>
            <a:ext cx="11430000" cy="25400"/>
          </a:xfrm>
          <a:prstGeom prst="parallelogram">
            <a:avLst/>
          </a:prstGeom>
          <a:noFill/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011680" cy="128016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ADC serum
2 compartiments
(Yin 2020)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005840"/>
            <a:ext cx="2011680" cy="1280160"/>
          </a:xfrm>
          <a:prstGeom prst="rect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09728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DXd plasma
1 compartiment
Cmax=3.8 ng/mL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005840"/>
            <a:ext cx="1828800" cy="1280160"/>
          </a:xfrm>
          <a:prstGeom prst="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09728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DXd intra-
cellulaire
(x35)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005840"/>
            <a:ext cx="1828800" cy="1280160"/>
          </a:xfrm>
          <a:prstGeom prst="rect">
            <a:avLst/>
          </a:prstGeom>
          <a:solidFill>
            <a:srgbClr val="99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1097280"/>
            <a:ext cx="1737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Dommages ADN
(Damage)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44"/>
                </a:solidFill>
              </a:rPr>
              <a:t>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44"/>
                </a:solidFill>
              </a:rPr>
              <a:t>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7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44"/>
                </a:solidFill>
              </a:rPr>
              <a:t>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14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67E00"/>
                </a:solidFill>
              </a:rPr>
              <a:t>Driver toxicite : C_ADC1 [ug/mL]  (surrogate — justification FDA BLA 761139 p.95)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1097280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Modele hematopoiese Fornari 2019 (20 etats)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1371600" cy="640080"/>
          </a:xfrm>
          <a:prstGeom prst="rect">
            <a:avLst/>
          </a:prstGeom>
          <a:solidFill>
            <a:srgbClr val="6B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3716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566160"/>
            <a:ext cx="1371600" cy="640080"/>
          </a:xfrm>
          <a:prstGeom prst="rect">
            <a:avLst/>
          </a:prstGeom>
          <a:solidFill>
            <a:srgbClr val="74A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3657600"/>
            <a:ext cx="13716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CMP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3566160"/>
            <a:ext cx="1371600" cy="640080"/>
          </a:xfrm>
          <a:prstGeom prst="rect">
            <a:avLst/>
          </a:prstGeom>
          <a:solidFill>
            <a:srgbClr val="74A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3657600"/>
            <a:ext cx="13716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4572000"/>
            <a:ext cx="1371600" cy="640080"/>
          </a:xfrm>
          <a:prstGeom prst="rect">
            <a:avLst/>
          </a:prstGeom>
          <a:solidFill>
            <a:srgbClr val="D66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4663440"/>
            <a:ext cx="13716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Neut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4572000"/>
            <a:ext cx="1463040" cy="640080"/>
          </a:xfrm>
          <a:prstGeom prst="rect">
            <a:avLst/>
          </a:prstGeom>
          <a:solidFill>
            <a:srgbClr val="F4A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4663440"/>
            <a:ext cx="14630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RBC/Ret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4572000"/>
            <a:ext cx="1371600" cy="640080"/>
          </a:xfrm>
          <a:prstGeom prst="rect">
            <a:avLst/>
          </a:prstGeom>
          <a:solidFill>
            <a:srgbClr val="FDA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4663440"/>
            <a:ext cx="13716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38328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Kill terms :
Slope_CMP x Damage
-&gt; CMP (neutrophiles)
Slope_MEP x Damage
-&gt; MEP (erythrocytes)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Resultats : Grades CTCAE vs FDA DESTINY-Breast01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365760" y="777240"/>
            <a:ext cx="11430000" cy="25400"/>
          </a:xfrm>
          <a:prstGeom prst="parallelogram">
            <a:avLst/>
          </a:prstGeom>
          <a:noFill/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394960" cy="5303520"/>
          </a:xfrm>
          <a:prstGeom prst="rect">
            <a:avLst/>
          </a:prstGeom>
          <a:solidFill>
            <a:srgbClr val="EBF3FB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NEUTROPENIE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463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Modele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63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FDA</a:t>
            </a:r>
          </a:p>
        </p:txBody>
      </p:sp>
      <p:sp>
        <p:nvSpPr>
          <p:cNvPr id="9" name="Parallelogram 8"/>
          <p:cNvSpPr/>
          <p:nvPr/>
        </p:nvSpPr>
        <p:spPr>
          <a:xfrm>
            <a:off x="548640" y="1783080"/>
            <a:ext cx="5029200" cy="25400"/>
          </a:xfrm>
          <a:prstGeom prst="parallelogram">
            <a:avLst/>
          </a:prstGeom>
          <a:noFill/>
          <a:ln w="1016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G0  (&gt;=2.0)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8745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71%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04287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G1  (1.5-2.0)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30428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0428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34056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G2  (1.0-1.5)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7340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340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6382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G3  (0.5-1.0)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16382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16382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93591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G4  (&lt;0.5)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59359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59359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95927"/>
            <a:ext cx="5303520" cy="393192"/>
          </a:xfrm>
          <a:prstGeom prst="rect">
            <a:avLst/>
          </a:prstGeom>
          <a:solidFill>
            <a:srgbClr val="D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23359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G3-4 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0233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15.7%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0233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44444"/>
                </a:solidFill>
              </a:rPr>
              <a:t>16-20%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02335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C"/>
                </a:solidFill>
              </a:rPr>
              <a:t>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25695"/>
            <a:ext cx="5303520" cy="393192"/>
          </a:xfrm>
          <a:prstGeom prst="rect">
            <a:avLst/>
          </a:prstGeom>
          <a:solidFill>
            <a:srgbClr val="D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53127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Tout grade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45312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182B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45312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44444"/>
                </a:solidFill>
              </a:rPr>
              <a:t>29%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453127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2182B"/>
                </a:solidFill>
              </a:rPr>
              <a:t>(!)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914400"/>
            <a:ext cx="5394960" cy="5303520"/>
          </a:xfrm>
          <a:prstGeom prst="rect">
            <a:avLst/>
          </a:prstGeom>
          <a:solidFill>
            <a:srgbClr val="FEF0EB"/>
          </a:solidFill>
          <a:ln w="12700">
            <a:solidFill>
              <a:srgbClr val="B2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960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2182B"/>
                </a:solidFill>
              </a:rPr>
              <a:t>ANEMIE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1463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Grade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9" y="1463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Modele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1463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FDA</a:t>
            </a:r>
          </a:p>
        </p:txBody>
      </p:sp>
      <p:sp>
        <p:nvSpPr>
          <p:cNvPr id="40" name="Parallelogram 39"/>
          <p:cNvSpPr/>
          <p:nvPr/>
        </p:nvSpPr>
        <p:spPr>
          <a:xfrm>
            <a:off x="6492240" y="1783080"/>
            <a:ext cx="5029200" cy="25400"/>
          </a:xfrm>
          <a:prstGeom prst="parallelogram">
            <a:avLst/>
          </a:prstGeom>
          <a:noFill/>
          <a:ln w="10160">
            <a:solidFill>
              <a:srgbClr val="B2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1874519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G0  (RBC &gt;90%)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18745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18745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30%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304287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G1  (RBC 83-90%)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230428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230428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37%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2734056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G2  (RBC 67-83%)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27340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94%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7340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24%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316382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G3  (RBC 54-67%)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316382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316382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3593591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G4  (RBC &lt;54%)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359359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359359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3995927"/>
            <a:ext cx="5303520" cy="393192"/>
          </a:xfrm>
          <a:prstGeom prst="rect">
            <a:avLst/>
          </a:prstGeom>
          <a:solidFill>
            <a:srgbClr val="F9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4023359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G3-4 TOTAL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0" y="40233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3C"/>
                </a:solidFill>
              </a:rPr>
              <a:t>6.0%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40233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44444"/>
                </a:solidFill>
              </a:rPr>
              <a:t>~9%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0" y="402335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C"/>
                </a:solidFill>
              </a:rPr>
              <a:t>~OK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425695"/>
            <a:ext cx="5303520" cy="393192"/>
          </a:xfrm>
          <a:prstGeom prst="rect">
            <a:avLst/>
          </a:prstGeom>
          <a:solidFill>
            <a:srgbClr val="F9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4453127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Tout grade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20" y="445312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7E00"/>
                </a:solidFill>
              </a:rPr>
              <a:t>100%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445312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44444"/>
                </a:solidFill>
              </a:rPr>
              <a:t>~70%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4453127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00"/>
                </a:solidFill>
              </a:rPr>
              <a:t>(!)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Bilan : Forces et Limitations du Modele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365760" y="777240"/>
            <a:ext cx="11430000" cy="25400"/>
          </a:xfrm>
          <a:prstGeom prst="parallelogram">
            <a:avLst/>
          </a:prstGeom>
          <a:noFill/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394960" cy="5303520"/>
          </a:xfrm>
          <a:prstGeom prst="rect">
            <a:avLst/>
          </a:prstGeom>
          <a:solidFill>
            <a:srgbClr val="EBF7ED"/>
          </a:solidFill>
          <a:ln w="127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7A3C"/>
                </a:solidFill>
              </a:rPr>
              <a:t>Ce qui fonctionne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PK ADC validee : Cmax 121 ug/mL (FDA 122) +0.8%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21991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G3-4 neutropenie : 15.7%  (FDA 16-20%)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21991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35224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G3-4 anemie : 6.0%  (FDA ~9%) proche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352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48456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Chaine mecanistique complete :
  ADC -&gt; DXd -&gt; Damage -&gt; 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484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16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IIV log-normale calibree
  (Yin 2020 / Fornari 2019)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616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Scaling rat -&gt; humain coherent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914400"/>
            <a:ext cx="5394960" cy="5303520"/>
          </a:xfrm>
          <a:prstGeom prst="rect">
            <a:avLst/>
          </a:prstGeom>
          <a:solidFill>
            <a:srgbClr val="FEF0EB"/>
          </a:solidFill>
          <a:ln w="12700">
            <a:solidFill>
              <a:srgbClr val="B2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960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2182B"/>
                </a:solidFill>
              </a:rPr>
              <a:t>Limitations identifiees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5087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100% tout grade neutropenie
  (FDA ~29%) — surestimation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2182B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5000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Driver toxicite : C_ADC1
  (FDA utilise DXd Cavg — p.95)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3500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0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191256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DXd plasma T½ modele = 1h
  vs T½ apparent FDA = 5.8j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1912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00"/>
                </a:solidFill>
              </a:rPr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032504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G0 neutropenie : 0%
  (FDA ~71%) — tous les patients
  ont une chute de neutrophiles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03250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2182B"/>
                </a:solidFill>
              </a:rP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87375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  Anémie tout grade : 100%
  (FDA ~70%) — proche mais
  distribution G0/G1/G2 decalee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737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00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Cause Racine : Limitation du Modele Fornari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365760" y="777240"/>
            <a:ext cx="11430000" cy="25400"/>
          </a:xfrm>
          <a:prstGeom prst="parallelogram">
            <a:avLst/>
          </a:prstGeom>
          <a:noFill/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2182B"/>
                </a:solidFill>
              </a:rPr>
              <a:t>Limite structurelle : le modele Fornari predit un effet pour tout Damage &gt; 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0972800" cy="2103120"/>
          </a:xfrm>
          <a:prstGeom prst="rect">
            <a:avLst/>
          </a:prstGeom>
          <a:solidFill>
            <a:srgbClr val="F0F4F8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Terme kill dans Fornari :  dCMP/dt  =  ...  -  Slope_CMP x Damage x CMP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-&gt; Kill_CMP = Slope_CMP x Damage   (terme LINEAIRE, pas de seuil)
  -&gt; Si Damage &gt; 0, meme tres faible, il y a toujours une suppression de CMP
  -&gt; Avec T½ ADC = 23j &gt; Q3W = 21j : C_ADC1 trough ≈ 60 ug/mL entre cycles
  -&gt; Damage residuel ≠ 0  =&gt;  Kill ≠ 0  =&gt;  tous les patients ont Neut &lt;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67E00"/>
                </a:solidFill>
              </a:rPr>
              <a:t>Le modele Fornari a ete concu pour le carboplatin (T½ court) : drug efface entre cycles -&gt; Damage = 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51960"/>
            <a:ext cx="5212080" cy="2286000"/>
          </a:xfrm>
          <a:prstGeom prst="rect">
            <a:avLst/>
          </a:prstGeom>
          <a:solidFill>
            <a:srgbClr val="FEF0EB"/>
          </a:solidFill>
          <a:ln w="12700">
            <a:solidFill>
              <a:srgbClr val="B2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182B"/>
                </a:solidFill>
              </a:rPr>
              <a:t>Pourquoi Fornari ne suffit pas ici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Terme kill lineaire : pas de seuil en dessous
  duquel l'effet est nul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754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182B"/>
                </a:solidFill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Feedback (proliferation compensatrice) ne
  compense pas un kill permanent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182B"/>
                </a:solidFill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Concu pour agents a courte demi-vie,
  pas pour ADC a longue T½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52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182B"/>
                </a:solidFill>
              </a:rPr>
              <a:t>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51960"/>
            <a:ext cx="5394960" cy="2286000"/>
          </a:xfrm>
          <a:prstGeom prst="rect">
            <a:avLst/>
          </a:prstGeom>
          <a:solidFill>
            <a:srgbClr val="FEF9EC"/>
          </a:solidFill>
          <a:ln w="12700">
            <a:solidFill>
              <a:srgbClr val="E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297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00"/>
                </a:solidFill>
              </a:rPr>
              <a:t>Ce qu'il faudrait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54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Modifier Fornari : ajouter un seuil
  minimal de Damage effectif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754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00"/>
                </a:solidFill>
              </a:rPr>
              <a:t>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303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Ou adapter le kill term pour ADC
  (dependance non-lineaire du Damage)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303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00"/>
                </a:solidFill>
              </a:rPr>
              <a:t>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852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Ou utiliser un modele PD different
  pour les ADC a longue T½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852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00"/>
                </a:solidFill>
              </a:rPr>
              <a:t>-&gt;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Prochaines Etapes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365760" y="777240"/>
            <a:ext cx="11430000" cy="25400"/>
          </a:xfrm>
          <a:prstGeom prst="parallelogram">
            <a:avLst/>
          </a:prstGeom>
          <a:noFill/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685800" cy="685800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2471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515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2182B"/>
                </a:solidFill>
              </a:rPr>
              <a:t>Corriger le PK du DXd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630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T½ modele = 1h vs FDA = 5.8j  -&gt;  ajouter compartiment DXd lie/libre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39"/>
            <a:ext cx="685800" cy="685800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50591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77439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2182B"/>
                </a:solidFill>
              </a:rPr>
              <a:t>Recalibrer Slope_CMP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88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Apres correction PK, re-scanner pour maintenir G3-4 neutropenie = 16-20%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685800" cy="6858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7647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7033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00"/>
                </a:solidFill>
              </a:rPr>
              <a:t>Adapter le modele Fornari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Terme kill lineaire inadapte aux ADC longue T½  -&gt;  ajouter seuil Damage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029200"/>
            <a:ext cx="685800" cy="68580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10235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0292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6AC"/>
                </a:solidFill>
              </a:rPr>
              <a:t>Valider PD rat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440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Comparer nadirs Neut/Plt simules avec donnees precliniques T-DXd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Resume Executif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1371600" y="1097280"/>
            <a:ext cx="9418320" cy="25400"/>
          </a:xfrm>
          <a:prstGeom prst="parallelogram">
            <a:avLst/>
          </a:prstGeom>
          <a:noFill/>
          <a:ln w="19050">
            <a:solidFill>
              <a:srgbClr val="74A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103120" cy="2560320"/>
          </a:xfrm>
          <a:prstGeom prst="rect">
            <a:avLst/>
          </a:prstGeom>
          <a:solidFill>
            <a:srgbClr val="254A70"/>
          </a:solidFill>
          <a:ln w="127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03120" cy="4572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PK ADC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Cmax = 121 ug/mL
FDA = 122 ug/mL
+0.8%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371600"/>
            <a:ext cx="2103120" cy="2560320"/>
          </a:xfrm>
          <a:prstGeom prst="rect">
            <a:avLst/>
          </a:prstGeom>
          <a:solidFill>
            <a:srgbClr val="254A70"/>
          </a:solidFill>
          <a:ln w="127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88920" y="1371600"/>
            <a:ext cx="2103120" cy="4572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3898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G3-4 Neut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9202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Modele : 15.7%
FDA : 16-20%
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371600"/>
            <a:ext cx="2103120" cy="2560320"/>
          </a:xfrm>
          <a:prstGeom prst="rect">
            <a:avLst/>
          </a:prstGeom>
          <a:solidFill>
            <a:srgbClr val="254A70"/>
          </a:solidFill>
          <a:ln w="127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1371600"/>
            <a:ext cx="2103120" cy="4572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3898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G3-4 Anemie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19202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Modele : 6.0%
FDA : ~9%
Proche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59" y="1371600"/>
            <a:ext cx="2103120" cy="2560320"/>
          </a:xfrm>
          <a:prstGeom prst="rect">
            <a:avLst/>
          </a:prstGeom>
          <a:solidFill>
            <a:srgbClr val="254A70"/>
          </a:solidFill>
          <a:ln w="12700">
            <a:solidFill>
              <a:srgbClr val="B2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59" y="1371600"/>
            <a:ext cx="2103120" cy="457200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59" y="13898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Tout grade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799" y="19202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Modele : 100%
FDA : 29%
A corriger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371600"/>
            <a:ext cx="2103120" cy="2560320"/>
          </a:xfrm>
          <a:prstGeom prst="rect">
            <a:avLst/>
          </a:prstGeom>
          <a:solidFill>
            <a:srgbClr val="254A70"/>
          </a:solidFill>
          <a:ln w="12700">
            <a:solidFill>
              <a:srgbClr val="E6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1371600"/>
            <a:ext cx="2103120" cy="4572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38988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Driver PD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19202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C_ADC1
FDA : DXd Cavg
Limitation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D77"/>
                </a:solidFill>
              </a:rPr>
              <a:t>Modele fonctionnel pour G3-4. Priorite : corriger DXd PK + adapter Fornari pour ADC longue T½.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BBDD"/>
                </a:solidFill>
              </a:rPr>
              <a:t>Branche git : claude/analyze-script-tdxd-Ox5X4
Fichiers cles : parameters_tdxd_human.R | pkpd_tdxd_rat.R | run_pkpd_tdxd_human_population.R
Resultats : scripts_tdxd/results_PKPD_human/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