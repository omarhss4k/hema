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Modele PK/PD T-DXd</a:t>
            </a:r>
          </a:p>
          <a:p>
            <a:pPr algn="ctr"/>
            <a:r>
              <a:rPr sz="2400" b="0">
                <a:solidFill>
                  <a:srgbClr val="AACCFF"/>
                </a:solidFill>
              </a:rPr>
              <a:t>Simulation population - Toxicite hematologique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DDEEFF"/>
                </a:solidFill>
              </a:rPr>
              <a:t>Validation FDA BLA 761139 | DESTINY-Breast01</a:t>
            </a:r>
          </a:p>
          <a:p>
            <a:pPr algn="ctr"/>
            <a:r>
              <a:rPr sz="1600">
                <a:solidFill>
                  <a:srgbClr val="DDEEFF"/>
                </a:solidFill>
              </a:rPr>
              <a:t>N = 200 patients simules | Neutropenie &amp; Anemie CTCAE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8595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7BB6"/>
                </a:solidFill>
              </a:rPr>
              <a:t>Schema du modele PK/PD T-DXd</a:t>
            </a:r>
          </a:p>
        </p:txBody>
      </p:sp>
      <p:pic>
        <p:nvPicPr>
          <p:cNvPr id="3" name="Picture 2" descr="schema_mode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82296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8595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7BB6"/>
                </a:solidFill>
              </a:rPr>
              <a:t>Validation PK -- ADC &amp; DXd vs FDA BLA 761139</a:t>
            </a:r>
          </a:p>
        </p:txBody>
      </p:sp>
      <p:pic>
        <p:nvPicPr>
          <p:cNvPr id="3" name="Picture 2" descr="pk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82296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8595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7BB6"/>
                </a:solidFill>
              </a:rPr>
              <a:t>Profil PD -- Patient typique (parametres medianes)</a:t>
            </a:r>
          </a:p>
        </p:txBody>
      </p:sp>
      <p:pic>
        <p:nvPicPr>
          <p:cNvPr id="3" name="Picture 2" descr="pd_neut_typ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82296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8595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7BB6"/>
                </a:solidFill>
              </a:rPr>
              <a:t>Simulation population N=200 -- Grades CTCAE neutropenie &amp; anemie</a:t>
            </a:r>
          </a:p>
        </p:txBody>
      </p:sp>
      <p:pic>
        <p:nvPicPr>
          <p:cNvPr id="3" name="Picture 2" descr="population_gra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82296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8595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7BB6"/>
                </a:solidFill>
              </a:rPr>
              <a:t>Distribution des nadirs -- Neutrophiles &amp; Hemoglobine</a:t>
            </a:r>
          </a:p>
        </p:txBody>
      </p:sp>
      <p:pic>
        <p:nvPicPr>
          <p:cNvPr id="3" name="Picture 2" descr="nadir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82296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8595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7BB6"/>
                </a:solidFill>
              </a:rPr>
              <a:t>Parametres du modele PK/PD T-DXd -- humain (Yin 2020 + calibration)</a:t>
            </a:r>
          </a:p>
        </p:txBody>
      </p:sp>
      <p:pic>
        <p:nvPicPr>
          <p:cNvPr id="3" name="Picture 2" descr="tableau_pa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82296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8595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7BB6"/>
                </a:solidFill>
              </a:rPr>
              <a:t>Synthese et prochaines etapes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84124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500" b="1">
                <a:solidFill>
                  <a:srgbClr val="1B9E77"/>
                </a:solidFill>
              </a:rPr>
              <a:t>[OK]  Validation PK : ADC Cmax = 121 ug/mL  (FDA = 122)</a:t>
            </a:r>
          </a:p>
          <a:p>
            <a:pPr>
              <a:spcBef>
                <a:spcPts val="200"/>
              </a:spcBef>
            </a:pPr>
            <a:r>
              <a:rPr sz="1500" b="0">
                <a:solidFill>
                  <a:srgbClr val="1B9E77"/>
                </a:solidFill>
              </a:rPr>
              <a:t>[OK]  Neutropenie G3-4 : 18%   (FDA : 16-20%)</a:t>
            </a:r>
          </a:p>
          <a:p>
            <a:pPr>
              <a:spcBef>
                <a:spcPts val="200"/>
              </a:spcBef>
            </a:pPr>
            <a:r>
              <a:rPr sz="1500" b="0">
                <a:solidFill>
                  <a:srgbClr val="1B9E77"/>
                </a:solidFill>
              </a:rPr>
              <a:t>[OK]  Anemie G3-4      :  7%   (FDA : ~9%)</a:t>
            </a:r>
          </a:p>
          <a:p>
            <a:pPr>
              <a:spcBef>
                <a:spcPts val="200"/>
              </a:spcBef>
            </a:pPr>
            <a:r>
              <a:rPr sz="1500" b="0">
                <a:solidFill>
                  <a:srgbClr val="1B9E77"/>
                </a:solidFill>
              </a:rPr>
              <a:t>[OK]  Nadir Neut median : 1.22 x 10^9/L</a:t>
            </a:r>
          </a:p>
          <a:p>
            <a:pPr>
              <a:spcBef>
                <a:spcPts val="200"/>
              </a:spcBef>
            </a:pPr>
            <a:r>
              <a:rPr sz="600" b="0">
                <a:solidFill>
                  <a:srgbClr val="000000"/>
                </a:solidFill>
              </a:rPr>
              <a:t/>
            </a:r>
          </a:p>
          <a:p>
            <a:pPr>
              <a:spcBef>
                <a:spcPts val="200"/>
              </a:spcBef>
            </a:pPr>
            <a:r>
              <a:rPr sz="1500" b="1">
                <a:solidFill>
                  <a:srgbClr val="D95F02"/>
                </a:solidFill>
              </a:rPr>
              <a:t>[!]  Limitation : 0% G0 modele vs 71% clinique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95F02"/>
                </a:solidFill>
              </a:rPr>
              <a:t>     T1/2 ADC (23j) &gt; Q3W (21j) -&gt; accumulation entre cycles</a:t>
            </a:r>
          </a:p>
          <a:p>
            <a:pPr>
              <a:spcBef>
                <a:spcPts val="200"/>
              </a:spcBef>
            </a:pPr>
            <a:r>
              <a:rPr sz="600" b="0">
                <a:solidFill>
                  <a:srgbClr val="000000"/>
                </a:solidFill>
              </a:rPr>
              <a:t/>
            </a:r>
          </a:p>
          <a:p>
            <a:pPr>
              <a:spcBef>
                <a:spcPts val="200"/>
              </a:spcBef>
            </a:pPr>
            <a:r>
              <a:rPr sz="1500" b="1">
                <a:solidFill>
                  <a:srgbClr val="2C7BB6"/>
                </a:solidFill>
              </a:rPr>
              <a:t>Prochaines etapes :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000000"/>
                </a:solidFill>
              </a:rPr>
              <a:t>  1.  Augmenter IC50_ADC pour corriger la distribution G0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000000"/>
                </a:solidFill>
              </a:rPr>
              <a:t>  2.  Simuler 6.4 mg/kg Q3W (dose superieure exploree en essai)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000000"/>
                </a:solidFill>
              </a:rPr>
              <a:t>  3.  Comparaison T-DXd vs T-DM1 (meme modele, payloads differents)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000000"/>
                </a:solidFill>
              </a:rPr>
              <a:t>  4.  Adapter structure aux ADC longue demi-vie (Ait-Oudhia 2017)</a:t>
            </a:r>
          </a:p>
          <a:p>
            <a:pPr>
              <a:spcBef>
                <a:spcPts val="200"/>
              </a:spcBef>
            </a:pPr>
            <a:r>
              <a:rPr sz="600" b="0">
                <a:solidFill>
                  <a:srgbClr val="000000"/>
                </a:solidFill>
              </a:rPr>
              <a:t/>
            </a:r>
          </a:p>
          <a:p>
            <a:pPr>
              <a:spcBef>
                <a:spcPts val="200"/>
              </a:spcBef>
            </a:pPr>
            <a:r>
              <a:rPr sz="1100" b="1">
                <a:solidFill>
                  <a:srgbClr val="555555"/>
                </a:solidFill>
              </a:rPr>
              <a:t>Sources : Yin 2020 (PopPK) | Fornari 2019 (PD) | FDA BLA 761139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