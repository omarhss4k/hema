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908521f3496aae1eef8f7e1cda2cb5713416d19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c8a9c0dcb0f333e7e883e337ed07b4fe8a49abb9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ce57bf91a7dca3cab549bfe873936d98051339d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a660ea90f13b7a2477172c6ddd01a681ac33b4a0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a9e34c2d494d219be9807fe134489ae630db4d38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4484957fcb9a81b8350345f613994d97275fad8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2926080"/>
          </a:xfrm>
          <a:solidFill>
            <a:srgbClr val="1F4E79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548640"/>
            <a:ext cx="8229600" cy="914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Mod&lt;c3&gt;&lt;a8&gt;le PK/PD &lt;e2&gt;&lt;80&gt;&lt;94&gt; T-DXd (Trastuzumab deruxtecan)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150876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800" i="0" b="0" u="none">
                <a:solidFill>
                  <a:srgbClr val="A9C4E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Pr&lt;c3&gt;&lt;a9&gt;diction de la toxicit&lt;c3&gt;&lt;a9&gt; h&lt;c3&gt;&lt;a9&gt;matologique &lt;e2&gt;&lt;80&gt;&lt;94&gt; Simulation de population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214884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>
                <a:solidFill>
                  <a:srgbClr val="D6E4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R&lt;c3&gt;&lt;a9&gt;sultats pr&lt;c3&gt;&lt;a9&gt;liminaires &lt;e2&gt;&lt;80&gt;&lt;94&gt; Validation FDA BLA 761139 (DESTINY-Breast01)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548640" y="3017520"/>
            <a:ext cx="804672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&lt;e2&gt;&lt;80&gt;&lt;a2&gt; Mod&lt;c3&gt;&lt;a8&gt;le m&lt;c3&gt;&lt;a9&gt;caniste 25-&lt;c3&gt;&lt;a9&gt;tats : PK ADC 2-compartiments + Fornari 2019 h&lt;c3&gt;&lt;a9&gt;matopo&lt;c3&gt;&lt;af&gt;&lt;c3&gt;&lt;a8&gt;se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548640" y="3566160"/>
            <a:ext cx="804672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&lt;e2&gt;&lt;80&gt;&lt;a2&gt; Population N=100 patients avec variabilit&lt;c3&gt;&lt;a9&gt; inter-individuelle (IIV log-normale)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548640" y="4114800"/>
            <a:ext cx="804672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0" u="non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&lt;e2&gt;&lt;80&gt;&lt;a2&gt; Validation vs donn&lt;c3&gt;&lt;a9&gt;es cliniques DESTINY-Breast01 (n=184, 5.4 mg/kg Q3W)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>
                <a:solidFill>
                  <a:srgbClr val="888888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Sources : Yin et al. 2020 (PopPK) | Fornari et al. 2019 (PD) | Vasalou et al. 2024 (k_int) | FDA BLA 761139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91440"/>
            <a:ext cx="8595360" cy="502920"/>
          </a:xfrm>
          <a:solidFill>
            <a:srgbClr val="1F4E79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Structure du mod&lt;c3&gt;&lt;a8&gt;le PK/PD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594360"/>
            <a:ext cx="859536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>
                <a:solidFill>
                  <a:srgbClr val="44444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Cha&lt;c3&gt;&lt;ae&gt;ne : ADC s&lt;c3&gt;&lt;a9&gt;rum &lt;e2&gt;&lt;86&gt;&lt;92&gt; DXd plasma &lt;e2&gt;&lt;86&gt;&lt;92&gt; DXd intracellulaire &lt;e2&gt;&lt;86&gt;&lt;92&gt; Dommages ADN &lt;e2&gt;&lt;86&gt;&lt;92&gt; Kill des prog&lt;c3&gt;&lt;a9&gt;niteurs h&lt;c3&gt;&lt;a9&gt;matopo&lt;c3&gt;&lt;af&gt;&lt;c3&gt;&lt;a9&gt;tiques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274320" y="914400"/>
            <a:ext cx="859536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91440"/>
            <a:ext cx="8595360" cy="502920"/>
          </a:xfrm>
          <a:solidFill>
            <a:srgbClr val="1F4E79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Validation pharmacocin&lt;c3&gt;&lt;a9&gt;tique &lt;e2&gt;&lt;80&gt;&lt;94&gt; FDA BLA 761139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594360"/>
            <a:ext cx="859536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>
                <a:solidFill>
                  <a:srgbClr val="44444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Patient typique 70 kg | 5.4 mg/kg Q3W &lt;c3&gt;&lt;97&gt; 6 cycles | Perfusion 1.5h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274320" y="914400"/>
            <a:ext cx="859536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91440"/>
            <a:ext cx="8595360" cy="502920"/>
          </a:xfrm>
          <a:solidFill>
            <a:srgbClr val="1F4E79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Pharmacodynamique &lt;e2&gt;&lt;80&gt;&lt;94&gt; Patient typique (valeurs m&lt;c3&gt;&lt;a9&gt;dianes)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594360"/>
            <a:ext cx="859536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>
                <a:solidFill>
                  <a:srgbClr val="44444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Nadir neutrophiles cycle 1 : 1.05 &lt;c3&gt;&lt;97&gt; 10&lt;e2&gt;&lt;81&gt;&lt;b9&gt;/L &lt;e2&gt;&lt;86&gt;&lt;92&gt; Grade 2/3 | Plaquettes stables (pas de G3)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274320" y="914400"/>
            <a:ext cx="859536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91440"/>
            <a:ext cx="8595360" cy="502920"/>
          </a:xfrm>
          <a:solidFill>
            <a:srgbClr val="1F4E79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Simulation de population &lt;e2&gt;&lt;80&gt;&lt;94&gt; Grades CTCAE vs donn&lt;c3&gt;&lt;a9&gt;es FDA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594360"/>
            <a:ext cx="859536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>
                <a:solidFill>
                  <a:srgbClr val="44444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N=100 patients | IIV : &lt;cf&gt;&lt;89&gt;_CL=0.35, &lt;cf&gt;&lt;89&gt;_V1=0.20, &lt;cf&gt;&lt;89&gt;_Slope=0.33 | Slope_CMP=36, Slope_MEP=1.67, n_hill=2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274320" y="914400"/>
            <a:ext cx="859536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91440"/>
            <a:ext cx="8595360" cy="502920"/>
          </a:xfrm>
          <a:solidFill>
            <a:srgbClr val="1F4E79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Distribution des nadirs &lt;e2&gt;&lt;80&gt;&lt;94&gt; Neutrophiles &amp; RBC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594360"/>
            <a:ext cx="859536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>
                <a:solidFill>
                  <a:srgbClr val="44444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Nadir Neut m&lt;c3&gt;&lt;a9&gt;diane : 1.07 &lt;c3&gt;&lt;97&gt; 10&lt;e2&gt;&lt;81&gt;&lt;b9&gt;/L [P10=0.87, P90=1.28] | Nadir RBC : &lt;e2&gt;&lt;88&gt;&lt;92&gt;11% m&lt;c3&gt;&lt;a9&gt;diane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274320" y="914400"/>
            <a:ext cx="859536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91440"/>
            <a:ext cx="8595360" cy="502920"/>
          </a:xfrm>
          <a:solidFill>
            <a:srgbClr val="1F4E79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Param&lt;c3&gt;&lt;a8&gt;tres du mod&lt;c3&gt;&lt;a8&gt;le &lt;e2&gt;&lt;80&gt;&lt;94&gt; Sources et statut de validation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274320" y="685800"/>
            <a:ext cx="8595360" cy="6080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45720"/>
            <a:ext cx="9144000" cy="548640"/>
          </a:xfrm>
          <a:solidFill>
            <a:srgbClr val="1F4E79">
              <a:alpha val="10000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Synth&lt;c3&gt;&lt;a8&gt;se &amp; Prochaines &lt;c3&gt;&lt;a9&gt;tapes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685800"/>
            <a:ext cx="859536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>
                <a:solidFill>
                  <a:srgbClr val="37562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&lt;e2&gt;&lt;9c&gt;&lt;85&gt; Points valid&lt;c3&gt;&lt;a9&gt;s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1051560"/>
            <a:ext cx="822960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&lt;e2&gt;&lt;80&gt;&lt;a2&gt; PK : ADC Cmax 105 &lt;c2&gt;&lt;b5&gt;g/mL (FDA 122, &lt;c2&gt;&lt;b1&gt;14%)  |  DXd Cmax 3.8 ng/mL (FDA 4.4, &lt;c2&gt;&lt;b1&gt;14%)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1490472"/>
            <a:ext cx="822960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&lt;e2&gt;&lt;80&gt;&lt;a2&gt; An&lt;c3&gt;&lt;a9&gt;mie G3-4 : 10%  vs  cible FDA ~9%  &lt;e2&gt;&lt;86&gt;&lt;92&gt; Slope_MEP = 1.67 calibr&lt;c3&gt;&lt;a9&gt; &lt;e2&gt;&lt;9c&gt;&lt;93&gt;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1929384"/>
            <a:ext cx="822960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&lt;e2&gt;&lt;80&gt;&lt;a2&gt; Mod&lt;c3&gt;&lt;a8&gt;le stable sur 6 cycles Q3W sans divergence num&lt;c3&gt;&lt;a9&gt;rique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274320" y="2606040"/>
            <a:ext cx="859536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>
                <a:solidFill>
                  <a:srgbClr val="C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&lt;e2&gt;&lt;9a&gt;&lt;a0&gt;&lt;ef&gt;&lt;b8&gt;&lt;8f&gt; Point &lt;c3&gt;&lt;a0&gt; corriger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457200" y="2971800"/>
            <a:ext cx="822960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&lt;e2&gt;&lt;80&gt;&lt;a2&gt; Neutrop&lt;c3&gt;&lt;a9&gt;nie G3-4 : 40% vs cible ~20%  &lt;e2&gt;&lt;86&gt;&lt;92&gt; Slope_CMP = 36 trop &lt;c3&gt;&lt;a9&gt;lev&lt;c3&gt;&lt;a9&gt;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457200" y="3410712"/>
            <a:ext cx="822960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&lt;e2&gt;&lt;80&gt;&lt;a2&gt; 100% neutrop&lt;c3&gt;&lt;a9&gt;nie tout-grade (FDA ~29%) : T&lt;c2&gt;&lt;bd&gt;_ADC 23j &gt; Q3W 21j &lt;e2&gt;&lt;86&gt;&lt;92&gt; E_drug persistant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457200" y="3849624"/>
            <a:ext cx="822960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&lt;e2&gt;&lt;80&gt;&lt;a2&gt; n_hill = 2 att&lt;c3&gt;&lt;a9&gt;nue mais ne supprime pas compl&lt;c3&gt;&lt;a8&gt;tement l'effet inter-cycles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274320" y="4526280"/>
            <a:ext cx="859536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>
                <a:solidFill>
                  <a:srgbClr val="7030A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&lt;f0&gt;&lt;9f&gt;&lt;94&gt;&lt;9c&gt; Prochaines &lt;c3&gt;&lt;a9&gt;tapes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457200" y="4892040"/>
            <a:ext cx="822960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&lt;e2&gt;&lt;80&gt;&lt;a2&gt; Re-calibrer Slope_CMP dans [20&lt;e2&gt;&lt;80&gt;&lt;93&gt;28] avec population compl&lt;c3&gt;&lt;a8&gt;te &lt;e2&gt;&lt;86&gt;&lt;92&gt; cible G3-4 ~20%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457200" y="5330952"/>
            <a:ext cx="822960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&lt;e2&gt;&lt;80&gt;&lt;a2&gt; Explorer n_hill = 3 pour r&lt;c3&gt;&lt;a9&gt;duire l'effet trough inter-cycles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457200" y="5769864"/>
            <a:ext cx="822960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>
                <a:solidFill>
                  <a:srgbClr val="22222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&lt;e2&gt;&lt;80&gt;&lt;a2&gt; Validation externe : autres cohortes DESTINY (DESTINY-Breast04, Lung01)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274320" y="6492240"/>
            <a:ext cx="859536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>
                <a:solidFill>
                  <a:srgbClr val="888888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Yin et al. 2020 CPT:PSP | Fornari et al. 2019 CPT | Vasalou et al. 2024 | FDA BLA 761139 (ENHERTU)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2026-04-14T12:22:30Z</dcterms:modified>
  <cp:category/>
</cp:coreProperties>
</file>