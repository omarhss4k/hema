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7e9c65ba3dd11c552bec7435af5d14e8ade963d2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c34a006a47e98dfd6fa6cd1e1ee6af11fbd0a554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9759a19634aa8fb90b770ef020ca0b9ba6df4612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f78cf5ea11105a4a2312d41dfec1cea2f783a7d2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Modele PK/PD T-DXd
Toxicite hematologique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Rat (preclinique) -&gt; Humain (clinique)
DESTINY-Breast01 | FDA BLA 761139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1.  Modele rat -- validation vs FDA BLA 761139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 Calibration PK + seuils histopathologiques (20 / 60 / 197 mg/kg)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2.  Modele humain -- validation vs DESTINY-Breast01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 Grade 3-4 neutropenie &amp; anemie  |  N = 200 patients simules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3.  Limitation principale &amp; perspectives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 Accumulation ADC entre cycles -&gt; surrepresentation G2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Structure du modele PK/PD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PK -- T-DXd (ADC 2 compartiments, Yin 2020)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ADC serum -&gt; DXd plasma -&gt; DXd intracellulaire -&gt; Dommages ADN (Damage)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PD -- Hematopoiese (Fornari 2019)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MPP -&gt; CMP -&gt; Neutrophiles / Monocytes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MPP -&gt; MEP -&gt; Erythroblastes / Plaquettes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1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Lien PK-&gt;PD : Damage inhibe la proliferation des progeniteurs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dCMP/dt ~ (1 - Slope_CMP x Damage) x CMP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>
                <a:solidFill>
                  <a:srgbClr val="D95F02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Driver toxicite : C_ADC1 [ug/mL]  (assay PFB-10 sur HPC, IC50 = 27.7 ug/mL)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Rat -- Validation vs seuils FDA BLA 761139 (Table 6)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182880" y="1280160"/>
            <a:ext cx="86868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Rat -- Profils temporels sur 3 cycles (63 jours)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182880" y="1371600"/>
            <a:ext cx="8686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Rat -- Resultats 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Calibration Slope_MEP = 1.00  (carboplatin Fornari = 2.19)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Dose        Ret (sang)    MEP (moelle)   Neut      FDA histopathologie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20 mg/kg    -14.0%        -9.8%          -4.3%     Ret chute &gt;= 20 mg/kg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60 mg/kg    -32.5%        -23.7%         -10.9%    MEP chute &gt;= 60 mg/kg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197 mg/kg   -59.6%        -46.9%         -24.3%    Neut chute &gt;= 197 mg/kg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Les 3 seuils de dose FDA sont reproduits par le modele.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Humain -- Grades neutropenie : modele vs DESTINY-Breast01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640080" y="1280160"/>
            <a:ext cx="7772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Humain -- Grades anemie : modele vs DESTINY-Breast01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640080" y="1280160"/>
            <a:ext cx="7772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Humain -- Resultats cles (N = 200 patients)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PK -- Validation vs FDA BLA 761139 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ADC Cmax = 121 ug/mL  (FDA = 122)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DXd Cmax = 3.8 ng/mL  (FDA = 4.4)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PD -- Toxicite hematologique (Slope_CMP = 12, calibre) 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Neutropenie G3-4 : 18%   (FDA : 16-20%)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Anemie G3-4      :  7%   (FDA :  ~9%)    [OK]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Nadir Neut median : 1.22 x 10^9/L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>
                <a:solidFill>
                  <a:srgbClr val="D95F02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[!]  Tout grade : 100% (modele) vs 29% (FDA)  -&gt; limitation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Limitation : accumulation de l'ADC entre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D7191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Cause 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T1/2 terminale ADC ~ 23 jours  &gt;  intervalle Q3W = 21 jours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-&gt; Le medicament s'accumule entre les cycles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-&gt; Signal Damage jamais nul -&gt; tous les patients ont une chute de Neut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D7191C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Consequence 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0% G0 dans le modele vs 71% en clinique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Reference :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Ait-Oudhia et al., AAPS Journal 2017 (PMID: 28646408)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-&gt; Modele Fornari/Friberg non adapte aux ADC a longue demi-vie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Fornari 2019 : valide uniquement sur le carboplatine (T1/2 ~ 2h)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Option 1 -- Corriger la distribution des grades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Augmenter IC50_ADC in vivo (les progeniteurs HPC expriment peu HER2)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-&gt; Recalibrer Slope_CMP sur les nouvelles donnees de Damage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Option 2 -- Explorer d'autres doses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Simuler 6.4 mg/kg Q3W (dose superieure exploree en essai)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Comparer les profils de toxicite entre doses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Option 3 -- Comparaison T-DXd vs T-DM1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T-DM1 (Kadcyla) : meme cible HER2, payload different (DM1 vs DXd)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Comparer les profils de myelosuppression avec le meme modele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>
                <a:solidFill>
                  <a:srgbClr val="2C7BB6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Option 4 -- Adapter le modele aux ADC (structure Ait-Oudhia 2017)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Integrer un compartiment de relargage intratumoral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[OK]  Modele PK/PD T-DXd construit et calibre sur 2 especes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[OK]  Rat : 3 seuils FDA reproduits (20 / 60 / 197 mg/kg)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[OK]  Humain : G3-4 neutropenie 18% (FDA 16-20%),  anemie 7% (FDA 9%)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>
                <a:solidFill>
                  <a:srgbClr val="1B9E77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[OK]  PK validee : ADC Cmax = 121 ug/mL (FDA = 122)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>
                <a:solidFill>
                  <a:srgbClr val="D95F02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[!]  Limitation : distribution des grades (G0 sous-estime)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>
                <a:solidFill>
                  <a:srgbClr val="D95F02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 Cause : T1/2 ADC &gt; Q3W -&gt; accumulation entre cycles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    Reference : Ait-Oudhia et al. AAPS J 2017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55555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Sources : Yin 2020 (PopPK) | Fornari 2019 (PD) | FDA BLA 761139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2026-04-13T13:13:36Z</dcterms:modified>
  <cp:category/>
</cp:coreProperties>
</file>