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image" Target="../media/7e9c65ba3dd11c552bec7435af5d14e8ade963d2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image" Target="../media/c34a006a47e98dfd6fa6cd1e1ee6af11fbd0a55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image" Target="../media/9759a19634aa8fb90b770ef020ca0b9ba6df4612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image" Target="../media/f78cf5ea11105a4a2312d41dfec1cea2f783a7d2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Mod&lt;c3&gt;&lt;a8&gt;le PK/PD T-DXd
Toxicit&lt;c3&gt;&lt;a9&gt; h&lt;c3&gt;&lt;a9&gt;matologique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Rat (pr&lt;c3&gt;&lt;a9&gt;clinique) &lt;e2&gt;&lt;86&gt;&lt;92&gt; Humain (clinique)
DESTINY-Breast01 | FDA BLA 761139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1.  Mod&lt;c3&gt;&lt;a8&gt;le rat &lt;e2&gt;&lt;80&gt;&lt;94&gt; validation vs FDA BLA 761139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>
                <a:solidFill>
                  <a:srgbClr val="555555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 Calibration PK + seuils histopathologiques (20 / 60 / 197 mg/kg)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2.  Mod&lt;c3&gt;&lt;a8&gt;le humain &lt;e2&gt;&lt;80&gt;&lt;94&gt; validation vs DESTINY-Breast01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>
                <a:solidFill>
                  <a:srgbClr val="555555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 Grade 3-4 neutrop&lt;c3&gt;&lt;a9&gt;nie &amp; an&lt;c3&gt;&lt;a9&gt;mie  |  N = 200 patients simul&lt;c3&gt;&lt;a9&gt;s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3.  Limitation principale &amp; perspectives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>
                <a:solidFill>
                  <a:srgbClr val="555555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 Accumulation ADC entre cycles &lt;e2&gt;&lt;86&gt;&lt;92&gt; surrepr&lt;c3&gt;&lt;a9&gt;sentation G2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Structure du mod&lt;c3&gt;&lt;a8&gt;le PK/PD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PK &lt;e2&gt;&lt;80&gt;&lt;94&gt; T-DXd (ADC 2 compartiments, Yin 2020)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ADC s&lt;c3&gt;&lt;a9&gt;rum  &lt;e2&gt;&lt;86&gt;&lt;92&gt;  DXd plasma  &lt;e2&gt;&lt;86&gt;&lt;92&gt;  DXd intracellulaire  &lt;e2&gt;&lt;86&gt;&lt;92&gt;  Dommages ADN (Damage)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PD &lt;e2&gt;&lt;80&gt;&lt;94&gt; H&lt;c3&gt;&lt;a9&gt;matopo&lt;c3&gt;&lt;af&gt;&lt;c3&gt;&lt;a8&gt;se (Fornari 2019)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MPP  &lt;e2&gt;&lt;86&gt;&lt;92&gt;  CMP  &lt;e2&gt;&lt;86&gt;&lt;92&gt;  Neutrophiles / Monocytes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MPP  &lt;e2&gt;&lt;86&gt;&lt;92&gt;  MEP  &lt;e2&gt;&lt;86&gt;&lt;92&gt;  &lt;c3&gt;&lt;89&gt;rythroblastes / Plaquettes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1" b="0" u="none">
                <a:solidFill>
                  <a:srgbClr val="555555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Lien PK&lt;e2&gt;&lt;86&gt;&lt;92&gt;PD : Damage inhibe la prolif&lt;c3&gt;&lt;a9&gt;ration des prog&lt;c3&gt;&lt;a9&gt;niteurs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555555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dCMP/dt &lt;e2&gt;&lt;88&gt;&lt;9d&gt; (1 &lt;e2&gt;&lt;88&gt;&lt;92&gt; Slope_CMP &lt;c3&gt;&lt;97&gt; Damage) &lt;c3&gt;&lt;97&gt; CMP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1" b="0" u="none">
                <a:solidFill>
                  <a:srgbClr val="D95F0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Driver toxicit&lt;c3&gt;&lt;a9&gt; : C_ADC1 [&lt;c2&gt;&lt;b5&gt;g/mL]  (assay PFB-10 sur HPC, IC50 = 27.7 &lt;c2&gt;&lt;b5&gt;g/mL)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Rat &lt;e2&gt;&lt;80&gt;&lt;94&gt; Validation vs seuils FDA BLA 761139 (Table 6)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182880" y="1280160"/>
            <a:ext cx="86868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Rat &lt;e2&gt;&lt;80&gt;&lt;94&gt; Profils temporels sur 3 cycles (63 jours)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182880" y="1371600"/>
            <a:ext cx="86868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Rat &lt;e2&gt;&lt;80&gt;&lt;94&gt; R&lt;c3&gt;&lt;a9&gt;sultats cl&lt;c3&gt;&lt;a9&gt;s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Calibration Slope_MEP = 1.00  (carboplatin Fornari = 2.19)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Dose        Ret (sang)    MEP (moelle)   Neut      FDA histopathologie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20 mg/kg    &lt;e2&gt;&lt;88&gt;&lt;92&gt;14.0%        &lt;e2&gt;&lt;88&gt;&lt;92&gt;9.8%          &lt;e2&gt;&lt;88&gt;&lt;92&gt;4.3%     &lt;e2&gt;&lt;86&gt;&lt;93&gt; Ret &lt;e2&gt;&lt;89&gt;&lt;a5&gt; 20 mg/kg  &lt;e2&gt;&lt;9c&gt;&lt;93&gt;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60 mg/kg    &lt;e2&gt;&lt;88&gt;&lt;92&gt;32.5%        &lt;e2&gt;&lt;88&gt;&lt;92&gt;23.7%         &lt;e2&gt;&lt;88&gt;&lt;92&gt;10.9%    &lt;e2&gt;&lt;86&gt;&lt;93&gt; MEP &lt;e2&gt;&lt;89&gt;&lt;a5&gt; 60 mg/kg  &lt;e2&gt;&lt;9c&gt;&lt;93&gt;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197 mg/kg   &lt;e2&gt;&lt;88&gt;&lt;92&gt;59.6%        &lt;e2&gt;&lt;88&gt;&lt;92&gt;46.9%         &lt;e2&gt;&lt;88&gt;&lt;92&gt;24.3%    &lt;e2&gt;&lt;86&gt;&lt;93&gt; Neut &lt;e2&gt;&lt;89&gt;&lt;a5&gt; 197 mg/kg &lt;e2&gt;&lt;9c&gt;&lt;93&gt;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>
                <a:solidFill>
                  <a:srgbClr val="1B9E77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Les 3 seuils de dose FDA sont reproduits par le mod&lt;c3&gt;&lt;a8&gt;le.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Humain &lt;e2&gt;&lt;80&gt;&lt;94&gt; Grades neutrop&lt;c3&gt;&lt;a9&gt;nie : mod&lt;c3&gt;&lt;a8&gt;le vs DESTINY-Breast01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640080" y="1280160"/>
            <a:ext cx="77724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Humain &lt;e2&gt;&lt;80&gt;&lt;94&gt; Grades an&lt;c3&gt;&lt;a9&gt;mie : mod&lt;c3&gt;&lt;a8&gt;le vs DESTINY-Breast01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640080" y="1280160"/>
            <a:ext cx="77724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Humain &lt;e2&gt;&lt;80&gt;&lt;94&gt; R&lt;c3&gt;&lt;a9&gt;sultats cl&lt;c3&gt;&lt;a9&gt;s (N = 200 patients)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PK &lt;e2&gt;&lt;80&gt;&lt;94&gt; Validation vs FDA BLA 761139 :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ADC Cmax = 121 &lt;c2&gt;&lt;b5&gt;g/mL  (FDA = 122)  &lt;e2&gt;&lt;9c&gt;&lt;93&gt;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DXd Cmax = 3.8 ng/mL  (FDA = 4.4)  &lt;e2&gt;&lt;9c&gt;&lt;93&gt;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PD &lt;e2&gt;&lt;80&gt;&lt;94&gt; Toxicit&lt;c3&gt;&lt;a9&gt; h&lt;c3&gt;&lt;a9&gt;matologique (Slope_CMP = 12, calibr&lt;c3&gt;&lt;a9&gt;) :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1B9E77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Neutrop&lt;c3&gt;&lt;a9&gt;nie G3-4 : 18%   (FDA : 16-20%)  &lt;e2&gt;&lt;9c&gt;&lt;93&gt;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1B9E77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An&lt;c3&gt;&lt;a9&gt;mie G3-4      :  7%   (FDA :  ~9%)    &lt;e2&gt;&lt;9c&gt;&lt;93&gt;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Nadir Neut m&lt;c3&gt;&lt;a9&gt;dian : 1.22 &lt;c3&gt;&lt;97&gt; 10&lt;e2&gt;&lt;81&gt;&lt;b9&gt;/L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>
                <a:solidFill>
                  <a:srgbClr val="D95F0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&lt;e2&gt;&lt;9a&gt;&lt;a0&gt;  Tout grade : 100% (mod&lt;c3&gt;&lt;a8&gt;le) vs 29% (FDA)  &lt;e2&gt;&lt;86&gt;&lt;92&gt; limitation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Limitation principale : accumulation de l'ADC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>
                <a:solidFill>
                  <a:srgbClr val="D7191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Cause :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T&lt;c2&gt;&lt;bd&gt; terminale ADC &lt;e2&gt;&lt;89&gt;&lt;88&gt; 23 jours  &gt;  intervalle Q3W = 21 jours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&lt;e2&gt;&lt;86&gt;&lt;92&gt; Le m&lt;c3&gt;&lt;a9&gt;dicament s'accumule entre les cycles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&lt;e2&gt;&lt;86&gt;&lt;92&gt; Signal Damage jamais nul &lt;e2&gt;&lt;86&gt;&lt;92&gt; tous les patients ont une chute de Neut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>
                <a:solidFill>
                  <a:srgbClr val="D7191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Cons&lt;c3&gt;&lt;a9&gt;quence :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0% G0 dans le mod&lt;c3&gt;&lt;a8&gt;le vs 71% en clinique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R&lt;c3&gt;&lt;a9&gt;f&lt;c3&gt;&lt;a9&gt;rence :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1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Ait-Oudhia et al., AAPS Journal 2017 (PMID: 28646408)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&lt;e2&gt;&lt;86&gt;&lt;92&gt; Mod&lt;c3&gt;&lt;a8&gt;le Fornari/Friberg non adapt&lt;c3&gt;&lt;a9&gt; aux ADC &lt;c3&gt;&lt;a0&gt; longue demi-vie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Fornari 2019 : valid&lt;c3&gt;&lt;a9&gt; uniquement sur le carboplatine (T&lt;c2&gt;&lt;bd&gt; &lt;e2&gt;&lt;89&gt;&lt;88&gt; 2h)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Perspectives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Option 1 &lt;e2&gt;&lt;80&gt;&lt;94&gt; Corriger la distribution des grades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Augmenter IC50_ADC in vivo (les prog&lt;c3&gt;&lt;a9&gt;niteurs HPC expriment peu HER2)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&lt;e2&gt;&lt;86&gt;&lt;92&gt; Recalibrer Slope_CMP sur les nouvelles donn&lt;c3&gt;&lt;a9&gt;es de Damage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Option 2 &lt;e2&gt;&lt;80&gt;&lt;94&gt; Explorer d'autres doses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Simuler 6.4 mg/kg Q3W (dose sup&lt;c3&gt;&lt;a9&gt;rieure explor&lt;c3&gt;&lt;a9&gt;e en essai)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Comparer les profils de toxicit&lt;c3&gt;&lt;a9&gt; entre doses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Option 3 &lt;e2&gt;&lt;80&gt;&lt;94&gt; Comparaison T-DXd vs T-DM1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T-DM1 (Kadcyla) : m&lt;c3&gt;&lt;aa&gt;me cible HER2, payload diff&lt;c3&gt;&lt;a9&gt;rent (DM1 vs DXd)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Comparer les profils de my&lt;c3&gt;&lt;a9&gt;losuppression avec le m&lt;c3&gt;&lt;aa&gt;me mod&lt;c3&gt;&lt;a8&gt;le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>
                <a:solidFill>
                  <a:srgbClr val="2C7BB6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Option 4 &lt;e2&gt;&lt;80&gt;&lt;94&gt; Adapter le mod&lt;c3&gt;&lt;a8&gt;le aux ADC (structure Ait-Oudhia 2017)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Int&lt;c3&gt;&lt;a9&gt;grer un compartiment de relargage intratumoral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>
                <a:solidFill>
                  <a:srgbClr val="1B9E77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&lt;e2&gt;&lt;9c&gt;&lt;93&gt;  Mod&lt;c3&gt;&lt;a8&gt;le PK/PD T-DXd construit et calibr&lt;c3&gt;&lt;a9&gt; sur 2 esp&lt;c3&gt;&lt;a8&gt;ces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1B9E77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&lt;e2&gt;&lt;9c&gt;&lt;93&gt;  Rat : 3 seuils FDA reproduits (20 / 60 / 197 mg/kg)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1B9E77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&lt;e2&gt;&lt;9c&gt;&lt;93&gt;  Humain : G3-4 neutrop&lt;c3&gt;&lt;a9&gt;nie 18% (FDA 16-20%),  an&lt;c3&gt;&lt;a9&gt;mie 7% (FDA 9%)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>
                <a:solidFill>
                  <a:srgbClr val="1B9E77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&lt;e2&gt;&lt;9c&gt;&lt;93&gt;  PK valid&lt;c3&gt;&lt;a9&gt;e : ADC Cmax = 121 &lt;c2&gt;&lt;b5&gt;g/mL (FDA = 122)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>
                <a:solidFill>
                  <a:srgbClr val="D95F0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&lt;e2&gt;&lt;9a&gt;&lt;a0&gt;  Limitation : distribution des grades (G0 sous-estim&lt;c3&gt;&lt;a9&gt;)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>
                <a:solidFill>
                  <a:srgbClr val="D95F0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 Cause : T&lt;c2&gt;&lt;bd&gt; ADC &gt; Q3W &lt;e2&gt;&lt;86&gt;&lt;92&gt; accumulation entre cycles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1" b="0" u="none">
                <a:solidFill>
                  <a:srgbClr val="555555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 Document&lt;c3&gt;&lt;a9&gt; : Ait-Oudhia et al. AAPS J 2017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1" b="0" u="none">
                <a:solidFill>
                  <a:srgbClr val="555555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Sources : Yin 2020 (PopPK) | Fornari 2019 (PD) | FDA BLA 761139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2026-04-13T13:00:24Z</dcterms:modified>
  <cp:category/>
</cp:coreProperties>
</file>