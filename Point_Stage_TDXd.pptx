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5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246120"/>
            <a:ext cx="11274552" cy="54864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Point de Stage</a:t>
            </a:r>
          </a:p>
          <a:p>
            <a:pPr algn="ctr"/>
            <a:r>
              <a:rPr sz="3800" b="1">
                <a:solidFill>
                  <a:srgbClr val="4A86C8"/>
                </a:solidFill>
                <a:latin typeface="Calibri"/>
              </a:rPr>
              <a:t>Modélisation PK/PD T-DXd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D5EE"/>
                </a:solidFill>
                <a:latin typeface="Calibri"/>
              </a:rPr>
              <a:t>T-DXd (Trastuzumab Deruxtecan) — Toxicité Hématologique Rat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Calibri"/>
              </a:rP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Contexte &amp; Objectif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▶"/>
            </a:pPr>
            <a:r>
              <a:rPr sz="1900">
                <a:solidFill>
                  <a:srgbClr val="404040"/>
                </a:solidFill>
                <a:latin typeface="Calibri"/>
              </a:rPr>
              <a:t>T-DXd : ADC (DAR=8), topoisomérase I inhibiteur (DXd)</a:t>
            </a:r>
          </a:p>
          <a:p>
            <a:pPr>
              <a:spcBef>
                <a:spcPts val="1000"/>
              </a:spcBef>
              <a:buChar char="▶"/>
            </a:pPr>
            <a:r>
              <a:rPr sz="1900">
                <a:solidFill>
                  <a:srgbClr val="404040"/>
                </a:solidFill>
                <a:latin typeface="Calibri"/>
              </a:rPr>
              <a:t>Indication : cancer du sein HER2+ (FDA approuvé)</a:t>
            </a:r>
          </a:p>
          <a:p>
            <a:pPr>
              <a:spcBef>
                <a:spcPts val="1000"/>
              </a:spcBef>
              <a:buChar char="▶"/>
            </a:pPr>
            <a:r>
              <a:rPr sz="1900">
                <a:solidFill>
                  <a:srgbClr val="404040"/>
                </a:solidFill>
                <a:latin typeface="Calibri"/>
              </a:rPr>
              <a:t>Problématique : toxicité hématologique dose-limitante (neutropénie, thrombopénie)</a:t>
            </a:r>
          </a:p>
          <a:p>
            <a:pPr>
              <a:spcBef>
                <a:spcPts val="1000"/>
              </a:spcBef>
              <a:buChar char="▶"/>
            </a:pPr>
            <a:r>
              <a:rPr sz="1900">
                <a:solidFill>
                  <a:srgbClr val="404040"/>
                </a:solidFill>
                <a:latin typeface="Calibri"/>
              </a:rPr>
              <a:t>Objectif : modèle PK/PD mécanistique RAT pour prédire les nadirs hématologiques</a:t>
            </a:r>
          </a:p>
          <a:p>
            <a:pPr>
              <a:spcBef>
                <a:spcPts val="1000"/>
              </a:spcBef>
              <a:buChar char="▶"/>
            </a:pPr>
            <a:r>
              <a:rPr sz="1900">
                <a:solidFill>
                  <a:srgbClr val="404040"/>
                </a:solidFill>
                <a:latin typeface="Calibri"/>
              </a:rPr>
              <a:t>Base : modèle de Fornari 2019 (carboplatin/rat) → étendu à T-DXd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 du Modèle PK/PD (25 états)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349240"/>
          </a:xfrm>
          <a:prstGeom prst="rect">
            <a:avLst/>
          </a:prstGeom>
          <a:solidFill>
            <a:srgbClr val="D9E2F3"/>
          </a:solidFill>
          <a:ln w="12700">
            <a:solidFill>
              <a:srgbClr val="2E5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09360" y="1143000"/>
            <a:ext cx="5394960" cy="5349240"/>
          </a:xfrm>
          <a:prstGeom prst="rect">
            <a:avLst/>
          </a:prstGeom>
          <a:solidFill>
            <a:srgbClr val="FDF0D5"/>
          </a:solidFill>
          <a:ln w="12700">
            <a:solidFill>
              <a:srgbClr val="C99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solidFill>
            <a:srgbClr val="2E5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161288"/>
            <a:ext cx="5358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Chaîne PK T-DXd (5 états)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61288"/>
            <a:ext cx="5358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Cascade PD Fornari (20 états)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ADC sérum (2 compartiments : Yin 2020)</a:t>
            </a:r>
          </a:p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DXd plasma (libération via Krel temps-dép.)</a:t>
            </a:r>
          </a:p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DXd intracellulaire (moelle, Vasalou 2024)</a:t>
            </a:r>
          </a:p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Damage ADN (γH2AX, modèle Emax)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MPP → CMP / MEP</a:t>
            </a:r>
          </a:p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CMP → Neutrophiles, Monocytes</a:t>
            </a:r>
          </a:p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MEP → Réticulocytes → GR, Plaquettes</a:t>
            </a:r>
          </a:p>
          <a:p>
            <a:pPr>
              <a:spcBef>
                <a:spcPts val="1000"/>
              </a:spcBef>
              <a:buChar char="•"/>
            </a:pPr>
            <a:r>
              <a:rPr sz="1700">
                <a:solidFill>
                  <a:srgbClr val="404040"/>
                </a:solidFill>
                <a:latin typeface="Calibri"/>
              </a:rPr>
              <a:t>Connexion : Damage → Slope_MPP/CMP/MEP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200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864"/>
                </a:solidFill>
                <a:latin typeface="Calibri"/>
              </a:rPr>
              <a:t>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Paramètres PK — Allométrie Yin 2020 → Rat (250 g)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80160" y="1280160"/>
          <a:ext cx="96012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566928">
                <a:tc>
                  <a:txBody>
                    <a:bodyPr wrap="non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Paramètre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Humain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Rat (allométrie)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404040"/>
                          </a:solidFill>
                          <a:latin typeface="Calibri"/>
                        </a:rPr>
                        <a:t>CL_ADC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0.421 L/j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2.56×10⁻⁴ L/h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404040"/>
                          </a:solidFill>
                          <a:latin typeface="Calibri"/>
                        </a:rPr>
                        <a:t>V1_ADC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2.77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9.89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404040"/>
                          </a:solidFill>
                          <a:latin typeface="Calibri"/>
                        </a:rPr>
                        <a:t>DAR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404040"/>
                          </a:solidFill>
                          <a:latin typeface="Calibri"/>
                        </a:rPr>
                        <a:t>Krel (cycle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0.0159 h⁻¹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0.0159 h⁻¹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404040"/>
                          </a:solidFill>
                          <a:latin typeface="Calibri"/>
                        </a:rPr>
                        <a:t>IC50_DXd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0.31 µM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0.31 µM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algn="l"/>
                      <a:r>
                        <a:rPr sz="1600" b="1">
                          <a:solidFill>
                            <a:srgbClr val="404040"/>
                          </a:solidFill>
                          <a:latin typeface="Calibri"/>
                        </a:rPr>
                        <a:t>k_dam = k_rep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600" b="0">
                          <a:solidFill>
                            <a:srgbClr val="404040"/>
                          </a:solidFill>
                          <a:latin typeface="Calibri"/>
                        </a:rPr>
                        <a:t>0.017 h⁻¹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280160" y="538581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07070"/>
                </a:solidFill>
                <a:latin typeface="Calibri"/>
              </a:rPr>
              <a:t>Allométrie basée sur Yin et al. 2020 — poids rat = 250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Résultats PK — T-DXd 5 mg/kg Q3W × 3 cycles (Rat)</a:t>
            </a:r>
          </a:p>
        </p:txBody>
      </p:sp>
      <p:pic>
        <p:nvPicPr>
          <p:cNvPr id="5" name="Picture 4" descr="PK_5mg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11457432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291072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05050"/>
                </a:solidFill>
                <a:latin typeface="Calibri"/>
              </a:rPr>
              <a:t>ADC sérum  |  DXd intracellulaire  |  Damage ADN — Krel temps-dépendant (Yin 2020)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Résultats PD — Comparaison 5 mg/kg vs 10 mg/kg</a:t>
            </a:r>
          </a:p>
        </p:txBody>
      </p:sp>
      <p:pic>
        <p:nvPicPr>
          <p:cNvPr id="5" name="Picture 4" descr="PD_5mg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806440" cy="4892040"/>
          </a:xfrm>
          <a:prstGeom prst="rect">
            <a:avLst/>
          </a:prstGeom>
        </p:spPr>
      </p:pic>
      <p:pic>
        <p:nvPicPr>
          <p:cNvPr id="6" name="Picture 5" descr="PD_10mgk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143000"/>
            <a:ext cx="5806440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1143000"/>
            <a:ext cx="5806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49A"/>
                </a:solidFill>
                <a:latin typeface="Calibri"/>
              </a:rPr>
              <a:t>5 mg/kg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1143000"/>
            <a:ext cx="5806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549A"/>
                </a:solidFill>
                <a:latin typeface="Calibri"/>
              </a:rPr>
              <a:t>10 mg/kg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291072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05050"/>
                </a:solidFill>
                <a:latin typeface="Calibri"/>
              </a:rPr>
              <a:t>Damage max : 0.069 (5 mg/kg) → 0.14 (10 mg/kg) — effet PD modéré attendu chez le rat (absence d'effet bystander HER2+)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Translatabilité — Cadre Clinique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Char char="▶"/>
            </a:pPr>
            <a:r>
              <a:rPr sz="1800" b="0">
                <a:solidFill>
                  <a:srgbClr val="404040"/>
                </a:solidFill>
                <a:latin typeface="Calibri"/>
              </a:rPr>
              <a:t>Cavg clinique T-DXd (6.4 mg/kg Q3W) = 33.3 µg/mL</a:t>
            </a:r>
          </a:p>
          <a:p>
            <a:pPr>
              <a:spcBef>
                <a:spcPts val="1200"/>
              </a:spcBef>
              <a:buChar char="▶"/>
            </a:pPr>
            <a:r>
              <a:rPr sz="1800" b="0">
                <a:solidFill>
                  <a:srgbClr val="404040"/>
                </a:solidFill>
                <a:latin typeface="Calibri"/>
              </a:rPr>
              <a:t>IC50 ADC ex vivo (CFU assay PFB-10) : 27.3 µg/mL (érythroïde), 28.1 µg/mL (CFU-GM)</a:t>
            </a:r>
          </a:p>
          <a:p>
            <a:pPr>
              <a:spcBef>
                <a:spcPts val="1200"/>
              </a:spcBef>
              <a:buChar char="▶"/>
            </a:pPr>
            <a:r>
              <a:rPr sz="1800" b="1">
                <a:solidFill>
                  <a:srgbClr val="1F3864"/>
                </a:solidFill>
                <a:latin typeface="Calibri"/>
              </a:rPr>
              <a:t>Ratio Cavg/IC50 ≈ 1.2 → zone d'effet pharmacologique</a:t>
            </a:r>
          </a:p>
          <a:p>
            <a:pPr>
              <a:spcBef>
                <a:spcPts val="1200"/>
              </a:spcBef>
              <a:buChar char="▶"/>
            </a:pPr>
            <a:r>
              <a:rPr sz="1800" b="0">
                <a:solidFill>
                  <a:srgbClr val="404040"/>
                </a:solidFill>
                <a:latin typeface="Calibri"/>
              </a:rPr>
              <a:t>Prochaine étape : driver PD = C_ADC1 avec IC50_ADC = 27.3 µg/mL (au lieu de DXd_ic)</a:t>
            </a:r>
          </a:p>
          <a:p>
            <a:pPr>
              <a:spcBef>
                <a:spcPts val="1200"/>
              </a:spcBef>
              <a:buChar char="▶"/>
            </a:pPr>
            <a:r>
              <a:rPr sz="1800" b="0">
                <a:solidFill>
                  <a:srgbClr val="404040"/>
                </a:solidFill>
                <a:latin typeface="Calibri"/>
              </a:rPr>
              <a:t>Calibration sur données précliniques rat à venir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41832"/>
            <a:ext cx="12188952" cy="64008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Structure du Code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94960" cy="5349240"/>
          </a:xfrm>
          <a:prstGeom prst="rect">
            <a:avLst/>
          </a:prstGeom>
          <a:solidFill>
            <a:srgbClr val="D9E2F3"/>
          </a:solidFill>
          <a:ln w="12700">
            <a:solidFill>
              <a:srgbClr val="2E5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94960" cy="457200"/>
          </a:xfrm>
          <a:prstGeom prst="rect">
            <a:avLst/>
          </a:prstGeom>
          <a:solidFill>
            <a:srgbClr val="2E5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61288"/>
            <a:ext cx="5358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Structure 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43000"/>
            <a:ext cx="5394960" cy="5349240"/>
          </a:xfrm>
          <a:prstGeom prst="rect">
            <a:avLst/>
          </a:prstGeom>
          <a:solidFill>
            <a:srgbClr val="E2F0D9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61288"/>
            <a:ext cx="53583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Prochaines étapes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buChar char="•"/>
            </a:pPr>
            <a:r>
              <a:rPr sz="1500" b="1">
                <a:solidFill>
                  <a:srgbClr val="404040"/>
                </a:solidFill>
                <a:latin typeface="Calibri"/>
              </a:rPr>
              <a:t>scripts/ : modèle Fornari (carboplatin)</a:t>
            </a:r>
          </a:p>
          <a:p>
            <a:pPr>
              <a:spcBef>
                <a:spcPts val="800"/>
              </a:spcBef>
              <a:buChar char="•"/>
            </a:pPr>
            <a:r>
              <a:rPr sz="1500" b="1">
                <a:solidFill>
                  <a:srgbClr val="404040"/>
                </a:solidFill>
                <a:latin typeface="Calibri"/>
              </a:rPr>
              <a:t>scripts_tdxd/ : extension T-DXd</a:t>
            </a:r>
          </a:p>
          <a:p>
            <a:pPr lvl="1">
              <a:spcBef>
                <a:spcPts val="800"/>
              </a:spcBef>
              <a:buChar char="◦"/>
            </a:pPr>
            <a:r>
              <a:rPr sz="1400" b="0">
                <a:solidFill>
                  <a:srgbClr val="404040"/>
                </a:solidFill>
                <a:latin typeface="Calibri"/>
              </a:rPr>
              <a:t>    parameters_tdxd_rat.R (allométrie)</a:t>
            </a:r>
          </a:p>
          <a:p>
            <a:pPr lvl="1">
              <a:spcBef>
                <a:spcPts val="800"/>
              </a:spcBef>
              <a:buChar char="◦"/>
            </a:pPr>
            <a:r>
              <a:rPr sz="1400" b="0">
                <a:solidFill>
                  <a:srgbClr val="404040"/>
                </a:solidFill>
                <a:latin typeface="Calibri"/>
              </a:rPr>
              <a:t>    pkpd_tdxd_rat.R (ODE fusionné 25 états)</a:t>
            </a:r>
          </a:p>
          <a:p>
            <a:pPr lvl="1">
              <a:spcBef>
                <a:spcPts val="800"/>
              </a:spcBef>
              <a:buChar char="◦"/>
            </a:pPr>
            <a:r>
              <a:rPr sz="1400" b="0">
                <a:solidFill>
                  <a:srgbClr val="404040"/>
                </a:solidFill>
                <a:latin typeface="Calibri"/>
              </a:rPr>
              <a:t>    run_pkpd_tdxd_rat.R (scénarios)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har char="✓"/>
            </a:pPr>
            <a:r>
              <a:rPr sz="1600">
                <a:solidFill>
                  <a:srgbClr val="404040"/>
                </a:solidFill>
                <a:latin typeface="Calibri"/>
              </a:rPr>
              <a:t>Remplacer driver DXd_ic → C_ADC1 (IC50=27.3 µg/mL)</a:t>
            </a:r>
          </a:p>
          <a:p>
            <a:pPr>
              <a:spcBef>
                <a:spcPts val="1000"/>
              </a:spcBef>
              <a:buChar char="✓"/>
            </a:pPr>
            <a:r>
              <a:rPr sz="1600">
                <a:solidFill>
                  <a:srgbClr val="404040"/>
                </a:solidFill>
                <a:latin typeface="Calibri"/>
              </a:rPr>
              <a:t>Calibrer Slope_MPP/CMP/MEP sur données rat</a:t>
            </a:r>
          </a:p>
          <a:p>
            <a:pPr>
              <a:spcBef>
                <a:spcPts val="1000"/>
              </a:spcBef>
              <a:buChar char="✓"/>
            </a:pPr>
            <a:r>
              <a:rPr sz="1600">
                <a:solidFill>
                  <a:srgbClr val="404040"/>
                </a:solidFill>
                <a:latin typeface="Calibri"/>
              </a:rPr>
              <a:t>Validation sur données précliniques observées</a:t>
            </a:r>
          </a:p>
          <a:p>
            <a:pPr>
              <a:spcBef>
                <a:spcPts val="1000"/>
              </a:spcBef>
              <a:buChar char="✓"/>
            </a:pPr>
            <a:r>
              <a:rPr sz="1600">
                <a:solidFill>
                  <a:srgbClr val="404040"/>
                </a:solidFill>
                <a:latin typeface="Calibri"/>
              </a:rPr>
              <a:t>Extension : simulations sensibilité (dose, schéma)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