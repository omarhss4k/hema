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 de Simeoni (2004)  —  1/2 : Concept &amp;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Pourquoi modéliser le délai entre l'exposition au médicament et la réponse tumorale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C5501A"/>
                </a:solidFill>
              </a:rPr>
              <a:t>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23544"/>
            <a:ext cx="12188952" cy="50292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051560"/>
            <a:ext cx="3703320" cy="5440680"/>
          </a:xfrm>
          <a:prstGeom prst="rect">
            <a:avLst/>
          </a:prstGeom>
          <a:solidFill>
            <a:srgbClr val="D6E4F5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789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Pourquoi ce modèle 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508760"/>
            <a:ext cx="3474720" cy="822960"/>
          </a:xfrm>
          <a:prstGeom prst="rect">
            <a:avLst/>
          </a:prstGeom>
          <a:solidFill>
            <a:srgbClr val="FFE8E8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527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Modèle Emax simple  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8013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0000"/>
                </a:solidFill>
              </a:rPr>
              <a:t>dV/dt = (kg − ke·C) ·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02996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0000"/>
                </a:solidFill>
              </a:rPr>
              <a:t>Effet instantané — ne capture pas le délai pharmacologique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432304"/>
            <a:ext cx="3474720" cy="82296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4505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Modèle de Simeoni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72491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55520"/>
                </a:solidFill>
              </a:rPr>
              <a:t>x₁ → x₂ → x₃ → x₄  (compartiments de transit)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95351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55520"/>
                </a:solidFill>
              </a:rPr>
              <a:t>Délai biologique entre dommage cellulaire et mort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338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Ce que capture le modèle 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730752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37673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①  Croissance tumorale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40416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Phase exponentielle (petit volume)
puis linéaire (grand volume)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4608576"/>
            <a:ext cx="3474720" cy="804672"/>
          </a:xfrm>
          <a:prstGeom prst="rect">
            <a:avLst/>
          </a:prstGeom>
          <a:solidFill>
            <a:srgbClr val="ECF4FB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46451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②  Endommagement par le drug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491947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k₂·C = taux d'entrée en phase
endommagée, proportionnel à C(t)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5486400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55229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③  Compétition croissance / mort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579729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1A"/>
                </a:solidFill>
              </a:rPr>
              <a:t>Régression si l'effet du drug
dépasse le seuil TSC ≈ k₁/k₂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1051560"/>
            <a:ext cx="7772400" cy="544068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107899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Structure des compartiments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1536192"/>
            <a:ext cx="21031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15544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C(t)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1581912"/>
            <a:ext cx="932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Médicament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8736" y="1993392"/>
            <a:ext cx="41148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2286000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</a:rPr>
              <a:t>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202996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2E75B6"/>
                </a:solidFill>
              </a:rPr>
              <a:t>k₂·C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2542032"/>
            <a:ext cx="1463040" cy="9601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2615184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x₁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307238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Prolif.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528" y="22677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78644"/>
                </a:solidFill>
              </a:rPr>
              <a:t>↺  λ₀ · g(w)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16168" y="2542032"/>
            <a:ext cx="1280160" cy="96012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2615184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x₂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072384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Transit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51775" y="2542032"/>
            <a:ext cx="1280160" cy="96012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207" y="2615184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x₃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7" y="3072384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Transit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7384" y="2542032"/>
            <a:ext cx="1280160" cy="96012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14815" y="2615184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x₄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4815" y="3072384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Transit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87000" y="2542032"/>
            <a:ext cx="86868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05288" y="2615184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05288" y="307238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87568" y="2816351"/>
            <a:ext cx="228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87568" y="2450591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E75B6"/>
                </a:solidFill>
              </a:rPr>
              <a:t>k₂·C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28" y="2816351"/>
            <a:ext cx="228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6328" y="2450591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04000"/>
                </a:solidFill>
              </a:rPr>
              <a:t>k₁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31936" y="2816351"/>
            <a:ext cx="228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31936" y="2450591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04000"/>
                </a:solidFill>
              </a:rPr>
              <a:t>k₁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67544" y="2816351"/>
            <a:ext cx="228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67544" y="2450591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04000"/>
                </a:solidFill>
              </a:rPr>
              <a:t>k₁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3575304"/>
            <a:ext cx="6995160" cy="320040"/>
          </a:xfrm>
          <a:prstGeom prst="rect">
            <a:avLst/>
          </a:prstGeom>
          <a:solidFill>
            <a:srgbClr val="FFF7CC"/>
          </a:solidFill>
          <a:ln w="9525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60" y="3593592"/>
            <a:ext cx="6812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5501A"/>
                </a:solidFill>
              </a:rPr>
              <a:t>Volume tumoral total :   w(t)  =  x₁ + x₂ + x₃ + x₄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69080" y="4005072"/>
            <a:ext cx="77724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0" y="404164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Loi de croissance sans traitement 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6240" y="43434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378644"/>
                </a:solidFill>
              </a:rPr>
              <a:t>g(w)  =  λ₀  /  ( 1 + (λ₀·w / λ₁)^ψ )^(1/ψ)       [ψ = 20, fixé]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6240" y="4700016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06020"/>
                </a:solidFill>
              </a:rPr>
              <a:t>w petit  →  g(w) ≈ λ₀  (exponentielle)           w grand  →  g(w) ≈ λ₁/w  (linéaire)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4974336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05030"/>
                </a:solidFill>
              </a:rPr>
              <a:t>Représente la croissance naturelle observée dans le groupe contrôle (sans traitement)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431536"/>
            <a:ext cx="7772400" cy="777240"/>
          </a:xfrm>
          <a:prstGeom prst="rect">
            <a:avLst/>
          </a:prstGeom>
          <a:solidFill>
            <a:srgbClr val="ECF4FB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0" y="546811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Interprétation du délai — MTT (Mean Transit Time)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5742431"/>
            <a:ext cx="7498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Le MTT = 3/k₁ représente la durée moyenne entre l'endommagement d'une cellule par le médicament et sa mort effective. Ce paramètre capture le délai pharmacodynamique observé en préclinique.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66019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Réf. : Simeoni M. et al.  —  Cancer Research, 2004, 64 : 1094–1101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66019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Réunion FGFR2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 de Simeoni (2004)  —  2/2 : Équations &amp; Paramètres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Système différentiel couplé  —  interprétation pharmacologique des paramètres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C5501A"/>
                </a:solidFill>
              </a:rPr>
              <a:t>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23544"/>
            <a:ext cx="12188952" cy="50292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051560"/>
            <a:ext cx="57607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Système d'équations différentielles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536192"/>
            <a:ext cx="5669280" cy="475488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60020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A5C"/>
                </a:solidFill>
              </a:rPr>
              <a:t>dx₁/dt  =  [ g(w) − k₂·C ] · x₁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6276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← Prolif. + dommage drug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066543"/>
            <a:ext cx="566928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130551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</a:rPr>
              <a:t>dx₂/dt  =  k₂·C · x₁  −  k₁ · x₂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15798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← Transit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596896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660903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</a:rPr>
              <a:t>dx₃/dt  =  k₁ · x₂    −  k₁ · x₃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6883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← Transit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127248"/>
            <a:ext cx="566928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19125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</a:rPr>
              <a:t>dx₄/dt  =  k₁ · x₃    −  k₁ · x₄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2186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← Transit 3  →  mort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657600"/>
            <a:ext cx="5669280" cy="384048"/>
          </a:xfrm>
          <a:prstGeom prst="rect">
            <a:avLst/>
          </a:prstGeom>
          <a:solidFill>
            <a:srgbClr val="FFF7CC"/>
          </a:solidFill>
          <a:ln w="9525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C5501A"/>
                </a:solidFill>
              </a:rPr>
              <a:t>w(t)  =  x₁ + x₂ + x₃ + x₄       (volume tumoral total)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4133087"/>
            <a:ext cx="5760720" cy="77724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41605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378644"/>
                </a:solidFill>
              </a:rPr>
              <a:t>g(w)  =  λ₀  /  ( 1 + (λ₀·w / λ₁)^ψ )^(1/ψ)      [ψ = 20]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44805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206020"/>
                </a:solidFill>
              </a:rPr>
              <a:t>Exponentielle (w petit)  →  Linéaire (w grand)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051560"/>
            <a:ext cx="56692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Quantité dérivée clé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508760"/>
            <a:ext cx="5486400" cy="1965960"/>
          </a:xfrm>
          <a:prstGeom prst="rect">
            <a:avLst/>
          </a:prstGeom>
          <a:solidFill>
            <a:srgbClr val="FFEBD6"/>
          </a:solidFill>
          <a:ln w="1905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5361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01A"/>
                </a:solidFill>
              </a:rPr>
              <a:t>TSC — Tumor Static Concentration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847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Concentration seuil pour laquelle la tumeur est stable : croissance = inhibition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249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0000"/>
                </a:solidFill>
              </a:rPr>
              <a:t>TSC  ≈  k₁ / k₂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679192"/>
            <a:ext cx="2633472" cy="329184"/>
          </a:xfrm>
          <a:prstGeom prst="rect">
            <a:avLst/>
          </a:prstGeom>
          <a:solidFill>
            <a:srgbClr val="FFE8E8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697480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C &gt; TSC  →  régression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5128" y="2679192"/>
            <a:ext cx="2633472" cy="329184"/>
          </a:xfrm>
          <a:prstGeom prst="rect">
            <a:avLst/>
          </a:prstGeom>
          <a:solidFill>
            <a:srgbClr val="E2EFDA"/>
          </a:solidFill>
          <a:ln w="63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9136" y="2697480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4"/>
                </a:solidFill>
              </a:rPr>
              <a:t>C &lt; TSC  →  ralentissement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08960"/>
            <a:ext cx="5486400" cy="1344168"/>
          </a:xfrm>
          <a:prstGeom prst="rect">
            <a:avLst/>
          </a:prstGeom>
          <a:solidFill>
            <a:srgbClr val="ECF4FB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136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Lien avec le modèle appliqué (FGFR2)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438144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kg (taux de croissance) est l'équivalent de λ₀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68503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ke · C/(EC50+C) remplace k₂·C  (modèle Emax, sans transit)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93192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TSC correspond à la concentration statique de notre modèle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06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03080"/>
                </a:solidFill>
              </a:rPr>
              <a:t>→ Le modèle Emax est un cas simplifié de Simeoni (absence de délai de transit)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4626864"/>
            <a:ext cx="11841480" cy="1847088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6542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Paramètres du modèle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" y="4974336"/>
            <a:ext cx="96012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736" y="4992624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4974336"/>
            <a:ext cx="25146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9576" y="4992624"/>
            <a:ext cx="24414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Définition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03320" y="4974336"/>
            <a:ext cx="123444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39896" y="4992624"/>
            <a:ext cx="11612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Unité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4974336"/>
            <a:ext cx="40233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0056" y="4992624"/>
            <a:ext cx="39502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Interprétation pharmacologique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4974336"/>
            <a:ext cx="283464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4992624"/>
            <a:ext cx="27614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Source d'estimation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5285232"/>
            <a:ext cx="96012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3736" y="5303520"/>
            <a:ext cx="8869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λ₀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5285232"/>
            <a:ext cx="251460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9576" y="5303520"/>
            <a:ext cx="24414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Taux de croissance exponentielle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03320" y="5285232"/>
            <a:ext cx="123444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39896" y="5303520"/>
            <a:ext cx="11612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j⁻¹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80" y="5285232"/>
            <a:ext cx="402336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0056" y="5303520"/>
            <a:ext cx="3950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Vitesse initiale de doublement tumoral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5285232"/>
            <a:ext cx="283464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89136" y="5303520"/>
            <a:ext cx="27614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Groupe contrôle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" y="5554980"/>
            <a:ext cx="96012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3736" y="5573268"/>
            <a:ext cx="8869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λ₁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5554980"/>
            <a:ext cx="251460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79576" y="5573268"/>
            <a:ext cx="24414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Taux de croissance linéaire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03320" y="5554980"/>
            <a:ext cx="123444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39896" y="5573268"/>
            <a:ext cx="11612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mm³/j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83480" y="5554980"/>
            <a:ext cx="402336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0056" y="5573268"/>
            <a:ext cx="3950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Vitesse de croissance à saturation (grand volume)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5554980"/>
            <a:ext cx="283464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89136" y="5573268"/>
            <a:ext cx="27614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Groupe contrôle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" y="5824728"/>
            <a:ext cx="96012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73736" y="5843016"/>
            <a:ext cx="8869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k₂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43000" y="5824728"/>
            <a:ext cx="251460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79576" y="5843016"/>
            <a:ext cx="24414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Paramètre cytotoxique du drug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03320" y="5824728"/>
            <a:ext cx="123444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39896" y="5843016"/>
            <a:ext cx="11612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L/µg/j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83480" y="5824728"/>
            <a:ext cx="402336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0056" y="5843016"/>
            <a:ext cx="3950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Rate d'entrée en phase endommagée = k₂ × C(t)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52560" y="5824728"/>
            <a:ext cx="2834640" cy="2468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89136" y="5843016"/>
            <a:ext cx="27614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Données traitées + PK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6094476"/>
            <a:ext cx="96012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3736" y="6112764"/>
            <a:ext cx="8869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k₁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3000" y="6094476"/>
            <a:ext cx="251460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79576" y="6112764"/>
            <a:ext cx="24414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Constante de transit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703320" y="6094476"/>
            <a:ext cx="123444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39896" y="6112764"/>
            <a:ext cx="11612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j⁻¹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83480" y="6094476"/>
            <a:ext cx="402336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0056" y="6112764"/>
            <a:ext cx="395020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= 3/MTT  —  délai moyen avant mort cellulaire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52560" y="6094476"/>
            <a:ext cx="2834640" cy="246888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89136" y="6112764"/>
            <a:ext cx="27614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Données biologiques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66019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Réf. : Simeoni M. et al.  —  Cancer Research, 2004, 64 : 1094–1101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0" y="66019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Réunion FGFR2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