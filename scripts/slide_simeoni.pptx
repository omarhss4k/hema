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Modèle de Simeoni — Inhibition de la croissance tumorale (TGI)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Simeoni et al., Cancer Research, 2004  ·  Modèle PK/PD mécanistique préclinique (in vivo)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23544"/>
            <a:ext cx="12188952" cy="5029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051560"/>
            <a:ext cx="3063240" cy="3429000"/>
          </a:xfrm>
          <a:prstGeom prst="rect">
            <a:avLst/>
          </a:prstGeom>
          <a:solidFill>
            <a:srgbClr val="D6E4F5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Pourquoi ce modèle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90472"/>
            <a:ext cx="2880360" cy="658368"/>
          </a:xfrm>
          <a:prstGeom prst="rect">
            <a:avLst/>
          </a:prstGeom>
          <a:solidFill>
            <a:srgbClr val="FFE8E8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Modèle Emax simple 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4650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0000"/>
                </a:solidFill>
              </a:rPr>
              <a:t>Effet instantané : pas de délai entre exposition et réponse tumorale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31136"/>
            <a:ext cx="2880360" cy="658368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94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44"/>
                </a:solidFill>
              </a:rPr>
              <a:t>Modèle de Simeoni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4871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55520"/>
                </a:solidFill>
              </a:rPr>
              <a:t>Compartiments de transit : délai biologique entre dommage et mort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0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Ce que le modèle capture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91840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331927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①  Croissance tumorale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Exponentielle puis linéaire (sans traitement)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13632"/>
            <a:ext cx="2880360" cy="566928"/>
          </a:xfrm>
          <a:prstGeom prst="rect">
            <a:avLst/>
          </a:prstGeom>
          <a:solidFill>
            <a:srgbClr val="ECF4FB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3941064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②  Endommagement par le drug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Les cellules lèsées transitent avant de mourir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53542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4562856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③  Compétition croissance / mort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4809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Régression si effet drug &gt; seuil de croissance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1051560"/>
            <a:ext cx="5486400" cy="34290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0789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Structure des compartiments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1508760"/>
            <a:ext cx="141732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1527048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C(t)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155448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Médicament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4296" y="1911095"/>
            <a:ext cx="36576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219456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19659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75B6"/>
                </a:solidFill>
              </a:rPr>
              <a:t>k₂·C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423160"/>
            <a:ext cx="1051560" cy="6400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47802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278892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Prolif.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2185415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78644"/>
                </a:solidFill>
              </a:rPr>
              <a:t>↺  g(w)·x₁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423160"/>
            <a:ext cx="914400" cy="64008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18888" y="2478024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278892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79592" y="2423160"/>
            <a:ext cx="914400" cy="64008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79" y="2478024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79" y="278892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58583" y="2423160"/>
            <a:ext cx="914400" cy="64008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6871" y="2478024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x₄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1" y="2788920"/>
            <a:ext cx="877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423160"/>
            <a:ext cx="59436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0727" y="2478024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0727" y="278892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26243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6864" y="2368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E75B6"/>
                </a:solidFill>
              </a:rPr>
              <a:t>k₂·C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33288" y="26243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33288" y="2368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26243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2368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262432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2368296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3172968"/>
            <a:ext cx="5349240" cy="292608"/>
          </a:xfrm>
          <a:prstGeom prst="rect">
            <a:avLst/>
          </a:prstGeom>
          <a:solidFill>
            <a:srgbClr val="FFF7CC"/>
          </a:solidFill>
          <a:ln w="9525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3191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5501A"/>
                </a:solidFill>
              </a:rPr>
              <a:t>Volume tumoral total :   w(t)  =  x₁ + x₂ + x₃ + x₄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3547872"/>
            <a:ext cx="548640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35753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44"/>
                </a:solidFill>
              </a:rPr>
              <a:t>Croissance sans traitement  g(w) 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378644"/>
                </a:solidFill>
              </a:rPr>
              <a:t>g(w)  =  λ₀  /  ( 1 + (λ₀·w / λ₁)^ψ )^(1/ψ)       avec  ψ = 20  (fixé)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20440" y="41513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307030"/>
                </a:solidFill>
              </a:rPr>
              <a:t>Phase exponentielle (w petit)  ——→  Phase linéaire (w grand)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1051560"/>
            <a:ext cx="29260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0" y="1078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Équations différentielles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2560" y="1508760"/>
            <a:ext cx="2834640" cy="384048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98280" y="15544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1A3A5C"/>
                </a:solidFill>
              </a:rPr>
              <a:t>dx₁/dt  =  [ g(w) − k₂·C ] · x₁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1929384"/>
            <a:ext cx="28346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8280" y="1975103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dx₂/dt  =  k₂·C·x₁  −  k₁·x₂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2350008"/>
            <a:ext cx="2834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98280" y="2395727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dx₃/dt  =  k₁·x₂    −  k₁·x₃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52560" y="2770632"/>
            <a:ext cx="28346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98280" y="28163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dx₄/dt  =  k₁·x₃    −  k₁·x₄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06840" y="3209544"/>
            <a:ext cx="2926080" cy="1243584"/>
          </a:xfrm>
          <a:prstGeom prst="rect">
            <a:avLst/>
          </a:prstGeom>
          <a:solidFill>
            <a:srgbClr val="FFEBD6"/>
          </a:solidFill>
          <a:ln w="1524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98280" y="323697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01A"/>
                </a:solidFill>
              </a:rPr>
              <a:t>TSC  (Tumor Static Conc.)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352958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Concentration seuil qui maintient
la tumeur stable 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3904487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TSC  ≈  k₁ / k₂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98280" y="4178808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</a:rPr>
              <a:t>C &gt; TSC  →  régression tumorale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98280" y="4370832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04000"/>
                </a:solidFill>
              </a:rPr>
              <a:t>C &lt; TSC  →  croissance ralentie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4617720"/>
            <a:ext cx="1188720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464515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Paramètres clés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4974336"/>
            <a:ext cx="1005840" cy="2834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3736" y="4992624"/>
            <a:ext cx="9326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88720" y="4974336"/>
            <a:ext cx="2651760" cy="2834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25296" y="4992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Définition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4974336"/>
            <a:ext cx="1325880" cy="2834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22776" y="49926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Unité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4974336"/>
            <a:ext cx="3931920" cy="2834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94376" y="4992624"/>
            <a:ext cx="38587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Interprétation biologique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35440" y="4974336"/>
            <a:ext cx="2651760" cy="2834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72015" y="4992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Estimé depuis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5276088"/>
            <a:ext cx="10058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3736" y="5294375"/>
            <a:ext cx="9326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88720" y="5276088"/>
            <a:ext cx="26517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25296" y="5294375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exponentielle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86200" y="5276088"/>
            <a:ext cx="13258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22776" y="5294375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j⁻¹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57800" y="5276088"/>
            <a:ext cx="393192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94376" y="5294375"/>
            <a:ext cx="3858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Vitesse de doublement initial de la tumeur (contrôle)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35440" y="5276088"/>
            <a:ext cx="26517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72015" y="5294375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contrôle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7160" y="5536692"/>
            <a:ext cx="10058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73736" y="5554979"/>
            <a:ext cx="9326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λ₁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88720" y="5536692"/>
            <a:ext cx="26517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25296" y="5554979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linéaire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86200" y="5536692"/>
            <a:ext cx="132588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22776" y="5554979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mm³/j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57800" y="5536692"/>
            <a:ext cx="393192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294376" y="5554979"/>
            <a:ext cx="3858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Taille limite à saturation — freine la croissance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35440" y="5536692"/>
            <a:ext cx="26517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72015" y="5554979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contrôle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797296"/>
            <a:ext cx="10058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73736" y="5815583"/>
            <a:ext cx="9326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k₂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88720" y="5797296"/>
            <a:ext cx="26517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225296" y="5815583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Constante cytotoxique du drug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886200" y="5797296"/>
            <a:ext cx="13258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22776" y="5815583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L/µg/j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57800" y="5797296"/>
            <a:ext cx="393192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94376" y="5815583"/>
            <a:ext cx="3858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Rate d'entrée des cellules en phase endommagée  [= k₂·C]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35440" y="5797296"/>
            <a:ext cx="26517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72015" y="5815583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traitées + PK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37160" y="6057900"/>
            <a:ext cx="10058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73736" y="6076188"/>
            <a:ext cx="9326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k₁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88720" y="6057900"/>
            <a:ext cx="26517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25296" y="6076188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Constante de transit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886200" y="6057900"/>
            <a:ext cx="132588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922776" y="6076188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j⁻¹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57800" y="6057900"/>
            <a:ext cx="393192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94376" y="6076188"/>
            <a:ext cx="3858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= 3/MTT (mean transit time) — durée de la phase de transit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235440" y="6057900"/>
            <a:ext cx="26517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272015" y="6076188"/>
            <a:ext cx="25786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biologiques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82880" y="6601968"/>
            <a:ext cx="9875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Réf. : Simeoni M. et al.  —  A Predictive PK-PD Model of Tumor Growth Inhibition in Mouse Xenograft Experiments.  Cancer Research, 2004, 64 : 1094–1101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6601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Réunion FGFR2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