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Modèle PK/PD TGI Simeoni — Résultats  FGFR2  (Q2W ×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Fc-silent FGFR2-huBPA-LP1  |  Souris xénogreffe  |  Groupes : Contrôle, 3 mg/kg, 10 mg/kg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C5501A"/>
                </a:solidFill>
              </a:rPr>
              <a:t>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23544"/>
            <a:ext cx="12188952" cy="50292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024128"/>
            <a:ext cx="7818120" cy="5468112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3575304"/>
            <a:ext cx="7635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0000"/>
                </a:solidFill>
              </a:rPr>
              <a:t>[Image manquante]
scripts/plot_PKPD_simeoni_FGFR2.png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024128"/>
            <a:ext cx="3959352" cy="5468112"/>
          </a:xfrm>
          <a:prstGeom prst="rect">
            <a:avLst/>
          </a:prstGeom>
          <a:solidFill>
            <a:srgbClr val="D6E4F5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06070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Paramètres estimés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463040"/>
            <a:ext cx="59436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490472"/>
            <a:ext cx="5394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Param.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50808" y="1463040"/>
            <a:ext cx="123444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490472"/>
            <a:ext cx="1179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Valeur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03536" y="1463040"/>
            <a:ext cx="18288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30967" y="1490472"/>
            <a:ext cx="17739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Définition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55648"/>
            <a:ext cx="59436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50808" y="1755648"/>
            <a:ext cx="123444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03536" y="1755648"/>
            <a:ext cx="182880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1801368"/>
            <a:ext cx="521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λ₀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7384" y="1801368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0.0607 /j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0111" y="1801368"/>
            <a:ext cx="17556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Taux de croissance exponentielle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103120"/>
            <a:ext cx="59436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50808" y="2103120"/>
            <a:ext cx="123444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03536" y="2103120"/>
            <a:ext cx="182880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2148840"/>
            <a:ext cx="521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λ₁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2148840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non identifiable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1" y="2148840"/>
            <a:ext cx="17556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Taux de croissance linéaire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2450592"/>
            <a:ext cx="59436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50808" y="2450592"/>
            <a:ext cx="123444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03536" y="2450592"/>
            <a:ext cx="182880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4736" y="2496312"/>
            <a:ext cx="521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k₁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7384" y="2496312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0.200 /j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1" y="2496312"/>
            <a:ext cx="17556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Constante de transit (borne basse)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2798064"/>
            <a:ext cx="59436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50808" y="2798064"/>
            <a:ext cx="123444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03536" y="2798064"/>
            <a:ext cx="182880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74736" y="2843784"/>
            <a:ext cx="5212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A5C"/>
                </a:solidFill>
              </a:rPr>
              <a:t>k₂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7384" y="2843784"/>
            <a:ext cx="11612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1.635e-06 L/µg/j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40111" y="2843784"/>
            <a:ext cx="17556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Potence cytotoxique du drug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3282696"/>
            <a:ext cx="3749039" cy="777240"/>
          </a:xfrm>
          <a:prstGeom prst="rect">
            <a:avLst/>
          </a:prstGeom>
          <a:solidFill>
            <a:srgbClr val="FFEBD6"/>
          </a:solidFill>
          <a:ln w="19050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33192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501A"/>
                </a:solidFill>
              </a:rPr>
              <a:t>TSC  (Tumor Static Concentration)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5935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</a:rPr>
              <a:t>TSC = λ₀ / k₂  =  37,132 µg/L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84962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</a:rPr>
              <a:t>MTT  =  4 / k₁  =  20 jours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4151376"/>
            <a:ext cx="3749039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418795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Méthode d'optimisation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4074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DEoptim (évolution différentielle, NP=120, 600 générations)
+ affinage local nlminb  |  Fonction objectif : Σ w·[log(obs)−log(pred)]²
PK fixée (fit 2-comp. séparé)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11312" y="4901184"/>
            <a:ext cx="320040" cy="16459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77072" y="490118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Contrôle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11312" y="5120640"/>
            <a:ext cx="320040" cy="164592"/>
          </a:xfrm>
          <a:prstGeom prst="rect">
            <a:avLst/>
          </a:prstGeom>
          <a:solidFill>
            <a:srgbClr val="439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77072" y="51206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3 mg/kg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11312" y="5340096"/>
            <a:ext cx="320040" cy="164592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77072" y="534009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10 mg/kg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2880" y="66019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Réf. : Simeoni M. et al.  —  Cancer Research, 2004, 64 : 1094–1101  |  Optimisation : DEoptim (Differential Evolution) + affinage nlminb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66019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Réunion FGFR2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Interprétation pharmacologique — Simeoni FGFR2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126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</a:rPr>
              <a:t>TSC, MTT, efficacité par groupe  |  Comparaison avec le modèle Emax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9144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C5501A"/>
                </a:solidFill>
              </a:rPr>
              <a:t>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23544"/>
            <a:ext cx="12188952" cy="50292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024128"/>
            <a:ext cx="576072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Analyse TSC par groupe de dose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463040"/>
            <a:ext cx="5614416" cy="658368"/>
          </a:xfrm>
          <a:prstGeom prst="rect">
            <a:avLst/>
          </a:prstGeom>
          <a:solidFill>
            <a:srgbClr val="FFEBD6"/>
          </a:solidFill>
          <a:ln w="15240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499616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00000"/>
                </a:solidFill>
              </a:rPr>
              <a:t>TSC  =  λ₀ / k₂  =  37,132  µg/L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810512"/>
            <a:ext cx="5431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1A1A1A"/>
                </a:solidFill>
              </a:rPr>
              <a:t>Concentration nécessaire pour maintenir la tumeur stable (croissance = inhibition)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23113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Comparaison Cmax vs TSC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542032"/>
            <a:ext cx="91440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2560320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Groupe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3856" y="2542032"/>
            <a:ext cx="128016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2560320"/>
            <a:ext cx="122529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Dose (µg/kg)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32304" y="2542032"/>
            <a:ext cx="128016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9736" y="2560320"/>
            <a:ext cx="122529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Cmax (µg/L)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0752" y="2542032"/>
            <a:ext cx="109728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58184" y="2560320"/>
            <a:ext cx="10424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Cmax / TSC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542032"/>
            <a:ext cx="100584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2560320"/>
            <a:ext cx="9509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Effet attendu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2834640"/>
            <a:ext cx="914400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33856" y="2834640"/>
            <a:ext cx="1280160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32304" y="2834640"/>
            <a:ext cx="1280160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30752" y="2834640"/>
            <a:ext cx="1097280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834640"/>
            <a:ext cx="1005840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7744" y="2889504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888"/>
                </a:solidFill>
              </a:rPr>
              <a:t>Contrôle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2889504"/>
            <a:ext cx="12070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2889504"/>
            <a:ext cx="12070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2889504"/>
            <a:ext cx="1024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2889504"/>
            <a:ext cx="9326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Croissance libre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3218688"/>
            <a:ext cx="914400" cy="347472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33856" y="3218688"/>
            <a:ext cx="1280160" cy="347472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32304" y="3218688"/>
            <a:ext cx="1280160" cy="347472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30752" y="3218688"/>
            <a:ext cx="1097280" cy="347472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218688"/>
            <a:ext cx="1005840" cy="347472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" y="3273552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393C3"/>
                </a:solidFill>
              </a:rPr>
              <a:t>3 mg/kg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" y="3273552"/>
            <a:ext cx="12070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3 000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3273552"/>
            <a:ext cx="12070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42,254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67328" y="3273552"/>
            <a:ext cx="1024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0000"/>
                </a:solidFill>
              </a:rPr>
              <a:t>1.1×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82896" y="3273552"/>
            <a:ext cx="9326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Ralentissement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" y="3602736"/>
            <a:ext cx="914400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33856" y="3602736"/>
            <a:ext cx="1280160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32304" y="3602736"/>
            <a:ext cx="1280160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30752" y="3602736"/>
            <a:ext cx="1097280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46320" y="3602736"/>
            <a:ext cx="1005840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" y="3657600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166AC"/>
                </a:solidFill>
              </a:rPr>
              <a:t>10 mg/kg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0432" y="3657600"/>
            <a:ext cx="12070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10 000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3657600"/>
            <a:ext cx="120700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140,845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67328" y="3657600"/>
            <a:ext cx="102412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0000"/>
                </a:solidFill>
              </a:rPr>
              <a:t>3.8×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82896" y="3657600"/>
            <a:ext cx="9326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1A"/>
                </a:solidFill>
              </a:rPr>
              <a:t>Stase / légère régression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1168" y="4041648"/>
            <a:ext cx="5614416" cy="502920"/>
          </a:xfrm>
          <a:prstGeom prst="rect">
            <a:avLst/>
          </a:prstGeom>
          <a:solidFill>
            <a:srgbClr val="FFF7CC"/>
          </a:solidFill>
          <a:ln w="9525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2608" y="4059936"/>
            <a:ext cx="54315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5501A"/>
                </a:solidFill>
              </a:rPr>
              <a:t>Cmax = concentration au pic (t=0 après injection IV)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" y="4261104"/>
            <a:ext cx="5431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A1A1A"/>
                </a:solidFill>
              </a:rPr>
              <a:t>La concentration décroît exponentiellement (t½ ≈ 3 j). Le drug dépasse le TSC pendant ~8 j à 3 mg/kg, ~12 j à 10 mg/kg.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1168" y="4636008"/>
            <a:ext cx="5614416" cy="777240"/>
          </a:xfrm>
          <a:prstGeom prst="rect">
            <a:avLst/>
          </a:prstGeom>
          <a:solidFill>
            <a:srgbClr val="D6E4F5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2608" y="4654296"/>
            <a:ext cx="5431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MTT = 20 jours  (= 4/k₁)  —  signification biologique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" y="4919472"/>
            <a:ext cx="5431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Les cellules endommagées par le drug mettent en moyenne 20 jours pour mourir (transit x₁→x₂→x₃→x₄). Ce délai explique pourquoi la suppression tumorale persiste après la disparition du médicament (t½ PK ≈ 3 j).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1024128"/>
            <a:ext cx="566928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106070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Comparaison des modèles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36208" y="1444752"/>
            <a:ext cx="210312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1463040"/>
            <a:ext cx="204825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Critère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57616" y="1444752"/>
            <a:ext cx="155448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85048" y="1463040"/>
            <a:ext cx="1499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Emax simple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930384" y="1444752"/>
            <a:ext cx="1645920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57815" y="1463040"/>
            <a:ext cx="15910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Simeoni (2004)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36208" y="1737360"/>
            <a:ext cx="21031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357616" y="1737360"/>
            <a:ext cx="155448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930384" y="1737360"/>
            <a:ext cx="16459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72784" y="1783080"/>
            <a:ext cx="20299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Effet drogue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94192" y="1783080"/>
            <a:ext cx="1481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ke · C/(EC50+C)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66959" y="1783080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k₂ · C  (linéaire)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36208" y="2084831"/>
            <a:ext cx="210312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357616" y="2084831"/>
            <a:ext cx="155448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930384" y="2084831"/>
            <a:ext cx="164592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72784" y="2130551"/>
            <a:ext cx="20299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Délai tumoral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94192" y="2130551"/>
            <a:ext cx="1481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Non (immédiat)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66959" y="2130551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Oui — MTT = 4/k₁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36208" y="2432304"/>
            <a:ext cx="21031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57616" y="2432304"/>
            <a:ext cx="155448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930384" y="2432304"/>
            <a:ext cx="16459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72784" y="2478024"/>
            <a:ext cx="20299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Compartiments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94192" y="2478024"/>
            <a:ext cx="1481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 (TV direct)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66959" y="2478024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4 (x₁ → x₂ → x₃ → x₄)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36208" y="2779776"/>
            <a:ext cx="210312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57616" y="2779776"/>
            <a:ext cx="155448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930384" y="2779776"/>
            <a:ext cx="164592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72784" y="2825496"/>
            <a:ext cx="20299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Params. PD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94192" y="2825496"/>
            <a:ext cx="1481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 (kg, ke, EC50)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66959" y="2825496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4 (λ₀, λ₁, k₁, k₂)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36208" y="3127248"/>
            <a:ext cx="21031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57616" y="3127248"/>
            <a:ext cx="155448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930384" y="3127248"/>
            <a:ext cx="16459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272784" y="3172968"/>
            <a:ext cx="20299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Fit 10 mg/kg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94192" y="3172968"/>
            <a:ext cx="1481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0000"/>
                </a:solidFill>
              </a:rPr>
              <a:t>Médiocre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66959" y="3172968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78644"/>
                </a:solidFill>
              </a:rPr>
              <a:t>Bon  ✓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36208" y="3474720"/>
            <a:ext cx="210312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57616" y="3474720"/>
            <a:ext cx="155448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930384" y="3474720"/>
            <a:ext cx="1645920" cy="320040"/>
          </a:xfrm>
          <a:prstGeom prst="rect">
            <a:avLst/>
          </a:prstGeom>
          <a:solidFill>
            <a:srgbClr val="ECF4FB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72784" y="3520439"/>
            <a:ext cx="20299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Fit Contrôle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94192" y="3520439"/>
            <a:ext cx="1481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0000"/>
                </a:solidFill>
              </a:rPr>
              <a:t>Très mauvais ✗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966959" y="3520439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Imparfait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36208" y="3822191"/>
            <a:ext cx="21031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357616" y="3822191"/>
            <a:ext cx="155448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930384" y="3822191"/>
            <a:ext cx="1645920" cy="32004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72784" y="3867911"/>
            <a:ext cx="202996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Interprétabilité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94192" y="3867911"/>
            <a:ext cx="14813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EC50, ke/kg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66959" y="3867911"/>
            <a:ext cx="1572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78644"/>
                </a:solidFill>
              </a:rPr>
              <a:t>TSC = λ₀/k₂  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279392"/>
            <a:ext cx="5577840" cy="2359152"/>
          </a:xfrm>
          <a:prstGeom prst="rect">
            <a:avLst/>
          </a:prstGeom>
          <a:solidFill>
            <a:srgbClr val="E2EFDA"/>
          </a:solidFill>
          <a:ln w="1905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55080" y="43342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644"/>
                </a:solidFill>
              </a:rPr>
              <a:t>Conclusions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55080" y="466344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①  Le modèle de Simeoni reproduit correctement la stase tumorale observée à 10 mg/kg grâce au délai de transit (MTT = 20 j)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55080" y="512064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②  Le TSC estimé (37,132 µg/L) est atteint dès les premières heures post-injection pour les deux doses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55080" y="557784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③  Le groupe 3 mg/kg montre une réponse partielle cohérente avec Cmax/TSC ≈ 1,1×  (juste au-dessus du seuil)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55080" y="6035040"/>
            <a:ext cx="5303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④  Amélioration possible : contraindre λ₀ depuis le contrôle, augmenter la borne k₁ pour explorer MTT &gt; 20 j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82880" y="6601968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Réf. : Simeoni M. et al.  —  Cancer Research, 2004, 64 : 1094–1101  |  Optimisation : DEoptim (Differential Evolution) + affinage nlminb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241280" y="66019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Réunion FGFR2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