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Modélisation PK/PD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ED6F1"/>
                </a:solidFill>
              </a:rPr>
              <a:t>Fc-silent FGFR2-huBPA-LP1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5C1E9"/>
                </a:solidFill>
              </a:rPr>
              <a:t>Modele 2-compartiments PK  |  Simeoni 2004 PKPD  |  Souris xenogreffe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Bloc 1 : Donnees d'entree     Bloc 2 : Structure des modeles
Bloc 3 : Parametres estimes   Bloc 4 : Predit vs Observe     Bloc 5 : Efficacite (TGI)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6126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</a:rP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1 — Donnees d'entree : Pharmacocinetique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Concentrations plasmatiques observees — IV bolus | 3 doses | Souris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Donnees brutes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087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64"/>
                </a:solidFill>
              </a:rPr>
              <a:t>• 3 doses testees : 1, 5 et 10 mg/kg
• Decroissance bi-exponentielle visible
• Compatible avec un modele 2-compartiments
• Lineaire en dose (courbes proportionnelles)</a:t>
            </a:r>
          </a:p>
        </p:txBody>
      </p:sp>
      <p:pic>
        <p:nvPicPr>
          <p:cNvPr id="7" name="Picture 6" descr="01_donnees_PK_br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46120"/>
            <a:ext cx="1179576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Echelle log (droite) : deux phases de decroissance distinctes — distribution rapide puis elimination lente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1 — Donnees d'entree : Croissance tumorale vs Inhibition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Volume tumoral (mean +/- SEM) | Xenogreffe souris | Protocole Q2W x4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Observations cles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087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64"/>
                </a:solidFill>
              </a:rPr>
              <a:t>• Controle : croissance rapide, plateau vers j21 (~1200 mm3)
• 3 mg/kg : inhibition partielle, tumeur stable apres j18
• 10 mg/kg : stase quasi-complete, legere regression
• Effet dose-dependant clairement visible</a:t>
            </a:r>
          </a:p>
        </p:txBody>
      </p:sp>
      <p:pic>
        <p:nvPicPr>
          <p:cNvPr id="7" name="Picture 6" descr="05_croissance_vs_inhib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7955279" cy="5577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371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Effet du traitement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3566160" cy="640080"/>
          </a:xfrm>
          <a:prstGeom prst="rect">
            <a:avLst/>
          </a:prstGeom>
          <a:solidFill>
            <a:srgbClr val="F4F6F7"/>
          </a:solidFill>
          <a:ln>
            <a:solidFill>
              <a:srgbClr val="F4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6464"/>
                </a:solidFill>
              </a:rPr>
              <a:t>Controle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Croissance exponentielle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697480"/>
            <a:ext cx="3566160" cy="640080"/>
          </a:xfrm>
          <a:prstGeom prst="rect">
            <a:avLst/>
          </a:prstGeom>
          <a:solidFill>
            <a:srgbClr val="F4F6F7"/>
          </a:solidFill>
          <a:ln>
            <a:solidFill>
              <a:srgbClr val="F4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715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449"/>
                </a:solidFill>
              </a:rPr>
              <a:t>3 mg/kg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TGI ~ 64% a j25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474720"/>
            <a:ext cx="3566160" cy="640080"/>
          </a:xfrm>
          <a:prstGeom prst="rect">
            <a:avLst/>
          </a:prstGeom>
          <a:solidFill>
            <a:srgbClr val="F4F6F7"/>
          </a:solidFill>
          <a:ln>
            <a:solidFill>
              <a:srgbClr val="F4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493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9E"/>
                </a:solidFill>
              </a:rPr>
              <a:t>10 mg/kg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794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TGI ~ 84% a j25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Les triangles rouges indiquent les jours d'administration (j0, j14, j28, j42)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2 — Structure du modele PK : 2-compartiments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IV bolus | Parametres : CL, V1, V2, Q | Optimisation nlminb en log-espace</a:t>
            </a:r>
          </a:p>
        </p:txBody>
      </p:sp>
      <p:pic>
        <p:nvPicPr>
          <p:cNvPr id="5" name="Picture 4" descr="04_schema_modele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Equations du modele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dA1/dt = -(CL/V1 + Q/V1)*A1
        + (Q/V2)*A2
dA2/dt =  (Q/V1)*A1 - (Q/V2)*A2
C1(t) = A1(t) /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Parametres estimes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2519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CL  Clairance systemique
V1  Volume central
V2  Volume peripherique
Q   Clairance intercompart.
C1(t) pilote l'effet 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Methode des residus pour les valeurs initiales → optimisation nlminb pour affiner les parametres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2 — Structure du modele PKPD : Simeoni 2004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Croissance tumorale + compartiments de transit pour les cellules endommagees</a:t>
            </a:r>
          </a:p>
        </p:txBody>
      </p:sp>
      <p:pic>
        <p:nvPicPr>
          <p:cNvPr id="5" name="Picture 4" descr="06_schema_modele_Simeo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8229600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Logique du modele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1. C1(t) issue du modele PK
2. C1 tue les cellules x1
   via k2 * C1 * x1
3. Cellules endommagees
   transitent x2-&gt;x3-&gt;x4
4. w(t) = x1+x2+x3+x4
   = volume tumoral total
5. Retroaction : la masse w
   limite la croissance de x1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Reference : Simeoni et al., Cancer Research 2004 | p=1 (modele original)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3 — Sorties du modele PK : Parametres estimes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Modele 2-compartiments | IV bolus | Fc-silent FGFR2-huBPA-LP1 | Souris</a:t>
            </a:r>
          </a:p>
        </p:txBody>
      </p:sp>
      <p:pic>
        <p:nvPicPr>
          <p:cNvPr id="5" name="Picture 4" descr="03_parametres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Points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t1/2 beta = 10.6 jours
-&gt; Longue demi-vie
   typique d'un anticorps
V1 = 0.071 L/kg
-&gt; Volume central proche
   du plasma (souris)
Vss = V1+V2 = 0.204 L/kg
-&gt; Distribution moderee
CL faible = 0.017 L/j/kg
-&gt; Elimination 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Optimisation nlminb en log-espace | Residus log egalement ponderes entre les 3 groupes de dose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3 — Sorties du modele PKPD : Parametres estimes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Simeoni 2004 | PK fixes | l0/l1 calibres sur controle | k2 optimise (DEoptim)</a:t>
            </a:r>
          </a:p>
        </p:txBody>
      </p:sp>
      <p:pic>
        <p:nvPicPr>
          <p:cNvPr id="5" name="Picture 4" descr="09_parametres_PK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Vert = parametres PD estimes | Bleu = parametres PK fixes depuis le modele PK | k1 fixe a 0.5/j (Simeoni 2004) | k2 optimise par DEoptim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4 — Qualite du fit PK : Predit vs 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3 doses | Echelle log | Lignes = modele | Points = donnees observees</a:t>
            </a:r>
          </a:p>
        </p:txBody>
      </p:sp>
      <p:pic>
        <p:nvPicPr>
          <p:cNvPr id="5" name="Picture 4" descr="02_PK_predit_vs_ob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04672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Bon ajustement global :
• Les 3 doses sont bien
  reproduites sur 650h
• Linearite PK confirmee
  (courbes proportionnelles)
• Deux phases distinctes :
  - Phase alpha (rapide)
    t1/2a ~ quelques heures
  - Phase beta (lente)
    t1/2b = 10.6 jours
• Legere deviation a 1 mg/kg
  en fin de courbe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Objectif nlminb : somme des residus quadratiques log | Residus log egalement ponderes par groupe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4 — Qualite du fit PKPD : Predit vs 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Simeoni 2004 | Q2W x4 doses | k2 = 1.00e-07 | Residus relatifs (droite)</a:t>
            </a:r>
          </a:p>
        </p:txBody>
      </p:sp>
      <p:pic>
        <p:nvPicPr>
          <p:cNvPr id="5" name="Picture 4" descr="07_PKPD_predit_vs_ob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1179576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Limite actuelle : k2 unique pour les deux doses traitees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-&gt; 10 mg/kg bien capture | 3 mg/kg sous-estime -&gt; necessite un modele Emax ou k2 par dose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5 — Efficacite : Tumour Growth Inhibition (TGI)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TGI observe vs predit par le modele | Protocole Q2W | Fc-silent FGFR2-huBPA-LP1</a:t>
            </a:r>
          </a:p>
        </p:txBody>
      </p:sp>
      <p:pic>
        <p:nvPicPr>
          <p:cNvPr id="5" name="Picture 4" descr="08_tableau_TG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10 mg/kg :
  TGI observe  : 83.5 %
  TGI predit   : 93.8 %
  -&gt; Bon accord modele/donnees
3 mg/kg :
  TGI observe  : 64.2 %
  TGI predit   : 47.0 %
  -&gt; Modele sous-estime l'effet
Piste d'amelioration :
  Modele Emax pour capturer
  la non-linearite de l'effet
  en fonction de la dose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TGI = (1 - delta_W_traite / delta_W_controle) x 100 | Vert &gt;= 60% | Orange 30-60%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Conclusions et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Fc-silent FGFR2-huBPA-LP1 | Modelisation PK/PD souris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394960" cy="5349240"/>
          </a:xfrm>
          <a:prstGeom prst="rect">
            <a:avLst/>
          </a:prstGeom>
          <a:solidFill>
            <a:srgbClr val="EAF2FB"/>
          </a:solidFill>
          <a:ln>
            <a:solidFill>
              <a:srgbClr val="EA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Ce qui fonctionne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✓  Modele PK 2-compartiments : bon fit, 3 doses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✓  t1/2 beta = 10.6 j — coherent avec un 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✓  Linearite PK confirmee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124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✓  Croissance tumorale controle bien ajustee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7083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✓  TGI predit 10 mg/kg ~ TGI observe (84 vs 94%)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✓  Tableau TGI : outil de communication clair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669280" cy="5349240"/>
          </a:xfrm>
          <a:prstGeom prst="rect">
            <a:avLst/>
          </a:prstGeom>
          <a:solidFill>
            <a:srgbClr val="FDEDEC"/>
          </a:solidFill>
          <a:ln>
            <a:solidFill>
              <a:srgbClr val="FDE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Limites et prochaines etapes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2B21"/>
                </a:solidFill>
              </a:rPr>
              <a:t>-&gt;  k2 unique =&gt; sous-estime l'effet a 3 mg/kg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420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2B21"/>
                </a:solidFill>
              </a:rPr>
              <a:t>-&gt;  Piste 1 : k2 libre par groupe de dose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4670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2B21"/>
                </a:solidFill>
              </a:rPr>
              <a:t>-&gt;  Piste 2 : modele Emax (Cmax, EC50)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51376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2B21"/>
                </a:solidFill>
              </a:rPr>
              <a:t>-&gt;  Extension : translabilite souris -&gt; homme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5604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22B21"/>
                </a:solidFill>
              </a:rPr>
              <a:t>-&gt;  Simulation de nouveaux schemas posologiques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Modele PK/PD developpe sous R (rxode2 + deSolve + DEoptim) | Simeoni 2004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