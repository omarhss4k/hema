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8" r:id="rId5"/>
    <p:sldId id="269" r:id="rId6"/>
    <p:sldId id="261" r:id="rId7"/>
    <p:sldId id="260" r:id="rId8"/>
    <p:sldId id="270" r:id="rId9"/>
    <p:sldId id="262" r:id="rId10"/>
    <p:sldId id="271" r:id="rId11"/>
    <p:sldId id="266" r:id="rId12"/>
    <p:sldId id="272" r:id="rId13"/>
    <p:sldId id="273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8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1828800"/>
          </a:xfrm>
          <a:prstGeom prst="rect">
            <a:avLst/>
          </a:prstGeom>
          <a:solidFill>
            <a:srgbClr val="15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ED6F1"/>
                </a:solidFill>
              </a:rPr>
              <a:t>Modélisation PK/PD — Fc-silent FGFR2-huBPA-LP1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5C1E9"/>
                </a:solidFill>
              </a:rPr>
              <a:t>Modele PK : 2 compartiments   |   Modele PD : Simeoni-Emax   |   Langage : 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4663440"/>
            <a:ext cx="7772400" cy="54864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5C1E9"/>
                </a:solidFill>
              </a:rPr>
              <a:t>Redige par : [votre nom]   |   Stage 2026   |   Encadrante : [nom tutrice]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Sommaire du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Ce document repond a 5 questions essentielles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89888"/>
            <a:ext cx="11430000" cy="86868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1499616"/>
            <a:ext cx="411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200" b="1" i="0" dirty="0">
                <a:solidFill>
                  <a:srgbClr val="1A5276"/>
                </a:solidFill>
              </a:rPr>
              <a:t>1</a:t>
            </a:r>
            <a:endParaRPr sz="2200" b="1" i="0" dirty="0">
              <a:solidFill>
                <a:srgbClr val="1A5276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05840" y="1463040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Quel modele PK a ete utilise et pourquoi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65376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Modele 2 compartiments, hypotheses, parametres estimes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14016"/>
            <a:ext cx="11430000" cy="868680"/>
          </a:xfrm>
          <a:prstGeom prst="rect">
            <a:avLst/>
          </a:prstGeom>
          <a:solidFill>
            <a:srgbClr val="D5F5E3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2523744"/>
            <a:ext cx="411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200" b="1" dirty="0">
                <a:solidFill>
                  <a:srgbClr val="1A5276"/>
                </a:solidFill>
              </a:rPr>
              <a:t>2</a:t>
            </a:r>
            <a:endParaRPr sz="2200" b="1" i="0" dirty="0">
              <a:solidFill>
                <a:srgbClr val="1A5276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2487168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Quel modele PD a ete utilise et pourquoi 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89504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Simeoni 2004 + Emax, hypotheses biologiques, parametres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438144"/>
            <a:ext cx="11430000" cy="868680"/>
          </a:xfrm>
          <a:prstGeom prst="rect">
            <a:avLst/>
          </a:prstGeom>
          <a:solidFill>
            <a:srgbClr val="FEF9E7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57200" y="3547872"/>
            <a:ext cx="411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200" b="1" dirty="0">
                <a:solidFill>
                  <a:srgbClr val="1A5276"/>
                </a:solidFill>
              </a:rPr>
              <a:t>3</a:t>
            </a:r>
            <a:endParaRPr sz="2200" b="1" i="0" dirty="0">
              <a:solidFill>
                <a:srgbClr val="1A5276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" y="3511296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Comment lancer les analyses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913632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Ordre des scripts, fichiers produits, que faire si erreur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462272"/>
            <a:ext cx="11430000" cy="868680"/>
          </a:xfrm>
          <a:prstGeom prst="rect">
            <a:avLst/>
          </a:prstGeom>
          <a:solidFill>
            <a:srgbClr val="FDEDEC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411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200" b="1" dirty="0">
                <a:solidFill>
                  <a:srgbClr val="1A5276"/>
                </a:solidFill>
              </a:rPr>
              <a:t>4</a:t>
            </a:r>
            <a:endParaRPr sz="2200" b="1" i="0" dirty="0">
              <a:solidFill>
                <a:srgbClr val="1A5276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05840" y="4535424"/>
            <a:ext cx="8686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Comment lire et interpreter les resultats 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937760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Graphiques, tableaux, TGI, validation du modele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fr-FR" sz="2400" b="1" dirty="0">
                <a:solidFill>
                  <a:srgbClr val="FFFFFF"/>
                </a:solidFill>
              </a:rPr>
              <a:t>1</a:t>
            </a:r>
            <a:r>
              <a:rPr sz="2400" b="1" i="0" dirty="0">
                <a:solidFill>
                  <a:srgbClr val="FFFFFF"/>
                </a:solidFill>
              </a:rPr>
              <a:t> — </a:t>
            </a:r>
            <a:r>
              <a:rPr sz="2400" b="1" i="0" dirty="0" err="1">
                <a:solidFill>
                  <a:srgbClr val="FFFFFF"/>
                </a:solidFill>
              </a:rPr>
              <a:t>Modele</a:t>
            </a:r>
            <a:r>
              <a:rPr sz="2400" b="1" i="0" dirty="0">
                <a:solidFill>
                  <a:srgbClr val="FFFFFF"/>
                </a:solidFill>
              </a:rPr>
              <a:t> PK : 2 </a:t>
            </a:r>
            <a:r>
              <a:rPr sz="2400" b="1" i="0" dirty="0" err="1">
                <a:solidFill>
                  <a:srgbClr val="FFFFFF"/>
                </a:solidFill>
              </a:rPr>
              <a:t>compartiments</a:t>
            </a:r>
            <a:r>
              <a:rPr sz="2400" b="1" i="0" dirty="0">
                <a:solidFill>
                  <a:srgbClr val="FFFFFF"/>
                </a:solidFill>
              </a:rPr>
              <a:t> IV bolus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Choix justifie par la cinetique bi-exponentielle observee dans les donnees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3200400" cy="128016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5276"/>
                </a:solidFill>
              </a:rPr>
              <a:t>Dose injectee
(IV bolus)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5276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1920" y="1097280"/>
            <a:ext cx="3657600" cy="1280160"/>
          </a:xfrm>
          <a:prstGeom prst="rect">
            <a:avLst/>
          </a:prstGeom>
          <a:solidFill>
            <a:srgbClr val="D6EAF8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60" y="1188720"/>
            <a:ext cx="3383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5276"/>
                </a:solidFill>
              </a:rPr>
              <a:t>Compartiment central
(sang + organes)
C1 = dose / V1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15544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392B"/>
                </a:solidFill>
              </a:rPr>
              <a:t>→ elimination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1325880"/>
            <a:ext cx="2651760" cy="822960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0" y="137160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0392B"/>
                </a:solidFill>
              </a:rPr>
              <a:t>CL × C1
(urine, foie...)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8449"/>
                </a:solidFill>
              </a:rPr>
              <a:t>↕ echange 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31920" y="2743200"/>
            <a:ext cx="3657600" cy="109728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023360" y="283464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E8449"/>
                </a:solidFill>
              </a:rPr>
              <a:t>Compartiment peripherique
(tissus, muscles...)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023360"/>
            <a:ext cx="5486400" cy="256032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11480" y="41148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Hypotheses du modele PK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526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Injection instantanee dans le sang (IV bolus)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86460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Le medicament se repartit entre 2 zones : sang et tissus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20293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L'elimination ne se fait que depuis le compartiment central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54126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Les transferts sang&lt;-&gt;tissus sont proportionnels aux concentrations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87959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La pharmacocinetique est LINEAIRE : doubler la dose double la concentration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21792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Les parametres sont les memes pour toutes les souris (pas de variabilite)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4023360"/>
            <a:ext cx="5943600" cy="2560320"/>
          </a:xfrm>
          <a:prstGeom prst="rect">
            <a:avLst/>
          </a:prstGeom>
          <a:solidFill>
            <a:srgbClr val="F4F6F7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80760" y="41148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Les 4 parametres estimes automatiquement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455371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CL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55371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Clairance : vitesse d'elimination depuis le sang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505663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V1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505663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Volume central : espace de distribution dans le sang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555955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V2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5595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Volume peripherique : espace dans les tissus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606247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C1"/>
                </a:solidFill>
              </a:rPr>
              <a:t>Q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60624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Clairance intercompartimentale : echange sang&lt;-&gt;tissus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La linearite PK a ete verifiee : les courbes a 1, 5 et 10 mg/kg sont proportionnelles — confirme la validite du modele 2-compartiments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</a:rPr>
              <a:t>Donnees</a:t>
            </a:r>
            <a:r>
              <a:rPr sz="2600" b="1" i="0" dirty="0">
                <a:solidFill>
                  <a:srgbClr val="FFFFFF"/>
                </a:solidFill>
              </a:rPr>
              <a:t> </a:t>
            </a:r>
            <a:r>
              <a:rPr sz="2600" b="1" i="0" dirty="0" err="1">
                <a:solidFill>
                  <a:srgbClr val="FFFFFF"/>
                </a:solidFill>
              </a:rPr>
              <a:t>d'entree</a:t>
            </a:r>
            <a:endParaRPr sz="2600" b="1" i="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Concentrations plasmatiques observees — IV bolus | 3 doses | Souris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143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Donnees brutes 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508760"/>
            <a:ext cx="3657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6464"/>
                </a:solidFill>
              </a:rPr>
              <a:t>• 3 doses testees : 1, 5 et 10 mg/kg
• Decroissance bi-exponentielle visible
• Compatible avec un modele 2-compartiments
• Lineaire en dose (courbes proportionnelles)</a:t>
            </a:r>
          </a:p>
        </p:txBody>
      </p:sp>
      <p:pic>
        <p:nvPicPr>
          <p:cNvPr id="7" name="Picture 6" descr="01_donnees_PK_br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2816352"/>
            <a:ext cx="11795760" cy="347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4"/>
                </a:solidFill>
              </a:rPr>
              <a:t>Echelle log (droite) : deux phases de decroissance distinctes — distribution rapide puis elimination lente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</a:rPr>
              <a:t>Qualite</a:t>
            </a:r>
            <a:r>
              <a:rPr sz="2600" b="1" i="0" dirty="0">
                <a:solidFill>
                  <a:srgbClr val="FFFFFF"/>
                </a:solidFill>
              </a:rPr>
              <a:t> du fit PK : </a:t>
            </a:r>
            <a:r>
              <a:rPr sz="2600" b="1" i="0" dirty="0" err="1">
                <a:solidFill>
                  <a:srgbClr val="FFFFFF"/>
                </a:solidFill>
              </a:rPr>
              <a:t>Predit</a:t>
            </a:r>
            <a:r>
              <a:rPr sz="2600" b="1" i="0" dirty="0">
                <a:solidFill>
                  <a:srgbClr val="FFFFFF"/>
                </a:solidFill>
              </a:rPr>
              <a:t> vs Observe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3 doses | Echelle log | Lignes = modele | Points = donnees observees</a:t>
            </a:r>
          </a:p>
        </p:txBody>
      </p:sp>
      <p:pic>
        <p:nvPicPr>
          <p:cNvPr id="5" name="Picture 4" descr="02_PK_predit_vs_obse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046720" cy="5394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0392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78308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6464"/>
                </a:solidFill>
              </a:rPr>
              <a:t>Bon ajustement global :
• Les 3 doses sont bien
  reproduites sur 650h
• Linearite PK confirmee
  (courbes proportionnelles)
• Deux phases distinctes :
  - Phase alpha (rapide)
    t1/2a ~ quelques heures
  - Phase beta (lente)
    t1/2b = 10.6 jours
• Legere deviation a 1 mg/kg
  en fin de courbe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4"/>
                </a:solidFill>
              </a:rPr>
              <a:t>Objectif nlminb : somme des residus quadratiques log | Residus log egalement ponderes par groupe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Bloc 3 — Sorties du modele PK : Parametres estimes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Modele 2-compartiments | IV bolus | Fc-silent FGFR2-huBPA-LP1 | Souris</a:t>
            </a:r>
          </a:p>
        </p:txBody>
      </p:sp>
      <p:pic>
        <p:nvPicPr>
          <p:cNvPr id="5" name="Picture 4" descr="03_parametres_P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804672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Points cles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7830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6464"/>
                </a:solidFill>
              </a:rPr>
              <a:t>t1/2 beta = 10.6 jours
-&gt; Longue demi-vie
   typique d'un anticorps
V1 = 0.071 L/kg
-&gt; Volume central proche
   du plasma (souris)
Vss = V1+V2 = 0.204 L/kg
-&gt; Distribution moderee
CL faible = 0.017 L/j/kg
-&gt; Elimination lente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4"/>
                </a:solidFill>
              </a:rPr>
              <a:t>Optimisation nlminb en log-espace | Residus log egalement ponderes entre les 3 groupes de dose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3 — Modele PD : Simeoni 2004 (croissance + transit)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Modele publie, valide sur &gt;50 molecules anticancereuses en preclinique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7132320" cy="228600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17043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449"/>
                </a:solidFill>
              </a:rPr>
              <a:t>Ce que le modele represente biologiquement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72768"/>
            <a:ext cx="68580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555555"/>
                </a:solidFill>
              </a:rPr>
              <a:t>Une </a:t>
            </a:r>
            <a:r>
              <a:rPr sz="1100" b="0" i="0" dirty="0" err="1">
                <a:solidFill>
                  <a:srgbClr val="555555"/>
                </a:solidFill>
              </a:rPr>
              <a:t>tumeur</a:t>
            </a:r>
            <a:r>
              <a:rPr sz="1100" b="0" i="0" dirty="0">
                <a:solidFill>
                  <a:srgbClr val="555555"/>
                </a:solidFill>
              </a:rPr>
              <a:t> </a:t>
            </a:r>
            <a:r>
              <a:rPr sz="1100" b="0" i="0" dirty="0" err="1">
                <a:solidFill>
                  <a:srgbClr val="555555"/>
                </a:solidFill>
              </a:rPr>
              <a:t>contient</a:t>
            </a:r>
            <a:r>
              <a:rPr sz="1100" b="0" i="0" dirty="0">
                <a:solidFill>
                  <a:srgbClr val="555555"/>
                </a:solidFill>
              </a:rPr>
              <a:t> des cellules dans </a:t>
            </a:r>
            <a:r>
              <a:rPr sz="1100" b="0" i="0" dirty="0" err="1">
                <a:solidFill>
                  <a:srgbClr val="555555"/>
                </a:solidFill>
              </a:rPr>
              <a:t>differents</a:t>
            </a:r>
            <a:r>
              <a:rPr sz="1100" b="0" i="0" dirty="0">
                <a:solidFill>
                  <a:srgbClr val="555555"/>
                </a:solidFill>
              </a:rPr>
              <a:t> </a:t>
            </a:r>
            <a:r>
              <a:rPr sz="1100" b="0" i="0" dirty="0" err="1">
                <a:solidFill>
                  <a:srgbClr val="555555"/>
                </a:solidFill>
              </a:rPr>
              <a:t>etats</a:t>
            </a:r>
            <a:r>
              <a:rPr sz="1100" b="0" i="0" dirty="0">
                <a:solidFill>
                  <a:srgbClr val="555555"/>
                </a:solidFill>
              </a:rPr>
              <a:t> :
  x1 = cellules qui proliferent </a:t>
            </a:r>
            <a:r>
              <a:rPr sz="1100" b="0" i="0" dirty="0" err="1">
                <a:solidFill>
                  <a:srgbClr val="555555"/>
                </a:solidFill>
              </a:rPr>
              <a:t>activement</a:t>
            </a:r>
            <a:r>
              <a:rPr sz="1100" b="0" i="0" dirty="0">
                <a:solidFill>
                  <a:srgbClr val="555555"/>
                </a:solidFill>
              </a:rPr>
              <a:t>  (</a:t>
            </a:r>
            <a:r>
              <a:rPr sz="1100" b="0" i="0" dirty="0" err="1">
                <a:solidFill>
                  <a:srgbClr val="555555"/>
                </a:solidFill>
              </a:rPr>
              <a:t>sensibles</a:t>
            </a:r>
            <a:r>
              <a:rPr sz="1100" b="0" i="0" dirty="0">
                <a:solidFill>
                  <a:srgbClr val="555555"/>
                </a:solidFill>
              </a:rPr>
              <a:t> au medicament)
  x2 = cellules </a:t>
            </a:r>
            <a:r>
              <a:rPr sz="1100" b="0" i="0" dirty="0" err="1">
                <a:solidFill>
                  <a:srgbClr val="555555"/>
                </a:solidFill>
              </a:rPr>
              <a:t>endommagees</a:t>
            </a:r>
            <a:r>
              <a:rPr sz="1100" b="0" i="0" dirty="0">
                <a:solidFill>
                  <a:srgbClr val="555555"/>
                </a:solidFill>
              </a:rPr>
              <a:t> par le medicament (ne proliferent plus)
  x3 = cellules </a:t>
            </a:r>
            <a:r>
              <a:rPr sz="1100" b="0" i="0" dirty="0" err="1">
                <a:solidFill>
                  <a:srgbClr val="555555"/>
                </a:solidFill>
              </a:rPr>
              <a:t>en</a:t>
            </a:r>
            <a:r>
              <a:rPr sz="1100" b="0" i="0" dirty="0">
                <a:solidFill>
                  <a:srgbClr val="555555"/>
                </a:solidFill>
              </a:rPr>
              <a:t> </a:t>
            </a:r>
            <a:r>
              <a:rPr sz="1100" b="0" i="0" dirty="0" err="1">
                <a:solidFill>
                  <a:srgbClr val="555555"/>
                </a:solidFill>
              </a:rPr>
              <a:t>cours</a:t>
            </a:r>
            <a:r>
              <a:rPr sz="1100" b="0" i="0" dirty="0">
                <a:solidFill>
                  <a:srgbClr val="555555"/>
                </a:solidFill>
              </a:rPr>
              <a:t> de mort (transit)
  x4 = cellules </a:t>
            </a:r>
            <a:r>
              <a:rPr sz="1100" b="0" i="0" dirty="0" err="1">
                <a:solidFill>
                  <a:srgbClr val="555555"/>
                </a:solidFill>
              </a:rPr>
              <a:t>mourantes</a:t>
            </a:r>
            <a:r>
              <a:rPr sz="1100" b="0" i="0" dirty="0">
                <a:solidFill>
                  <a:srgbClr val="555555"/>
                </a:solidFill>
              </a:rPr>
              <a:t> (</a:t>
            </a:r>
            <a:r>
              <a:rPr sz="1100" b="0" i="0" dirty="0" err="1">
                <a:solidFill>
                  <a:srgbClr val="555555"/>
                </a:solidFill>
              </a:rPr>
              <a:t>bientot</a:t>
            </a:r>
            <a:r>
              <a:rPr sz="1100" b="0" i="0" dirty="0">
                <a:solidFill>
                  <a:srgbClr val="555555"/>
                </a:solidFill>
              </a:rPr>
              <a:t> </a:t>
            </a:r>
            <a:r>
              <a:rPr sz="1100" b="0" i="0" dirty="0" err="1">
                <a:solidFill>
                  <a:srgbClr val="555555"/>
                </a:solidFill>
              </a:rPr>
              <a:t>eliminées</a:t>
            </a:r>
            <a:r>
              <a:rPr sz="1100" b="0" i="0" dirty="0">
                <a:solidFill>
                  <a:srgbClr val="555555"/>
                </a:solidFill>
              </a:rPr>
              <a:t>)
Volume tumoral total = x1 + x2 + x3 + x4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520440"/>
            <a:ext cx="7132320" cy="3017520"/>
          </a:xfrm>
          <a:prstGeom prst="rect">
            <a:avLst/>
          </a:prstGeom>
          <a:solidFill>
            <a:srgbClr val="FEF9E7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359359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E67E22"/>
                </a:solidFill>
              </a:rPr>
              <a:t>Hypotheses du </a:t>
            </a:r>
            <a:r>
              <a:rPr sz="1300" b="1" i="0" dirty="0" err="1">
                <a:solidFill>
                  <a:srgbClr val="E67E22"/>
                </a:solidFill>
              </a:rPr>
              <a:t>modele</a:t>
            </a:r>
            <a:r>
              <a:rPr sz="1300" b="1" i="0" dirty="0">
                <a:solidFill>
                  <a:srgbClr val="E67E22"/>
                </a:solidFill>
              </a:rPr>
              <a:t> 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00507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Croissance exponentielle au debut (l0), lineaire quand la tumeur est grande (l1)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37083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La tumeur ne peut pas grossir indefiniment : elle est limitee par sa propre taille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473659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Seules les cellules x1 (proliferantes) sont tuees par le medicament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510235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Les cellules endommagees meurent progressivement (pas instantanement)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546811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Le temps moyen pour mourir apres dommage = 4/k1 (ici ~8 jours, Simeoni 2004)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583387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Les parametres de croissance (l0, l1) sont calibres sur le groupe controle seul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199632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✓  Le coefficient de Hill p=1 (modele original Simeoni 2004)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89520" y="1097280"/>
            <a:ext cx="4297680" cy="5440680"/>
          </a:xfrm>
          <a:prstGeom prst="rect">
            <a:avLst/>
          </a:prstGeom>
          <a:solidFill>
            <a:srgbClr val="F4F6F7"/>
          </a:solidFill>
          <a:ln w="1270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26679" y="117043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Parametres PD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35240" y="1572768"/>
            <a:ext cx="4160520" cy="62179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26679" y="16276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l0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49640" y="16276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Taux de croissance
exponentielle (/h)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35240" y="2258568"/>
            <a:ext cx="4160520" cy="62179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26679" y="23134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l1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23134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Taux de croissance
lineaire (g/h)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35240" y="2944368"/>
            <a:ext cx="4160520" cy="62179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26679" y="29992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9992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Coeff. de Hill
(fixe a 1)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3630168"/>
            <a:ext cx="4160520" cy="62179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726679" y="36850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276"/>
                </a:solidFill>
              </a:rPr>
              <a:t>k1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6850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Vitesse de transit
(fixee, Simeoni 2004)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35240" y="4315968"/>
            <a:ext cx="4160520" cy="62179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26679" y="43708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449"/>
                </a:solidFill>
              </a:rPr>
              <a:t>Emax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49640" y="43708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Destruction max
par le medicament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5001768"/>
            <a:ext cx="4160520" cy="621792"/>
          </a:xfrm>
          <a:prstGeom prst="rect">
            <a:avLst/>
          </a:prstGeom>
          <a:solidFill>
            <a:srgbClr val="D5F5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726679" y="505663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449"/>
                </a:solidFill>
              </a:rPr>
              <a:t>EC50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05663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Conc. a 50%
de l'effet max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580644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Vert = estimes sur vos donnees
Blanc = fixes (litterature)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99999"/>
                </a:solidFill>
              </a:rPr>
              <a:t>Reference : Simeoni M. et al., Cancer Research 2004, 64:1094-1101 | Modele le plus cite en oncologie preclinique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Bloc 4 — Qualite du fit PKPD : Predit vs Observe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Simeoni 2004 | Q2W x4 doses | k2 = 1.00e-07 | Residus relatifs (droite)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46464"/>
                </a:solidFill>
              </a:rPr>
              <a:t>-&gt; 10 mg/kg bien capture | 3 mg/kg sous-estime -&gt; necessite un modele Emax ou k2 par dose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0CA56CA-B830-183E-6A74-92E9296B3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87" y="1271043"/>
            <a:ext cx="11009313" cy="471827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Bloc 3 — Sorties du modele PKPD : Parametres estimes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Simeoni 2004 | PK fixes | l0/l1 calibres sur controle | k2 optimise (DEoptim)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4"/>
                </a:solidFill>
              </a:rPr>
              <a:t>Vert = parametres PD estimes | Bleu = parametres PK fixes depuis le modele PK | k1 fixe a 0.5/j (Simeoni 2004) | k2 optimise par DEoptim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51CC7DF5-4FED-C462-96D4-A4C1ABD82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7" y="1097280"/>
            <a:ext cx="12188825" cy="51568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73152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Bloc 5 — Efficacite : Tumour Growth Inhibition (TGI)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7772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ED6F1"/>
                </a:solidFill>
              </a:rPr>
              <a:t>TGI observe vs predit par le modele | Protocole Q2W | Fc-silent FGFR2-huBPA-LP1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276"/>
                </a:solidFill>
              </a:rPr>
              <a:t>Conclusions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0" y="1783080"/>
            <a:ext cx="36576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646464"/>
                </a:solidFill>
              </a:rPr>
              <a:t>10 mg/kg :
  TGI observe  : 83.5 %
  TGI </a:t>
            </a:r>
            <a:r>
              <a:rPr sz="1100" b="0" i="0" dirty="0" err="1">
                <a:solidFill>
                  <a:srgbClr val="646464"/>
                </a:solidFill>
              </a:rPr>
              <a:t>predit</a:t>
            </a:r>
            <a:r>
              <a:rPr sz="1100" b="0" i="0" dirty="0">
                <a:solidFill>
                  <a:srgbClr val="646464"/>
                </a:solidFill>
              </a:rPr>
              <a:t>   : </a:t>
            </a:r>
            <a:r>
              <a:rPr lang="fr-FR" sz="1100" b="0" i="0" dirty="0">
                <a:solidFill>
                  <a:srgbClr val="646464"/>
                </a:solidFill>
              </a:rPr>
              <a:t>89</a:t>
            </a:r>
            <a:r>
              <a:rPr sz="1100" b="0" i="0" dirty="0">
                <a:solidFill>
                  <a:srgbClr val="646464"/>
                </a:solidFill>
              </a:rPr>
              <a:t> %
  -&gt; Bon accord </a:t>
            </a:r>
            <a:r>
              <a:rPr sz="1100" b="0" i="0" dirty="0" err="1">
                <a:solidFill>
                  <a:srgbClr val="646464"/>
                </a:solidFill>
              </a:rPr>
              <a:t>modele</a:t>
            </a:r>
            <a:r>
              <a:rPr sz="1100" b="0" i="0" dirty="0">
                <a:solidFill>
                  <a:srgbClr val="646464"/>
                </a:solidFill>
              </a:rPr>
              <a:t>/</a:t>
            </a:r>
            <a:r>
              <a:rPr sz="1100" b="0" i="0" dirty="0" err="1">
                <a:solidFill>
                  <a:srgbClr val="646464"/>
                </a:solidFill>
              </a:rPr>
              <a:t>donnees</a:t>
            </a:r>
            <a:r>
              <a:rPr sz="1100" b="0" i="0" dirty="0">
                <a:solidFill>
                  <a:srgbClr val="646464"/>
                </a:solidFill>
              </a:rPr>
              <a:t>
3 mg/kg :
  TGI observe  : 64.2 %
  TGI </a:t>
            </a:r>
            <a:r>
              <a:rPr sz="1100" b="0" i="0" dirty="0" err="1">
                <a:solidFill>
                  <a:srgbClr val="646464"/>
                </a:solidFill>
              </a:rPr>
              <a:t>predit</a:t>
            </a:r>
            <a:r>
              <a:rPr sz="1100" b="0" i="0" dirty="0">
                <a:solidFill>
                  <a:srgbClr val="646464"/>
                </a:solidFill>
              </a:rPr>
              <a:t>   : </a:t>
            </a:r>
            <a:r>
              <a:rPr lang="fr-FR" sz="1100" b="0" i="0" dirty="0">
                <a:solidFill>
                  <a:srgbClr val="646464"/>
                </a:solidFill>
              </a:rPr>
              <a:t>78,1</a:t>
            </a:r>
            <a:r>
              <a:rPr sz="1100" b="0" i="0" dirty="0">
                <a:solidFill>
                  <a:srgbClr val="646464"/>
                </a:solidFill>
              </a:rPr>
              <a:t> %
  -&gt; </a:t>
            </a:r>
            <a:r>
              <a:rPr sz="1100" b="0" i="0" dirty="0" err="1">
                <a:solidFill>
                  <a:srgbClr val="646464"/>
                </a:solidFill>
              </a:rPr>
              <a:t>Modele</a:t>
            </a:r>
            <a:r>
              <a:rPr sz="1100" b="0" i="0" dirty="0">
                <a:solidFill>
                  <a:srgbClr val="646464"/>
                </a:solidFill>
              </a:rPr>
              <a:t> sous-</a:t>
            </a:r>
            <a:r>
              <a:rPr sz="1100" b="0" i="0" dirty="0" err="1">
                <a:solidFill>
                  <a:srgbClr val="646464"/>
                </a:solidFill>
              </a:rPr>
              <a:t>estime</a:t>
            </a:r>
            <a:r>
              <a:rPr sz="1100" b="0" i="0" dirty="0">
                <a:solidFill>
                  <a:srgbClr val="646464"/>
                </a:solidFill>
              </a:rPr>
              <a:t> </a:t>
            </a:r>
            <a:r>
              <a:rPr sz="1100" b="0" i="0" dirty="0" err="1">
                <a:solidFill>
                  <a:srgbClr val="646464"/>
                </a:solidFill>
              </a:rPr>
              <a:t>l'effet</a:t>
            </a:r>
            <a:r>
              <a:rPr sz="1100" b="0" i="0" dirty="0">
                <a:solidFill>
                  <a:srgbClr val="646464"/>
                </a:solidFill>
              </a:rPr>
              <a:t>
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492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46464"/>
                </a:solidFill>
              </a:rPr>
              <a:t>TGI = (1 - delta_W_traite / delta_W_controle) x 100 | Vert &gt;= 60% | Orange 30-60%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17C91FC-55F3-3716-2E71-F8356B3E3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7280"/>
            <a:ext cx="8365052" cy="494298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64008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 err="1">
                <a:solidFill>
                  <a:srgbClr val="FFFFFF"/>
                </a:solidFill>
              </a:rPr>
              <a:t>Limites</a:t>
            </a:r>
            <a:r>
              <a:rPr sz="2400" b="1" i="0" dirty="0">
                <a:solidFill>
                  <a:srgbClr val="FFFFFF"/>
                </a:solidFill>
              </a:rPr>
              <a:t> du </a:t>
            </a:r>
            <a:r>
              <a:rPr sz="2400" b="1" i="0" dirty="0" err="1">
                <a:solidFill>
                  <a:srgbClr val="FFFFFF"/>
                </a:solidFill>
              </a:rPr>
              <a:t>modele</a:t>
            </a:r>
            <a:endParaRPr sz="2400" b="1" i="0" dirty="0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8600" y="713232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ED6F1"/>
                </a:solidFill>
              </a:rPr>
              <a:t>Conditions dans lesquelles les resultats restent valides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1170432"/>
            <a:ext cx="5486400" cy="5394960"/>
          </a:xfrm>
          <a:prstGeom prst="rect">
            <a:avLst/>
          </a:prstGeom>
          <a:solidFill>
            <a:srgbClr val="FDEDEC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37560" y="1243584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Limites actuelles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1673352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 Un seul Emax/EC50 pour les 2 doses
  (modele identique pour 3 et 10 mg/kg)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450592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 Pas de variabilite inter-individuelle
  (modele deterministe, pas de population)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3227832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 Donnees moyennes (mean±SEM)
  pas les donnees individuelles par souris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4005072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 k1 fixe a la valeur de Simeoni 2004
  (non estime sur ces donnees)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4782312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 Censure des controles a j35
  (souris euthanasees, chute artificielle)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5559552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5555"/>
                </a:solidFill>
              </a:rPr>
              <a:t>⚠  Extrapolation au-dela de j49 incertaine
  (pas de donnees pour valider)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058" y="-253670"/>
            <a:ext cx="1827162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408" y="422146"/>
            <a:ext cx="645200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0866" y="655140"/>
            <a:ext cx="687293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4206" y="0"/>
            <a:ext cx="2834619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4266" y="6115501"/>
            <a:ext cx="149412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B09AC20-ADBC-B9AA-5D47-0736F97665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559" y="643467"/>
            <a:ext cx="8913705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2099" y="6453143"/>
            <a:ext cx="814691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0067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058" y="-253670"/>
            <a:ext cx="1827162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408" y="422146"/>
            <a:ext cx="645200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0866" y="655140"/>
            <a:ext cx="687293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4206" y="0"/>
            <a:ext cx="2834619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4266" y="6115501"/>
            <a:ext cx="149412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26FDECEA-DF3F-65DC-2737-EFA01F5A2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559" y="643467"/>
            <a:ext cx="8913705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2099" y="6453143"/>
            <a:ext cx="814691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77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1246</Words>
  <Application>Microsoft Office PowerPoint</Application>
  <PresentationFormat>Personnalisé</PresentationFormat>
  <Paragraphs>105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HASSANI Omar</cp:lastModifiedBy>
  <cp:revision>2</cp:revision>
  <dcterms:created xsi:type="dcterms:W3CDTF">2013-01-27T09:14:16Z</dcterms:created>
  <dcterms:modified xsi:type="dcterms:W3CDTF">2026-05-12T21:17:32Z</dcterms:modified>
  <cp:category/>
</cp:coreProperties>
</file>