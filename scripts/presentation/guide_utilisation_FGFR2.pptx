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Guide d'utilisation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ED6F1"/>
                </a:solidFill>
              </a:rPr>
              <a:t>Modélisation PK/PD — Fc-silent FGFR2-huBPA-LP1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Ce document explique les modeles utilises, les hypotheses choisies,
et comment relancer les analyses apres le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5C1E9"/>
                </a:solidFill>
              </a:rPr>
              <a:t>Modele PK : 2 compartiments   |   Modele PD : Simeoni-Emax   |   Langage : 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663440"/>
            <a:ext cx="7772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</a:rPr>
              <a:t>Redige par : [votre nom]   |   Stage 2026   |   Encadrante : [nom tutrice]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Sommaire du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Ce document repond a 5 questions essentielles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27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Quelles donnees sont necessaires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Format des fichiers Excel, unites, structure attendue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114300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22576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27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Quel modele PK a ete utilise et pourquoi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8833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Modele 2 compartiments, hypotheses, parametres estimes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36976"/>
            <a:ext cx="11430000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46704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276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Quel modele PD a ete utilise et pourquoi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124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Simeoni 2004 + Emax, hypotheses biologiques, parametres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61104"/>
            <a:ext cx="11430000" cy="868680"/>
          </a:xfrm>
          <a:prstGeom prst="rect">
            <a:avLst/>
          </a:prstGeom>
          <a:solidFill>
            <a:srgbClr val="FEF9E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70832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276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342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Comment lancer les analyses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Ordre des scripts, fichiers produits, que faire si erreur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85232"/>
            <a:ext cx="1143000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276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5838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Comment lire et interpreter les resultats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60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Graphiques, tableaux, TGI, validation du modele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 — Donnees necessaires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Deux fichiers Excel a fournir avant de lancer les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Fichier 1 : PK souris FGFR2.xlsx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Contenu :
  Colonne 1 : temps en heures
  Colonne 2 : concentrations 10 mg/kg (µg/L)
  Colonne 3 : concentrations  5 mg/kg (µg/L)
  Colonne 4 : concentrations  1 mg/kg (µg/L)
Valeurs manquantes : laisser la cellule vide
(le script les ignore automatiquement)
Unites importantes :
  Temps    → heures
  Doses    → mg/kg (converties en µg/kg par le script)
  Conc.    → µg/L
Nombre de points : au moins 6 par dose
recommande pour un bon ajustement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669280" cy="50292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</a:rPr>
              <a:t>Fichier 2 : TumorVolume_FGFR2.xlsx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Contenu : 2 blocs separes par une ligne vide
  Bloc 1 - Moyennes (mm3) :
    Ligne 1 : 'Group' | j0 | j4 | j7 | ...
    Ligne 2 : Group 01 (controle) | valeurs
    Ligne 3 : Group 03 (10 mg/kg) | valeurs
    Ligne 4 : Group 04 ( 3 mg/kg) | valeurs
  Bloc 2 - SEM (mm3) :
    Meme structure que le bloc 1
Unites : volume tumoral en mm3
(converti en grammes par le script : /1000)
Protocole encode dans le script :
  Q2W × 4 doses (j0, j14, j28, j42)
  A adapter si le protocole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Si les noms de groupes changent (ex: Group 02 au lieu de Group 01), modifier les patterns dans pkpd_FGFR2.R section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 — Modele PK : 2 compartiments IV bolus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Choix justifie par la cinetique bi-exponentielle observee dans les donnees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200400" cy="12801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276"/>
                </a:solidFill>
              </a:rPr>
              <a:t>Dose injectee
(IV bolus)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27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097280"/>
            <a:ext cx="3657600" cy="12801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1887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76"/>
                </a:solidFill>
              </a:rPr>
              <a:t>Compartiment central
(sang + organes)
C1 = dose /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→ elimination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325880"/>
            <a:ext cx="2651760" cy="82296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371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CL × C1
(urine, foie...)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↕ echange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743200"/>
            <a:ext cx="3657600" cy="10972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8346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449"/>
                </a:solidFill>
              </a:rPr>
              <a:t>Compartiment peripherique
(tissus, muscles...)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5486400" cy="25603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Hypotheses du modele 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Injection instantanee dans le sang (IV bolus)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64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 medicament se repartit entre 2 zones : sang et tissus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029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L'elimination ne se fait que depuis le compartiment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5412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transferts sang&lt;-&gt;tissus sont proportionnels aux concentrations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879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La pharmacocinetique est LINEAIRE : doubler la dose double la concentration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217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parametres sont les memes pour toutes les souris (pas de variabilite)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023360"/>
            <a:ext cx="5943600" cy="256032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114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Les 4 parametres estimes automatiquement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5371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537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Clairance : vitesse d'elimination depuis le sang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0566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056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Volume central : espace de distribution dans le sang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5595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595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Volume peripherique : espace dans les tissus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60624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60624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Clairance intercompartimentale : echange sang&lt;-&gt;tissus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La linearite PK a ete verifiee : les courbes a 1, 5 et 10 mg/kg sont proportionnelles — confirme la validite du modele 2-compartiments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 — Modele PD : Simeoni 2004 (croissance + transit)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Modele publie, valide sur &gt;50 molecules anticancereuses en preclinique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132320" cy="22860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</a:rPr>
              <a:t>Ce que le modele represente biologiquement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6858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Une tumeur contient des cellules dans differents etats :
  x1 = cellules qui proliferent activement  (sensibles au medicament)
  x2 = cellules endommagees par le medicament (ne proliferent plus)
  x3 = cellules en cours de mort (transit)
  x4 = cellules mourantes (bientot eliminées)
Volume tumoral total = x1 + x2 + x3 + x4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7132320" cy="30175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5935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Hypotheses du modele 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050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Croissance exponentielle au debut (l0), lineaire quand la tumeur est grande (l1)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708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La tumeur ne peut pas grossir indefiniment : elle est limitee par sa propre taille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73659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Seules les cellules x1 (proliferantes) sont tuees par le medicament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1023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cellules endommagees meurent progressivement (pas instantanement)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46811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 temps moyen pour mourir apres dommage = 4/k1 (ici ~8 jours, Simeoni 2004)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8338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parametres de croissance (l0, l1) sont calibres sur le groupe controle seul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1996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 coefficient de Hill p=1 (modele original Simeoni 2004)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097280"/>
            <a:ext cx="4297680" cy="544068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11704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Parametres PD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5727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16276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6276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Taux de croissance
exponentielle (/h)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2585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313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134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Taux de croissance
lineaire (g/h)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9443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9992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9992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Coeff. de Hill
(fixe a 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6301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36850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k1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685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Vitesse de transit
(fixee, Simeoni 2004)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315968"/>
            <a:ext cx="4160520" cy="62179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43708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</a:rPr>
              <a:t>Emax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3708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Destruction max
par le medicament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5001768"/>
            <a:ext cx="4160520" cy="62179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50566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</a:rPr>
              <a:t>EC50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566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Conc. a 50%
de l'effet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80644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Vert = estimes sur vos donnees
Blanc = fixes (litterature)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Reference : Simeoni M. et al., Cancer Research 2004, 64:1094-1101 | Modele le plus cite en oncologie preclinique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 (suite) — Pourquoi le modele Emax et pas un modele plus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Le choix est justifie par les donnees experimentales elles-memes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24688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Modele lineaire (abandonne) : effet = k2 x 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Ce modele suppose que doubler la dose
double toujours l'effet.
Probleme observe :
  - 3 mg/kg  → TGI observe = 64%
  - 10 mg/kg → TGI observe = 84%
  Ratio reel : 84/64 = 1.3x
  Si l'effet etait lineaire :
  10/3 = 3.3x plus d'effet attendu
→ Le modele convergeait vers k2=0
   (aucun effet predit)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943600" cy="24688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1704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Modele Emax (choisi) : effet = Emax x C1 / (EC50 + C1)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572768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Ce modele inclut un plafond d'effet :
il y a un nombre limite de recepteurs
FGFR2 a saturer sur les cellules.
  - A 3 mg/kg  : effets deja forts
                (recepteurs satures a ~X%)
  - A 10 mg/kg : effet marginalement
                plus fort (saturation totale)
→ Permet de reproduire le ratio 1.3x
   observe experimentalement
→ Biologiquement coherent avec
   le mecanisme d'action des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03320"/>
            <a:ext cx="11612880" cy="283464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764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Les 2 parametres Emax expliques simplement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5394960" cy="219456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793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Emax = taux de mort cellulaire maximal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8172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Meme si on injecte 100 mg/kg, le medicament
ne peut pas tuer les cellules plus vite que Emax.
Pour que la tumeur regresse : Emax &gt; l0
(destruction &gt; croissance)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206240"/>
            <a:ext cx="5669280" cy="21945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279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EC50 = concentration a 50% de l'effet 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81728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C'est la 'puissance' du medicament.
  EC50 petit → medicament tres puissant
               (effet fort meme a faible dose)
  EC50 grand → medicament peu puissant
               (il faut de fortes concentrations)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Emax et EC50 sont estimes automatiquement par un algorithme d'optimisation globale (DEoptim)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 — Organisation des fichiers et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Tout est dans le depot GitHub — aucune installation manuelle requise (hors packages R)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91440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Structure des dossiers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4475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FGFR/
  ├── PK souris FGFR2.xlsx          ← donnees PK (a fournir)
  ├── TumorVolume_FGFR2.xlsx        ← donnees tumorales (a fournir)
  └── scripts/
      ├── pkpd_FGFR2.R              ← script principal (PK + PD + Emax)
      ├── presentation_FGFR2.R      ← script figures de presentation
      └── presentation/             ← figures PNG + PPTX generes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1161288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2199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Comment lancer l'analyse — dans RStudio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4572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2679191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00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Installer les packages R (une seule fois)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651760"/>
            <a:ext cx="6583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70662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install.packages(c("rxode2","deSolve","DEoptim","ggplot2","readxl"))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01568"/>
            <a:ext cx="4572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342899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198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Ouvrir RStudio et definir le dossier de travail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401568"/>
            <a:ext cx="6583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5643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setwd("~/FGFR")   # chemin vers le dossier contenant les fichiers Excel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51376"/>
            <a:ext cx="4572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417880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966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Lancer le script principal (PK + calibration + Emax)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4151376"/>
            <a:ext cx="6583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2062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source("scripts/pkpd_FGFR2.R")   # duree : ~5-15 min (optimisation)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01183"/>
            <a:ext cx="4572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492861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1947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Lancer le script de presentation (9 figures + PowerPoint)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4901183"/>
            <a:ext cx="6583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956047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source("scripts/presentation_FGFR2.R")   # duree : ~1-2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50992"/>
            <a:ext cx="4572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567842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Recuperer les resultats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5650992"/>
            <a:ext cx="6583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705855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D6F1"/>
                </a:solidFill>
              </a:rPr>
              <a:t>scripts/presentation/presentation_FGFR2.pptx   ← ouvrir ce fichier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Si un message d'erreur apparait : verifier que les fichiers Excel sont dans le bon dossier et que les noms de colonnes/groupes correspondent a ce qui est attendu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 (suite) — Fichiers produits par les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Tous les resultats sont sauvegardes automatiquement dans scripts/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85216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11795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resultats_PK2comp_rxode2_FGFR2.RData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184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Parametres PK (CL, V1, V2, Q, demi-vies)
Reutilise automatiquement par le script PKPD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143000"/>
            <a:ext cx="5852160" cy="1463040"/>
          </a:xfrm>
          <a:prstGeom prst="rect">
            <a:avLst/>
          </a:prstGeom>
          <a:solidFill>
            <a:srgbClr val="D5F5E3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1430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3" y="11795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12070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resultats_PKPD_Emax_FGFR2.RData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Parametres PKPD (l0, l1, Emax, EC50)
Reutilise automatiquement par le script presentation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5852160" cy="146304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7432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27797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plot_PK2comp_rxode2_FGFR2.png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2186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Courbes PK ajustees (echelle log)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743200"/>
            <a:ext cx="5852160" cy="146304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7432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3" y="27797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8072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plot_PKPD_Emax_FGFR2.png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186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Courbes PKPD ajustees (modele Emax vs donnees)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852160" cy="146304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3434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43799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074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plot_Emax_curve_FGFR2.png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8188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Courbe effet-concentration (% Emax atteint a chaque dose)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343400"/>
            <a:ext cx="5852160" cy="1463040"/>
          </a:xfrm>
          <a:prstGeom prst="rect">
            <a:avLst/>
          </a:prstGeom>
          <a:solidFill>
            <a:srgbClr val="FEF9E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43434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3" y="43799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44074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tableau_TGI_FGFR2.csv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8188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Tableau TGI observe a chaque point de temps (exportable Excel)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43600"/>
            <a:ext cx="5852160" cy="1463040"/>
          </a:xfrm>
          <a:prstGeom prst="rect">
            <a:avLst/>
          </a:prstGeom>
          <a:solidFill>
            <a:srgbClr val="D5F5E3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943600"/>
            <a:ext cx="82296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" y="59801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60076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presentation/presentation_FGFR2.pptx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64190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Presentation complete 11 diapositives (prete a utiliser)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Les fichiers .RData sont des fichiers R internes — ne pas ouvrir dans Excel. Les .png et .csv s'ouvrent normalement.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5 — Comment interpreter les resultats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Guide de lecture des graphiques et du tableau TGI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Graphique PK (plot_PK2comp)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Points = mesures experimentales
Lignes = courbes predites par le modele
Un bon ajustement : les points sont
proches des lignes sur toute la duree
Les 3 couleurs = les 3 doses
(1, 5, 10 mg/kg)
Echelle log : une droite = decroissance
exponentielle pure (1 compartiment)
Une courbe = 2 compartiments (normal)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943600" cy="256032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1704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Graphique PKPD (plot_PKPD_Emax)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572768"/>
            <a:ext cx="5669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 groupes : Controle / 3 mg/kg / 10 mg/kg
Points = donnees observees
Lignes = simulation du modele Emax
Bon ajustement : lignes proches des points
Les lignes verticales en pointilles
indiquent les jours d'injection (j0, j14...)
Si le controle est bien ajuste mais pas
les groupes traites → changer les bornes
de Emax/EC50 dans le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94760"/>
            <a:ext cx="5486400" cy="283464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867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Tableau TGI (Tumour Growth Inhibition)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70248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TGI = (1 - delta_traite / delta_controle) x 100
Interpretation :
  TGI = 100% → regression complete
  TGI =  80% → tres bon effet
  TGI =  50% → effet modere
  TGI =   0% → aucun effet
  TGI &lt; 0%   → la tumeur traitee a cru
               plus vite que le controle
               (aux temps precoces, normal)
Vert = TGI &gt;= 60%
Orange = TGI entre 30 et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794760"/>
            <a:ext cx="5943600" cy="283464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8679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Graphique des residus (plot_residus_Emax)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70248"/>
            <a:ext cx="5669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Residus = (observe - predit) / predit x 100
Idéalement :
  - Points repartis aleatoirement
    autour de 0 (ligne grise)
  - Pas de tendance systematique
  - Majorite des points entre
    les tirets a ±30%
Si tous les residus sont positifs :
  le modele sous-estime la tumeur
Si tendance croissante dans le temps :
  le modele ne capture pas bien
  la dynamique tardive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La console R affiche aussi les valeurs numeriques : TGI predit a j49, Emax/l0, EC50/Cmax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5 (suite) — Signification biologique des parametres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Ce que chaque nombre vous dit sur le medicament et la tumeur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806440" cy="16916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t½ beta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27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Demi-vie d'elimination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1051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Temps pour que la concentration diminue de moitie.
Ici ~10.6 jours → coherent avec un anticorps IgG
(les anticorps sont elimines lentement par le corps)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806440" cy="16916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V1 (volume central)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Distribution dans le sang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Proche du volume plasmatique de la souris (~0.07 L/kg)
→ confirme que l'Ac reste majoritairement dans le sang
(pas de distribution tissulaire massive)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07791"/>
            <a:ext cx="5806440" cy="169164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9809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l0 (croissance expo.)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3375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Vitesse de doublement de la tumeur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621024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Plus l0 est grand, plus la tumeur croit vite.
Calibre sur le groupe controle sans traitement.
Temps de doublement ≈ ln(2)/l0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07791"/>
            <a:ext cx="5806440" cy="169164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809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Emax / l0 &gt;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Le medicament peut regresser la tumeur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21024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 Emax &gt; l0 : le medicament peut tuer
  les cellules plus vite qu'elles ne se divisent
  → regression tumorale possible
Si Emax &lt; l0 : inhibition seulement, pas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18304"/>
            <a:ext cx="5806440" cy="16916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7914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EC50 vs C1_max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1480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Positionnement sur la courbe effet-dose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431536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EC50 &lt;&lt; C1_max (a 10 mg/kg) :
  → on est au plafond a 10 mg/kg, augmenter la dose
     ne sert plus a rien
EC50 &gt; C1_max :
  → on n'a pas encore atteint l'effet maximal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718304"/>
            <a:ext cx="5806440" cy="169164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914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k1 (transit cellulaire)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480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Vitesse de mort des cellules endommagees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31536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Temps moyen entre dommage et mort = 4/k1.
Fixe a 0.5/jour → mort en ~8 jours.
Valeur de la publication originale Simeoni 2004.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Toutes ces valeurs sont affichees dans la console R apres execution du script et resumees dans la figure 09_parametres_PKPD.png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Limites du modele et quand refaire l'analyse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Conditions dans lesquelles les resultats restent valides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Limites actuelles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Un seul Emax/EC50 pour les 2 doses
  (modele identique pour 3 et 10 mg/kg)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Pas de variabilite inter-individuelle
  (modele deterministe, pas de population)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5468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Donnees moyennes (mean±SEM)
  pas les donnees individuelles par souris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k1 fixe a la valeur de Simeoni 2004
  (non estime sur ces donnees)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0916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Censure des controles a j35
  (souris euthanasees, chute artificielle)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48640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Extrapolation au-dela de j49 incertaine
  (pas de donnees pour valider)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5943600" cy="539496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1704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</a:rPr>
              <a:t>Quand refaire l'analyse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600200"/>
            <a:ext cx="576072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459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→  Nouveau produit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4767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Remplacer les 2 fichiers Excel.
Relancer pkpd_FGFR2.R puis
presentation_FGFR2.R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96312"/>
            <a:ext cx="576072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5420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→  Nouveau protocole de dosage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84378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Changer DOSE_DAYS dans pkpd_FGFR2.R
(ex: Q3W → c(0,21,42,63))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392424"/>
            <a:ext cx="576072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438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→  Groupes de dose differents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73989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Changer dose3_pd et dose10_pd,
et les patterns Group 03/04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288536"/>
            <a:ext cx="576072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33425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→  Durée d'experience differente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636007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La censure T_CENSOR_CTRL s'ajuste
automatiquement si controle plus court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184648"/>
            <a:ext cx="576072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2303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→  Ameliorer le fit 3 mg/kg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Essayer des bornes plus larges pour
EC50 dans obj_emax()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En cas de doute, contacter [votre nom] — les scripts sont commentes et le depot GitHub contient l'historique de toutes les modifications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Resume — Vue d'ensemble du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De la donnee brute au resultat en 2 scripts 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539496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5603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276"/>
                </a:solidFill>
              </a:rPr>
              <a:t>DONNEES
D'ENTREE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PK souris FGFR2.xlsx
TumorVolume_FGFR2.xlsx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25603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9903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276"/>
                </a:solidFill>
              </a:rPr>
              <a:t>MODELE PK
2 compartiments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47672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CL, V1, V2, Q
t½β = 10.6 j
nlminb (log-espace)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2560320" cy="146304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9903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8449"/>
                </a:solidFill>
              </a:rPr>
              <a:t>MODELE PD
Simeoni-Emax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l0, l1 (controle)
Emax, EC50
DEoptim global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25880"/>
            <a:ext cx="2560320" cy="146304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39903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RESULTATS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47672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9 figures PNG
Tableau TGI
PowerPoint 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0360"/>
            <a:ext cx="11430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53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Hypotheses cles retenues — justification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649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Composante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3649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Choix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3649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Justification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03320"/>
            <a:ext cx="11338560" cy="3931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673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Modele PK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767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2 compartiments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76732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Decroissance bi-exponentielle visible dans les donnees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133087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970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Cinetique PK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19709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Lineaire en dose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197096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Ratio concentrations proportionnel aux doses (verifie)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562856"/>
            <a:ext cx="11338560" cy="3931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2686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Croissance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462686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Simeoni (l0/l1)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626864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Croissance expo au debut, lineaire a grand volume (standard)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992624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5663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Effet drug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505663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Emax sature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5056632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TGI 3 et 10 mg/kg non proportionnel a la dose → saturation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422392"/>
            <a:ext cx="11338560" cy="3931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8640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Transit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54864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k1 = 0.5/j fixe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48640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Non identifiable sur ces donnees — valeur Simeoni 2004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852159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916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Hill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59161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p = 1 fixe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91616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Valeur originale Simeoni 2004, evite instabilite numerique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pkpd_FGFR2.R  →  resultats_PKPD_Emax_FGFR2.RData  →  presentation_FGFR2.R  →  presentation_FGFR2.pptx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