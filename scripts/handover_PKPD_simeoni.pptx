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 — présentation du transfert du script R de modélisation PK/PD TGI.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PK : 2 compartiments IV bolus linéaire. Paramètres fixés depuis analyse non-compartimentale.
PD : 4 compartiments de transit (Simeoni 2004). k2 estimé directement; TSC = L0/k2 dérivé.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blocs dans le script. Seule la section CONFIG (en tête) doit être modifiée pour un nouveau produit. Les blocs ODEs et Simulation ne doivent JAMAIS être modifiés — ce sont les équations de Simeoni.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CONFIG : seul endroit à modifier. Les vecteurs NOM_DOSES / DOSES_UGKG / W_DOSES / LIGNES_DOSES doivent tous avoir la même longueur. Un stopifnot() vérifie cela au démarrage.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Détection automatique : si col2 de la ligne d'en-tête est numérique → WIDE. Sinon TALL.
Les timepoints sans SEM valide sont exclus de la fonction de coût (évite le biais 1/1² = poids artificiel énorme).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Étape A : véhicule seulement. Étape B : groupes traités avec L0/L1 fixes.
W_DOSES : poids par groupe. W=0 = exclu du fit (mais la courbe prédite est quand même affichée).
Limitation structurelle : un seul k2 ne peut pas fitter parfaitement des groupes très différents — W_DOSES permet de prioriser.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Paramètres obtenus sur la cohorte SNU.
Note structurelle : un seul k2=L0/TSC ne peut pas optimiser simultanément 5.6 et 11.8 mg/kg. W_DOSES=c(0,1,0.1) priorise 5.6 mg/kg. La suppression totale de 11.8 mg/kg est biologiquement acceptée.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pour utiliser le script sur un nouveau produit/cohorte. La seule zone à modifier est la section CONFIG. Les bornes MTT et K2_TSC_* peuvent être ajustées si les avertissements "sur borne" apparaissent dans la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Insister sur la règle d'or : ne modifier QUE la section CONFIG. Le reste du script est le modèle mathématique de Simeoni — le modifier casserait le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86AB">
              <a:alpha val="7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1645920" cy="1645920"/>
          </a:xfrm>
          <a:prstGeom prst="ellipse">
            <a:avLst/>
          </a:prstGeom>
          <a:solidFill>
            <a:srgbClr val="A8DADC">
              <a:alpha val="30000"/>
            </a:srgbClr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HANDOVER — PK/PD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TGI Simeoni (2004)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 — Xénogreffe Souris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générique — ajustement séquentiel IV bolus 2-cpt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434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Fc-silent FGFR2-huBPA-LP1  ·  Cohorte SNU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124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Simeoni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Biologie &amp; équations 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blocs, ce qu'on touche vs jamais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seules lignes à modifier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730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de données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TALL vs WIDE — détection auto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124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séquentiel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 (véhicule) → Étape B (traités)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SNU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286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finaux &amp; graphe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88036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un nouveau produit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154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pratique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Simeoni (2004)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566160" cy="3474720"/>
          </a:xfrm>
          <a:prstGeom prst="rect">
            <a:avLst/>
          </a:prstGeom>
          <a:solidFill>
            <a:srgbClr val="D6E4F0">
              <a:alpha val="60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— 2 compartiments IV bolus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dA1/dt = -(CL/V1 + Q/V1)·A1 + (Q/V2)·A2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dA2/dt =  (Q/V1)·A1 - (Q/V2)·A2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 = A1 / 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fixés depuis le CSV PK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CL, V1, V2, Q  [mL/kg /h → L/kg /j]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extrait par groupe (colonne Animal)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4480560" cy="3474720"/>
          </a:xfrm>
          <a:prstGeom prst="rect">
            <a:avLst/>
          </a:prstGeom>
          <a:solidFill>
            <a:srgbClr val="D6E4F0">
              <a:alpha val="60000"/>
            </a:srgbClr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0515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— Modèle transit (4 compartiments)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dx1/dt = [g(w)/w − k2·C1]·x1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9019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dx2/dt =  k2·C1·x1 − k1·x2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340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dx3/dt =  k1·x2 − k1·x3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2779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dx4/dt =  k1·x3 − k1·x4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2186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g(w) = L0·w / (1+(L0·w/L1)²⁰)^(1/20)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7307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7307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cytotoxicité [L/µg/j]  — estimé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9867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98678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L0/k2 [µg/L] — dérivé (interprétation)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2428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2428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4/k1 [j] — temps transit moyen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du script 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713232"/>
          </a:xfrm>
          <a:prstGeom prst="rect">
            <a:avLst/>
          </a:prstGeom>
          <a:solidFill>
            <a:srgbClr val="2E86AB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1078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078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MODIFIER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1353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zone à modifier → fichiers, doses, poids, bornes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883664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157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CSV → CL/V1/V2/Q/Cmax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688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Données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688336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962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Excel → détecte TALL/WIDE, exclut SEM manquants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49300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767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simeoni_rhs + simeoni_ctrl_rhs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078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Simu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1078992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8888" y="1353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sim_ctrl_fn + sim_treated (fallback tolérance lsoda)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10512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⑤A Fit 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1883664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8888" y="2157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 + nlminb → L0 et L1 (véhicule)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615184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688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⑤B Fit 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2688336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8888" y="2962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 + nlminb → k1 et k2 (traités, boucle N doses)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19856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⑥⑦ Résul.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49300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3767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console + simulation finale clippée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4224528"/>
            <a:ext cx="4114800" cy="713232"/>
          </a:xfrm>
          <a:prstGeom prst="rect">
            <a:avLst/>
          </a:prstGeom>
          <a:solidFill>
            <a:srgbClr val="1C3A5E">
              <a:alpha val="18000"/>
            </a:srgbClr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4297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⑧⑨ Graph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4297680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MODIFIER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18888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+ PNG + .RData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section CONFIG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~10 lignes à changer pour un nouveau produit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12064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FICHIER_PK    &lt;- "pk_resultats_20260720.csv"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5453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FICHIER_TUMOR &lt;- "Tumor_volum_SNU.xlsx"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0391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NOM_PRODUIT &lt;- "Fc-silent FGFR2-huBPA-LP1"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NOM_COHORTE &lt;- "SNU"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7797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D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NOM_DOSES    &lt;- c("groupe 4", "grp 5", "grp 7")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0266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D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DOSES_UGKG   &lt;- c(1200, 5600, 11800)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D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W_DOSES      &lt;- c(0, 1, 0.1)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F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LIGNE_CTRL   &lt;- 1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01421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F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LIGNES_DOSES &lt;- c(2, 3, 4)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118872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152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données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14264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PK + Excel tumeur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148840"/>
            <a:ext cx="164592" cy="16459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112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produit/cohorte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23865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dans le graphe et le .RData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108960"/>
            <a:ext cx="164592" cy="164592"/>
          </a:xfrm>
          <a:prstGeom prst="rect">
            <a:avLst/>
          </a:prstGeom>
          <a:solidFill>
            <a:srgbClr val="F9D56E"/>
          </a:solidFill>
          <a:ln w="12700">
            <a:solidFill>
              <a:srgbClr val="F9D5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072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&amp; poids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33467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Autant d'entrées que de groupes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W=0 → exclu du fit (affiché quand même)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4069080"/>
            <a:ext cx="164592" cy="164592"/>
          </a:xfrm>
          <a:prstGeom prst="rect">
            <a:avLst/>
          </a:prstGeom>
          <a:solidFill>
            <a:srgbClr val="C3FBD8"/>
          </a:solidFill>
          <a:ln w="12700">
            <a:solidFill>
              <a:srgbClr val="C3FB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032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dans l'Excel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43068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LIGNE_CTRL=1 → 1ère ligne après header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LIGNES_DOSES → offset par groupe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 Excel — détection automatique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TALL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en colonne 1 — groupes en colonnes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41248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(day)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44168" y="1645920"/>
            <a:ext cx="841248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4168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31136" y="1645920"/>
            <a:ext cx="841248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18104" y="1645920"/>
            <a:ext cx="841248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16459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3852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44168" y="1938528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193852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31136" y="1938528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1136" y="193852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18104" y="1938528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18104" y="193852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94560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945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44168" y="2194560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21945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31136" y="2194560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31136" y="21945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18104" y="2194560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18104" y="21945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450592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45059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44168" y="2450592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44168" y="245059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31136" y="2450592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31136" y="245059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18104" y="2450592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18104" y="245059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706624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0662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344168" y="2706624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44168" y="270662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31136" y="2706624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1136" y="270662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18104" y="2706624"/>
            <a:ext cx="8412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18104" y="270662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962656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962656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344168" y="2962656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44168" y="2962656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31136" y="2962656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31136" y="2962656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18104" y="2962656"/>
            <a:ext cx="841248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18104" y="2962656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Ligne d'en-tête contient "Time" ou "Group"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 1 = temps, LIGNE_CTRL / LIGNES_DOSES = décalage de colonne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960120"/>
            <a:ext cx="40233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WIDE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846320" y="1353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en ligne d'en-tête — groupes en lignes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00600" y="1645920"/>
            <a:ext cx="694944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16459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532120" y="1645920"/>
            <a:ext cx="694944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16459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63640" y="1645920"/>
            <a:ext cx="694944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16459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95160" y="1645920"/>
            <a:ext cx="694944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95160" y="16459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726680" y="1645920"/>
            <a:ext cx="694944" cy="27432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26680" y="164592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00600" y="1938528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193852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532120" y="1938528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32120" y="193852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63640" y="1938528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63640" y="193852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995160" y="1938528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95160" y="193852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726680" y="1938528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26680" y="193852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800600" y="2194560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00600" y="2194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532120" y="2194560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32120" y="2194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63640" y="2194560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63640" y="2194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995160" y="2194560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95160" y="2194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726680" y="2194560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26680" y="219456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800600" y="2450592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00600" y="245059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2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532120" y="2450592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32120" y="245059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263640" y="2450592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63640" y="245059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995160" y="2450592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95160" y="245059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726680" y="2450592"/>
            <a:ext cx="694944" cy="246888"/>
          </a:xfrm>
          <a:prstGeom prst="rect">
            <a:avLst/>
          </a:prstGeom>
          <a:solidFill>
            <a:srgbClr val="D6E4F0"/>
          </a:solidFill>
          <a:ln w="6350">
            <a:solidFill>
              <a:srgbClr val="D6E4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26680" y="245059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800600" y="32918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 2 de l'en-tête est numérique = format WIDE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Temps extraits de la ligne header, groupes en lignes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365760" y="4480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2 cas : 2 blocs (moyennes + SEM). Timepoints sans SEM valide exclus du fit automatiquement.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Ajustement séquentiel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017520"/>
          </a:xfrm>
          <a:prstGeom prst="rect">
            <a:avLst/>
          </a:prstGeom>
          <a:solidFill>
            <a:srgbClr val="2E86AB">
              <a:alpha val="12000"/>
            </a:srgbClr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— Véhicule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Paramètres estimés : L0, 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02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Groupe véhicule uniquement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Coût : Σ (1/SEM²) × (log obs − log pred)²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9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Bornes L0 : doublement dans [3–14 j]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Bornes L1 : [TVmax, 200 × TVmax]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55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Optimiseur : DEoptim (global) → nlminb (local)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Meilleur des deux retenu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4256" y="2331720"/>
            <a:ext cx="457200" cy="54864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148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06240" y="25603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&amp; L1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914400"/>
            <a:ext cx="3931920" cy="3017520"/>
          </a:xfrm>
          <a:prstGeom prst="rect">
            <a:avLst/>
          </a:prstGeom>
          <a:solidFill>
            <a:srgbClr val="1C3A5E">
              <a:alpha val="12000"/>
            </a:srgbClr>
          </a:solidFill>
          <a:ln w="25400">
            <a:solidFill>
              <a:srgbClr val="1C3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960120"/>
            <a:ext cx="640080" cy="640080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1005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— Groupes traités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Paramètres estimés : k1, k2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002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TSC = L0/k2 dérivé (pour interprétation)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340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Boucle sur N groupes traités (W_DOSES)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679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 = 0 → groupe exclu du fit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Coût pondéré : Σ Wᵢ × Σ (1/SEMᵢ²) × ...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355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Avertissements si paramètre sur borne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Optimiseur : DEoptim → nlminb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8366760" cy="685800"/>
          </a:xfrm>
          <a:prstGeom prst="rect">
            <a:avLst/>
          </a:prstGeom>
          <a:solidFill>
            <a:srgbClr val="D6E4F0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148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séquentiel ?  La croissance basale (L0, L1) est identique dans tous les groupes — la fixer avant d'estimer l'efficacité évite la co-linéarité et rend le problème bien posé.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— Cohorte SNU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Fc-silent FGFR2-huBPA-LP1  ·  Ajustement séquentiel  ·  Dose unique IV bolus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1828800"/>
          </a:xfrm>
          <a:prstGeom prst="rect">
            <a:avLst/>
          </a:prstGeom>
          <a:solidFill>
            <a:srgbClr val="2E86AB">
              <a:alpha val="25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65760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 /j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doublement 5.5j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2011680" cy="1828800"/>
          </a:xfrm>
          <a:prstGeom prst="rect">
            <a:avLst/>
          </a:prstGeom>
          <a:solidFill>
            <a:srgbClr val="2E86AB">
              <a:alpha val="25000"/>
            </a:srgbClr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188720"/>
            <a:ext cx="365760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7180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1 372 mm³/j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croissance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2011680" cy="1828800"/>
          </a:xfrm>
          <a:prstGeom prst="rect">
            <a:avLst/>
          </a:prstGeom>
          <a:solidFill>
            <a:srgbClr val="3D85C8">
              <a:alpha val="25000"/>
            </a:srgbClr>
          </a:solidFill>
          <a:ln w="19050">
            <a:solidFill>
              <a:srgbClr val="3D85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188720"/>
            <a:ext cx="365760" cy="182880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2064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7 927 µg/L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= 1.58×10⁻⁵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188720"/>
            <a:ext cx="2011680" cy="1828800"/>
          </a:xfrm>
          <a:prstGeom prst="rect">
            <a:avLst/>
          </a:prstGeom>
          <a:solidFill>
            <a:srgbClr val="3D85C8">
              <a:alpha val="25000"/>
            </a:srgbClr>
          </a:solidFill>
          <a:ln w="19050">
            <a:solidFill>
              <a:srgbClr val="3D85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1188720"/>
            <a:ext cx="365760" cy="182880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 j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= 0.227 /j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Cmax / TSC par groupe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11430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204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54480" y="3520440"/>
            <a:ext cx="141732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0200" y="3520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 (µg/L)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0" y="3520440"/>
            <a:ext cx="105156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3520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Cmax/TSC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3520440"/>
            <a:ext cx="132588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520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W_DOSES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3520440"/>
            <a:ext cx="32004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822192"/>
            <a:ext cx="114300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mg/kg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554480" y="3822192"/>
            <a:ext cx="141732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0200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16 784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17520" y="3822192"/>
            <a:ext cx="105156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63240" y="3822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0" y="3822192"/>
            <a:ext cx="132588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60520" y="3822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(exclu du fit)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32120" y="3886200"/>
            <a:ext cx="146304" cy="14630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38221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utilisé dans le fit — courbe affichée en prédiction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114800"/>
            <a:ext cx="114300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114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mg/kg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554480" y="4114800"/>
            <a:ext cx="1417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0200" y="4114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66 547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017520" y="4114800"/>
            <a:ext cx="105156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6324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8.4×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0" y="4114800"/>
            <a:ext cx="132588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60520" y="4114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(plein poids)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32120" y="4178808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4114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prioritaire — bon accord modèle/données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407408"/>
            <a:ext cx="114300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407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mg/kg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554480" y="4407408"/>
            <a:ext cx="141732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00200" y="44074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167 844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017520" y="4407408"/>
            <a:ext cx="105156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63240" y="44074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21.2×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14800" y="4407408"/>
            <a:ext cx="1325880" cy="274320"/>
          </a:xfrm>
          <a:prstGeom prst="rect">
            <a:avLst/>
          </a:prstGeom>
          <a:solidFill>
            <a:srgbClr val="162A3E"/>
          </a:solidFill>
          <a:ln w="6350">
            <a:solidFill>
              <a:srgbClr val="2E4A6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60520" y="4407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(poids réduit)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32120" y="4471416"/>
            <a:ext cx="146304" cy="146304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15000" y="44074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partiel — suppression totale acceptable (accord bio)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Utiliser le script pour un nouveau produit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100584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fichiers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PK avec colonnes : Animal, CL, V1, V2, Q, cmax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 volume tumoral (TALL ou WIDE, 2 blocs moy + SEM)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37744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 la CONFIG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FICHIER_PK, FICHIER_TUMOR, NOM_PRODUIT, NOM_COHORTE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NOM_DOSES, DOSES_UGKG, W_DOSES (même longueur !)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LIGNE_CTRL, LIGNES_DOSES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749040"/>
            <a:ext cx="384048" cy="38404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les bornes si nécessaire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33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MTT_MIN_J / MTT_MAX_J : a priori biologique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53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K2_TSC_MAX_X / K2_TSC_MIN_DIV : si AVERT "sur borne"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9144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8888" y="1005840"/>
            <a:ext cx="384048" cy="384048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1005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&amp; interpréter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Rscript pkpd_simeoni_tgi.R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709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Vérifier [AVERT] dans la console → ajuster bornes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graphe et le .RData sont dans scripts/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2377440"/>
            <a:ext cx="384048" cy="384048"/>
          </a:xfrm>
          <a:prstGeom prst="ellipse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fit est mauvais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Augmenter W_DOSES du groupe prioritaire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Mettre W=0 sur les groupes mal contraints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Jamais de fit parfait si Cmax/TSC très différents entre doses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2E86AB">
              <a:alpha val="8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03120" y="457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clés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103120" y="1234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06040" y="126187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uniquement — jamais les ODEs ni les fonctions de simulation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828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06040" y="185623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doses supportées — vecteurs NOM_DOSES / DOSES_UGKG / W_DOSES / LIGNES_DOSES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4231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245059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W_DOSES contrôle la priorité du fit — W=0 affiche sans fitter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304495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[AVERT] dans la console = paramètre sur borne → ajuster bornes ou poids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6118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363931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: PNG + .RData dans scripts/ — résumé complet dans le RData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4206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423367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: un seul k2 — impossible de fitter parfaitement toutes les doses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46177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2026-07-28T08:52:47Z</dcterms:created>
  <dcterms:modified xsi:type="dcterms:W3CDTF">2026-07-28T08:52:47Z</dcterms:modified>
</cp:coreProperties>
</file>