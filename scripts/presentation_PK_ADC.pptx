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3A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0"/>
            <a:ext cx="2011680" cy="5143500"/>
          </a:xfrm>
          <a:prstGeom prst="rect">
            <a:avLst/>
          </a:prstGeom>
          <a:solidFill>
            <a:srgbClr val="2E86AB">
              <a:alpha val="75000"/>
            </a:srgbClr>
          </a:solidFill>
          <a:ln w="12700">
            <a:solidFill>
              <a:srgbClr val="2E86A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914400"/>
            <a:ext cx="6400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A8DA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PHARMACOCINÉTIQUE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1325880"/>
            <a:ext cx="6400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Fc-silent FGFR2-huBPA-LP1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(ADC)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02920" y="2423160"/>
            <a:ext cx="6400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DA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Souris — IV bolus dose unique — 2 compartiments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2971800"/>
            <a:ext cx="3017520" cy="438912"/>
          </a:xfrm>
          <a:prstGeom prst="rect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2971800"/>
            <a:ext cx="30175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Antibody (TAb)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794760" y="2971800"/>
            <a:ext cx="3017520" cy="438912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794760" y="2971800"/>
            <a:ext cx="30175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ADC — Payload conjugué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02920" y="4434840"/>
            <a:ext cx="6492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Doses : 3 / 10 / 20 / 30 mg/kg  ·  N=65 (TAb) et N=63 (ADC)  ·  8 animaux  ·  30/07/2026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E86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17920" y="-914400"/>
            <a:ext cx="4114800" cy="4114800"/>
          </a:xfrm>
          <a:prstGeom prst="ellipse">
            <a:avLst/>
          </a:prstGeom>
          <a:solidFill>
            <a:srgbClr val="A8DADC">
              <a:alpha val="25000"/>
            </a:srgbClr>
          </a:solidFill>
          <a:ln w="12700">
            <a:solidFill>
              <a:srgbClr val="A8DAD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1371600"/>
            <a:ext cx="5486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A8DA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7315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Total Antibody</a:t>
            </a:r>
            <a:endParaRPr lang="en-US" sz="4200" dirty="0"/>
          </a:p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(TAb)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548640" y="30632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DA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  ·  Modèle  ·  Paramètres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321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3A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Données PK — Total Antibody (TAb)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896112"/>
            <a:ext cx="4023360" cy="3017520"/>
          </a:xfrm>
          <a:prstGeom prst="rect">
            <a:avLst/>
          </a:prstGeom>
          <a:solidFill>
            <a:srgbClr val="FFFFFF"/>
          </a:solidFill>
          <a:ln w="19050">
            <a:solidFill>
              <a:srgbClr val="2E86A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969264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expérimental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335024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🐭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96112" y="1371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Espèce :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029968" y="137160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Souris — IV bolus dose unique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1764792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💉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96112" y="1801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Doses :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029968" y="1801368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10 / 20 / 30 mg/kg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219456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👥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96112" y="22311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Animaux :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029968" y="2231136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(2 par dose : 1001/1002, 2001/2002...)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02920" y="2624328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96112" y="266090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obs :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029968" y="2660904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 points de concentration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" y="3054096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96112" y="309067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: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029968" y="309067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Jusqu'à 504h (~21 jours)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02920" y="3483864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🧪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96112" y="352044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Analyte :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029968" y="35204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Anticorps total (TAb) — ELISA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663440" y="896112"/>
            <a:ext cx="4069080" cy="3017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C3A5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00600" y="969264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Paramètres NCA individuels (Cmax)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846320" y="1316736"/>
            <a:ext cx="731520" cy="256032"/>
          </a:xfrm>
          <a:prstGeom prst="rect">
            <a:avLst/>
          </a:prstGeom>
          <a:solidFill>
            <a:srgbClr val="1C3A5E"/>
          </a:solidFill>
          <a:ln w="12700">
            <a:solidFill>
              <a:srgbClr val="1C3A5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73752" y="1316736"/>
            <a:ext cx="67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Animal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623560" y="1316736"/>
            <a:ext cx="914400" cy="256032"/>
          </a:xfrm>
          <a:prstGeom prst="rect">
            <a:avLst/>
          </a:prstGeom>
          <a:solidFill>
            <a:srgbClr val="1C3A5E"/>
          </a:solidFill>
          <a:ln w="12700">
            <a:solidFill>
              <a:srgbClr val="1C3A5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650992" y="1316736"/>
            <a:ext cx="8595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583680" y="1316736"/>
            <a:ext cx="1143000" cy="256032"/>
          </a:xfrm>
          <a:prstGeom prst="rect">
            <a:avLst/>
          </a:prstGeom>
          <a:solidFill>
            <a:srgbClr val="1C3A5E"/>
          </a:solidFill>
          <a:ln w="12700">
            <a:solidFill>
              <a:srgbClr val="1C3A5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611112" y="1316736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Cmax (µg/mL)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7772400" y="1316736"/>
            <a:ext cx="914400" cy="256032"/>
          </a:xfrm>
          <a:prstGeom prst="rect">
            <a:avLst/>
          </a:prstGeom>
          <a:solidFill>
            <a:srgbClr val="1C3A5E"/>
          </a:solidFill>
          <a:ln w="12700">
            <a:solidFill>
              <a:srgbClr val="1C3A5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799832" y="1316736"/>
            <a:ext cx="8595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t½ (h)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846320" y="1600200"/>
            <a:ext cx="731520" cy="246888"/>
          </a:xfrm>
          <a:prstGeom prst="rect">
            <a:avLst/>
          </a:prstGeom>
          <a:solidFill>
            <a:srgbClr val="D6E4F0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73752" y="1600200"/>
            <a:ext cx="6766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623560" y="1600200"/>
            <a:ext cx="914400" cy="246888"/>
          </a:xfrm>
          <a:prstGeom prst="rect">
            <a:avLst/>
          </a:prstGeom>
          <a:solidFill>
            <a:srgbClr val="D6E4F0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650992" y="1600200"/>
            <a:ext cx="859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6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mg/kg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583680" y="1600200"/>
            <a:ext cx="1143000" cy="246888"/>
          </a:xfrm>
          <a:prstGeom prst="rect">
            <a:avLst/>
          </a:prstGeom>
          <a:solidFill>
            <a:srgbClr val="D6E4F0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611112" y="1600200"/>
            <a:ext cx="10881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67.5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772400" y="1600200"/>
            <a:ext cx="914400" cy="246888"/>
          </a:xfrm>
          <a:prstGeom prst="rect">
            <a:avLst/>
          </a:prstGeom>
          <a:solidFill>
            <a:srgbClr val="D6E4F0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799832" y="1600200"/>
            <a:ext cx="859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71.7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846320" y="1874520"/>
            <a:ext cx="731520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73752" y="1874520"/>
            <a:ext cx="6766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1002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623560" y="1874520"/>
            <a:ext cx="914400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650992" y="1874520"/>
            <a:ext cx="859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6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mg/kg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6583680" y="1874520"/>
            <a:ext cx="1143000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611112" y="1874520"/>
            <a:ext cx="10881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74.1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7772400" y="1874520"/>
            <a:ext cx="914400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799832" y="1874520"/>
            <a:ext cx="859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846320" y="2148840"/>
            <a:ext cx="731520" cy="246888"/>
          </a:xfrm>
          <a:prstGeom prst="rect">
            <a:avLst/>
          </a:prstGeom>
          <a:solidFill>
            <a:srgbClr val="D6E4F0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873752" y="2148840"/>
            <a:ext cx="6766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5623560" y="2148840"/>
            <a:ext cx="914400" cy="246888"/>
          </a:xfrm>
          <a:prstGeom prst="rect">
            <a:avLst/>
          </a:prstGeom>
          <a:solidFill>
            <a:srgbClr val="D6E4F0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650992" y="2148840"/>
            <a:ext cx="859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FA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mg/kg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6583680" y="2148840"/>
            <a:ext cx="1143000" cy="246888"/>
          </a:xfrm>
          <a:prstGeom prst="rect">
            <a:avLst/>
          </a:prstGeom>
          <a:solidFill>
            <a:srgbClr val="D6E4F0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611112" y="2148840"/>
            <a:ext cx="10881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228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7772400" y="2148840"/>
            <a:ext cx="914400" cy="246888"/>
          </a:xfrm>
          <a:prstGeom prst="rect">
            <a:avLst/>
          </a:prstGeom>
          <a:solidFill>
            <a:srgbClr val="D6E4F0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99832" y="2148840"/>
            <a:ext cx="859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41.0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846320" y="2423160"/>
            <a:ext cx="731520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873752" y="2423160"/>
            <a:ext cx="6766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2002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623560" y="2423160"/>
            <a:ext cx="914400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650992" y="2423160"/>
            <a:ext cx="859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FA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mg/kg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6583680" y="2423160"/>
            <a:ext cx="1143000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611112" y="2423160"/>
            <a:ext cx="10881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247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7772400" y="2423160"/>
            <a:ext cx="914400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799832" y="2423160"/>
            <a:ext cx="859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52.9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846320" y="2697480"/>
            <a:ext cx="731520" cy="246888"/>
          </a:xfrm>
          <a:prstGeom prst="rect">
            <a:avLst/>
          </a:prstGeom>
          <a:solidFill>
            <a:srgbClr val="D6E4F0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873752" y="2697480"/>
            <a:ext cx="6766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3002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5623560" y="2697480"/>
            <a:ext cx="914400" cy="246888"/>
          </a:xfrm>
          <a:prstGeom prst="rect">
            <a:avLst/>
          </a:prstGeom>
          <a:solidFill>
            <a:srgbClr val="D6E4F0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650992" y="2697480"/>
            <a:ext cx="859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BAC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mg/kg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6583680" y="2697480"/>
            <a:ext cx="1143000" cy="246888"/>
          </a:xfrm>
          <a:prstGeom prst="rect">
            <a:avLst/>
          </a:prstGeom>
          <a:solidFill>
            <a:srgbClr val="D6E4F0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611112" y="2697480"/>
            <a:ext cx="10881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709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7772400" y="2697480"/>
            <a:ext cx="914400" cy="246888"/>
          </a:xfrm>
          <a:prstGeom prst="rect">
            <a:avLst/>
          </a:prstGeom>
          <a:solidFill>
            <a:srgbClr val="D6E4F0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7799832" y="2697480"/>
            <a:ext cx="859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37.7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4846320" y="2971800"/>
            <a:ext cx="731520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873752" y="2971800"/>
            <a:ext cx="6766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5623560" y="2971800"/>
            <a:ext cx="914400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5650992" y="2971800"/>
            <a:ext cx="859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BAC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mg/kg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583680" y="2971800"/>
            <a:ext cx="1143000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611112" y="2971800"/>
            <a:ext cx="10881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772400" y="2971800"/>
            <a:ext cx="914400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799832" y="2971800"/>
            <a:ext cx="859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62.0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4846320" y="3246120"/>
            <a:ext cx="731520" cy="246888"/>
          </a:xfrm>
          <a:prstGeom prst="rect">
            <a:avLst/>
          </a:prstGeom>
          <a:solidFill>
            <a:srgbClr val="D6E4F0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4873752" y="3246120"/>
            <a:ext cx="6766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5623560" y="3246120"/>
            <a:ext cx="914400" cy="246888"/>
          </a:xfrm>
          <a:prstGeom prst="rect">
            <a:avLst/>
          </a:prstGeom>
          <a:solidFill>
            <a:srgbClr val="D6E4F0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5650992" y="3246120"/>
            <a:ext cx="859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E44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mg/kg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6583680" y="3246120"/>
            <a:ext cx="1143000" cy="246888"/>
          </a:xfrm>
          <a:prstGeom prst="rect">
            <a:avLst/>
          </a:prstGeom>
          <a:solidFill>
            <a:srgbClr val="D6E4F0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611112" y="3246120"/>
            <a:ext cx="10881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507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772400" y="3246120"/>
            <a:ext cx="914400" cy="246888"/>
          </a:xfrm>
          <a:prstGeom prst="rect">
            <a:avLst/>
          </a:prstGeom>
          <a:solidFill>
            <a:srgbClr val="D6E4F0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7799832" y="3246120"/>
            <a:ext cx="859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45.6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4846320" y="3520440"/>
            <a:ext cx="731520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4873752" y="3520440"/>
            <a:ext cx="6766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4002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5623560" y="3520440"/>
            <a:ext cx="914400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650992" y="3520440"/>
            <a:ext cx="859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E44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mg/kg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6583680" y="3520440"/>
            <a:ext cx="1143000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6611112" y="3520440"/>
            <a:ext cx="10881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7772400" y="3520440"/>
            <a:ext cx="914400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799832" y="3520440"/>
            <a:ext cx="859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94.4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365760" y="4041648"/>
            <a:ext cx="8366760" cy="777240"/>
          </a:xfrm>
          <a:prstGeom prst="rect">
            <a:avLst/>
          </a:prstGeom>
          <a:solidFill>
            <a:srgbClr val="D6E4F0">
              <a:alpha val="70000"/>
            </a:srgbClr>
          </a:solidFill>
          <a:ln w="12700">
            <a:solidFill>
              <a:srgbClr val="2E86AB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548640" y="4114800"/>
            <a:ext cx="8138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Observations : Cmax proportionnelle à la dose (3→30 mg/kg)  ·  t½ variable inter-individuel (38–94h)  ·  Profil bi-exponentiel visible sur graphe semi-log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3A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Modèle &amp; Paramètres — Total Antibody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868680"/>
            <a:ext cx="4023360" cy="1188720"/>
          </a:xfrm>
          <a:prstGeom prst="rect">
            <a:avLst/>
          </a:prstGeom>
          <a:solidFill>
            <a:srgbClr val="FFFFFF"/>
          </a:solidFill>
          <a:ln w="19050">
            <a:solidFill>
              <a:srgbClr val="2E86A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93268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Sélection du modèle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1252728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240280" y="125272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AIC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200400" y="125272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BIC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02920" y="1508760"/>
            <a:ext cx="3639312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0352" y="1508760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compartiment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240280" y="150876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−10.4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200400" y="150876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−6.1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" y="1810512"/>
            <a:ext cx="3639312" cy="256032"/>
          </a:xfrm>
          <a:prstGeom prst="rect">
            <a:avLst/>
          </a:prstGeom>
          <a:solidFill>
            <a:srgbClr val="2E86AB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0352" y="1810512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compartiments ✓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2240280" y="1810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−45.4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200400" y="1810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−36.7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65760" y="2176272"/>
            <a:ext cx="4023360" cy="2633472"/>
          </a:xfrm>
          <a:prstGeom prst="rect">
            <a:avLst/>
          </a:prstGeom>
          <a:solidFill>
            <a:srgbClr val="FFFFFF"/>
          </a:solidFill>
          <a:ln w="12700">
            <a:solidFill>
              <a:srgbClr val="2E86A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223113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Paramètres estimés — modèle 2-cpt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2551176"/>
            <a:ext cx="1078992" cy="246888"/>
          </a:xfrm>
          <a:prstGeom prst="rect">
            <a:avLst/>
          </a:prstGeom>
          <a:solidFill>
            <a:srgbClr val="1C3A5E"/>
          </a:solidFill>
          <a:ln w="12700">
            <a:solidFill>
              <a:srgbClr val="1C3A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4632" y="2551176"/>
            <a:ext cx="102412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Paramètre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1572768" y="2551176"/>
            <a:ext cx="1133856" cy="246888"/>
          </a:xfrm>
          <a:prstGeom prst="rect">
            <a:avLst/>
          </a:prstGeom>
          <a:solidFill>
            <a:srgbClr val="1C3A5E"/>
          </a:solidFill>
          <a:ln w="12700">
            <a:solidFill>
              <a:srgbClr val="1C3A5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600200" y="2551176"/>
            <a:ext cx="10789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743200" y="2551176"/>
            <a:ext cx="1060704" cy="246888"/>
          </a:xfrm>
          <a:prstGeom prst="rect">
            <a:avLst/>
          </a:prstGeom>
          <a:solidFill>
            <a:srgbClr val="1C3A5E"/>
          </a:solidFill>
          <a:ln w="12700">
            <a:solidFill>
              <a:srgbClr val="1C3A5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70632" y="2551176"/>
            <a:ext cx="1005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Unité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840480" y="2551176"/>
            <a:ext cx="475488" cy="246888"/>
          </a:xfrm>
          <a:prstGeom prst="rect">
            <a:avLst/>
          </a:prstGeom>
          <a:solidFill>
            <a:srgbClr val="1C3A5E"/>
          </a:solidFill>
          <a:ln w="12700">
            <a:solidFill>
              <a:srgbClr val="1C3A5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867912" y="2551176"/>
            <a:ext cx="4206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%RSE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57200" y="2825496"/>
            <a:ext cx="1078992" cy="301752"/>
          </a:xfrm>
          <a:prstGeom prst="rect">
            <a:avLst/>
          </a:prstGeom>
          <a:solidFill>
            <a:srgbClr val="D6E4F0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4632" y="2825496"/>
            <a:ext cx="10241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1572768" y="2825496"/>
            <a:ext cx="1133856" cy="301752"/>
          </a:xfrm>
          <a:prstGeom prst="rect">
            <a:avLst/>
          </a:prstGeom>
          <a:solidFill>
            <a:srgbClr val="D6E4F0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600200" y="2825496"/>
            <a:ext cx="107899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3A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1.262e-03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743200" y="2825496"/>
            <a:ext cx="1060704" cy="301752"/>
          </a:xfrm>
          <a:prstGeom prst="rect">
            <a:avLst/>
          </a:prstGeom>
          <a:solidFill>
            <a:srgbClr val="D6E4F0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770632" y="2825496"/>
            <a:ext cx="1005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3A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mL/h/g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840480" y="2825496"/>
            <a:ext cx="475488" cy="301752"/>
          </a:xfrm>
          <a:prstGeom prst="rect">
            <a:avLst/>
          </a:prstGeom>
          <a:solidFill>
            <a:srgbClr val="D6E4F0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867912" y="2825496"/>
            <a:ext cx="4206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3A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9.7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57200" y="3163824"/>
            <a:ext cx="1078992" cy="301752"/>
          </a:xfrm>
          <a:prstGeom prst="rect">
            <a:avLst/>
          </a:prstGeom>
          <a:solidFill>
            <a:srgbClr val="FFFFFF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4632" y="3163824"/>
            <a:ext cx="10241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1572768" y="3163824"/>
            <a:ext cx="1133856" cy="301752"/>
          </a:xfrm>
          <a:prstGeom prst="rect">
            <a:avLst/>
          </a:prstGeom>
          <a:solidFill>
            <a:srgbClr val="FFFFFF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600200" y="3163824"/>
            <a:ext cx="107899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3A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4.397e-02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2743200" y="3163824"/>
            <a:ext cx="1060704" cy="301752"/>
          </a:xfrm>
          <a:prstGeom prst="rect">
            <a:avLst/>
          </a:prstGeom>
          <a:solidFill>
            <a:srgbClr val="FFFFFF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770632" y="3163824"/>
            <a:ext cx="1005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3A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mL/g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3840480" y="3163824"/>
            <a:ext cx="475488" cy="301752"/>
          </a:xfrm>
          <a:prstGeom prst="rect">
            <a:avLst/>
          </a:prstGeom>
          <a:solidFill>
            <a:srgbClr val="FFFFFF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867912" y="3163824"/>
            <a:ext cx="4206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3A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19.5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57200" y="3502152"/>
            <a:ext cx="1078992" cy="301752"/>
          </a:xfrm>
          <a:prstGeom prst="rect">
            <a:avLst/>
          </a:prstGeom>
          <a:solidFill>
            <a:srgbClr val="D6E4F0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4632" y="3502152"/>
            <a:ext cx="10241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1572768" y="3502152"/>
            <a:ext cx="1133856" cy="301752"/>
          </a:xfrm>
          <a:prstGeom prst="rect">
            <a:avLst/>
          </a:prstGeom>
          <a:solidFill>
            <a:srgbClr val="D6E4F0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600200" y="3502152"/>
            <a:ext cx="107899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3A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3.522e-02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2743200" y="3502152"/>
            <a:ext cx="1060704" cy="301752"/>
          </a:xfrm>
          <a:prstGeom prst="rect">
            <a:avLst/>
          </a:prstGeom>
          <a:solidFill>
            <a:srgbClr val="D6E4F0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770632" y="3502152"/>
            <a:ext cx="1005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3A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mL/g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3840480" y="3502152"/>
            <a:ext cx="475488" cy="301752"/>
          </a:xfrm>
          <a:prstGeom prst="rect">
            <a:avLst/>
          </a:prstGeom>
          <a:solidFill>
            <a:srgbClr val="D6E4F0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867912" y="3502152"/>
            <a:ext cx="4206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3A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35.1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457200" y="3840480"/>
            <a:ext cx="1078992" cy="301752"/>
          </a:xfrm>
          <a:prstGeom prst="rect">
            <a:avLst/>
          </a:prstGeom>
          <a:solidFill>
            <a:srgbClr val="FFFFFF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4632" y="3840480"/>
            <a:ext cx="10241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1572768" y="3840480"/>
            <a:ext cx="1133856" cy="301752"/>
          </a:xfrm>
          <a:prstGeom prst="rect">
            <a:avLst/>
          </a:prstGeom>
          <a:solidFill>
            <a:srgbClr val="FFFFFF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600200" y="3840480"/>
            <a:ext cx="107899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3A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8.783e-04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2743200" y="3840480"/>
            <a:ext cx="1060704" cy="301752"/>
          </a:xfrm>
          <a:prstGeom prst="rect">
            <a:avLst/>
          </a:prstGeom>
          <a:solidFill>
            <a:srgbClr val="FFFFFF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770632" y="3840480"/>
            <a:ext cx="1005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3A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mL/h/g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3840480" y="3840480"/>
            <a:ext cx="475488" cy="301752"/>
          </a:xfrm>
          <a:prstGeom prst="rect">
            <a:avLst/>
          </a:prstGeom>
          <a:solidFill>
            <a:srgbClr val="FFFFFF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867912" y="3840480"/>
            <a:ext cx="4206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3A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69.6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457200" y="4178808"/>
            <a:ext cx="1078992" cy="301752"/>
          </a:xfrm>
          <a:prstGeom prst="rect">
            <a:avLst/>
          </a:prstGeom>
          <a:solidFill>
            <a:srgbClr val="D6E4F0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84632" y="4178808"/>
            <a:ext cx="10241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t½α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1572768" y="4178808"/>
            <a:ext cx="1133856" cy="301752"/>
          </a:xfrm>
          <a:prstGeom prst="rect">
            <a:avLst/>
          </a:prstGeom>
          <a:solidFill>
            <a:srgbClr val="D6E4F0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600200" y="4178808"/>
            <a:ext cx="107899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3A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11.2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2743200" y="4178808"/>
            <a:ext cx="1060704" cy="301752"/>
          </a:xfrm>
          <a:prstGeom prst="rect">
            <a:avLst/>
          </a:prstGeom>
          <a:solidFill>
            <a:srgbClr val="D6E4F0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2770632" y="4178808"/>
            <a:ext cx="1005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3A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3840480" y="4178808"/>
            <a:ext cx="475488" cy="301752"/>
          </a:xfrm>
          <a:prstGeom prst="rect">
            <a:avLst/>
          </a:prstGeom>
          <a:solidFill>
            <a:srgbClr val="D6E4F0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3867912" y="4178808"/>
            <a:ext cx="4206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3A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457200" y="4517136"/>
            <a:ext cx="1078992" cy="301752"/>
          </a:xfrm>
          <a:prstGeom prst="rect">
            <a:avLst/>
          </a:prstGeom>
          <a:solidFill>
            <a:srgbClr val="FFFFFF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484632" y="4517136"/>
            <a:ext cx="10241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t½β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1572768" y="4517136"/>
            <a:ext cx="1133856" cy="301752"/>
          </a:xfrm>
          <a:prstGeom prst="rect">
            <a:avLst/>
          </a:prstGeom>
          <a:solidFill>
            <a:srgbClr val="FFFFFF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600200" y="4517136"/>
            <a:ext cx="107899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3A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60.1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2743200" y="4517136"/>
            <a:ext cx="1060704" cy="301752"/>
          </a:xfrm>
          <a:prstGeom prst="rect">
            <a:avLst/>
          </a:prstGeom>
          <a:solidFill>
            <a:srgbClr val="FFFFFF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2770632" y="4517136"/>
            <a:ext cx="1005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3A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3840480" y="4517136"/>
            <a:ext cx="475488" cy="301752"/>
          </a:xfrm>
          <a:prstGeom prst="rect">
            <a:avLst/>
          </a:prstGeom>
          <a:solidFill>
            <a:srgbClr val="FFFFFF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3867912" y="4517136"/>
            <a:ext cx="4206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3A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457200" y="4855464"/>
            <a:ext cx="1078992" cy="301752"/>
          </a:xfrm>
          <a:prstGeom prst="rect">
            <a:avLst/>
          </a:prstGeom>
          <a:solidFill>
            <a:srgbClr val="D6E4F0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484632" y="4855464"/>
            <a:ext cx="10241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Vss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1572768" y="4855464"/>
            <a:ext cx="1133856" cy="301752"/>
          </a:xfrm>
          <a:prstGeom prst="rect">
            <a:avLst/>
          </a:prstGeom>
          <a:solidFill>
            <a:srgbClr val="D6E4F0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600200" y="4855464"/>
            <a:ext cx="107899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3A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7.919e-02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2743200" y="4855464"/>
            <a:ext cx="1060704" cy="301752"/>
          </a:xfrm>
          <a:prstGeom prst="rect">
            <a:avLst/>
          </a:prstGeom>
          <a:solidFill>
            <a:srgbClr val="D6E4F0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2770632" y="4855464"/>
            <a:ext cx="1005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3A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mL/g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3840480" y="4855464"/>
            <a:ext cx="475488" cy="301752"/>
          </a:xfrm>
          <a:prstGeom prst="rect">
            <a:avLst/>
          </a:prstGeom>
          <a:solidFill>
            <a:srgbClr val="D6E4F0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3867912" y="4855464"/>
            <a:ext cx="4206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3A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4617720" y="868680"/>
            <a:ext cx="4114800" cy="3941064"/>
          </a:xfrm>
          <a:prstGeom prst="rect">
            <a:avLst/>
          </a:prstGeom>
          <a:solidFill>
            <a:srgbClr val="FFFFFF"/>
          </a:solidFill>
          <a:ln w="12700">
            <a:solidFill>
              <a:srgbClr val="1C3A5E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754880" y="93268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Caractéristiques PK — TAb</a:t>
            </a:r>
            <a:endParaRPr lang="en-US" sz="1200" dirty="0"/>
          </a:p>
        </p:txBody>
      </p:sp>
      <p:sp>
        <p:nvSpPr>
          <p:cNvPr id="84" name="Shape 82"/>
          <p:cNvSpPr/>
          <p:nvPr/>
        </p:nvSpPr>
        <p:spPr>
          <a:xfrm>
            <a:off x="4754880" y="1298448"/>
            <a:ext cx="1828800" cy="1005840"/>
          </a:xfrm>
          <a:prstGeom prst="rect">
            <a:avLst/>
          </a:prstGeom>
          <a:solidFill>
            <a:srgbClr val="F0F4F8"/>
          </a:solidFill>
          <a:ln w="19050">
            <a:solidFill>
              <a:srgbClr val="2E86AB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864608" y="1371600"/>
            <a:ext cx="1627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AIC 2-cpt</a:t>
            </a:r>
            <a:endParaRPr lang="en-US" sz="1000" dirty="0"/>
          </a:p>
        </p:txBody>
      </p:sp>
      <p:sp>
        <p:nvSpPr>
          <p:cNvPr id="86" name="Text 84"/>
          <p:cNvSpPr/>
          <p:nvPr/>
        </p:nvSpPr>
        <p:spPr>
          <a:xfrm>
            <a:off x="4864608" y="1600200"/>
            <a:ext cx="1627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86A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−45.4</a:t>
            </a:r>
            <a:endParaRPr lang="en-US" sz="2200" dirty="0"/>
          </a:p>
        </p:txBody>
      </p:sp>
      <p:sp>
        <p:nvSpPr>
          <p:cNvPr id="87" name="Text 85"/>
          <p:cNvSpPr/>
          <p:nvPr/>
        </p:nvSpPr>
        <p:spPr>
          <a:xfrm>
            <a:off x="4864608" y="1993392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−10.4 (1-cpt) → ΔAIC = 35</a:t>
            </a:r>
            <a:endParaRPr lang="en-US" sz="900" dirty="0"/>
          </a:p>
        </p:txBody>
      </p:sp>
      <p:sp>
        <p:nvSpPr>
          <p:cNvPr id="88" name="Shape 86"/>
          <p:cNvSpPr/>
          <p:nvPr/>
        </p:nvSpPr>
        <p:spPr>
          <a:xfrm>
            <a:off x="6720840" y="1298448"/>
            <a:ext cx="1828800" cy="1005840"/>
          </a:xfrm>
          <a:prstGeom prst="rect">
            <a:avLst/>
          </a:prstGeom>
          <a:solidFill>
            <a:srgbClr val="F0F4F8"/>
          </a:solidFill>
          <a:ln w="19050">
            <a:solidFill>
              <a:srgbClr val="1C3A5E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6830568" y="1371600"/>
            <a:ext cx="1627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t½β moyen</a:t>
            </a:r>
            <a:endParaRPr lang="en-US" sz="1000" dirty="0"/>
          </a:p>
        </p:txBody>
      </p:sp>
      <p:sp>
        <p:nvSpPr>
          <p:cNvPr id="90" name="Text 88"/>
          <p:cNvSpPr/>
          <p:nvPr/>
        </p:nvSpPr>
        <p:spPr>
          <a:xfrm>
            <a:off x="6830568" y="1600200"/>
            <a:ext cx="1627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C3A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~60 h</a:t>
            </a:r>
            <a:endParaRPr lang="en-US" sz="2200" dirty="0"/>
          </a:p>
        </p:txBody>
      </p:sp>
      <p:sp>
        <p:nvSpPr>
          <p:cNvPr id="91" name="Text 89"/>
          <p:cNvSpPr/>
          <p:nvPr/>
        </p:nvSpPr>
        <p:spPr>
          <a:xfrm>
            <a:off x="6830568" y="1993392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Demi-vie terminale (~2.5 jours)</a:t>
            </a:r>
            <a:endParaRPr lang="en-US" sz="900" dirty="0"/>
          </a:p>
        </p:txBody>
      </p:sp>
      <p:sp>
        <p:nvSpPr>
          <p:cNvPr id="92" name="Shape 90"/>
          <p:cNvSpPr/>
          <p:nvPr/>
        </p:nvSpPr>
        <p:spPr>
          <a:xfrm>
            <a:off x="4754880" y="2441448"/>
            <a:ext cx="1828800" cy="1005840"/>
          </a:xfrm>
          <a:prstGeom prst="rect">
            <a:avLst/>
          </a:prstGeom>
          <a:solidFill>
            <a:srgbClr val="F0F4F8"/>
          </a:solidFill>
          <a:ln w="19050">
            <a:solidFill>
              <a:srgbClr val="1A7A4A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4864608" y="2514600"/>
            <a:ext cx="1627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%RSE CL</a:t>
            </a:r>
            <a:endParaRPr lang="en-US" sz="1000" dirty="0"/>
          </a:p>
        </p:txBody>
      </p:sp>
      <p:sp>
        <p:nvSpPr>
          <p:cNvPr id="94" name="Text 92"/>
          <p:cNvSpPr/>
          <p:nvPr/>
        </p:nvSpPr>
        <p:spPr>
          <a:xfrm>
            <a:off x="4864608" y="2743200"/>
            <a:ext cx="1627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7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9.7%</a:t>
            </a:r>
            <a:endParaRPr lang="en-US" sz="2200" dirty="0"/>
          </a:p>
        </p:txBody>
      </p:sp>
      <p:sp>
        <p:nvSpPr>
          <p:cNvPr id="95" name="Text 93"/>
          <p:cNvSpPr/>
          <p:nvPr/>
        </p:nvSpPr>
        <p:spPr>
          <a:xfrm>
            <a:off x="4864608" y="3136392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Excellente précision</a:t>
            </a:r>
            <a:endParaRPr lang="en-US" sz="900" dirty="0"/>
          </a:p>
        </p:txBody>
      </p:sp>
      <p:sp>
        <p:nvSpPr>
          <p:cNvPr id="96" name="Shape 94"/>
          <p:cNvSpPr/>
          <p:nvPr/>
        </p:nvSpPr>
        <p:spPr>
          <a:xfrm>
            <a:off x="6720840" y="2441448"/>
            <a:ext cx="1828800" cy="1005840"/>
          </a:xfrm>
          <a:prstGeom prst="rect">
            <a:avLst/>
          </a:prstGeom>
          <a:solidFill>
            <a:srgbClr val="F0F4F8"/>
          </a:solidFill>
          <a:ln w="19050">
            <a:solidFill>
              <a:srgbClr val="6C757D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6830568" y="2514600"/>
            <a:ext cx="1627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obs</a:t>
            </a:r>
            <a:endParaRPr lang="en-US" sz="1000" dirty="0"/>
          </a:p>
        </p:txBody>
      </p:sp>
      <p:sp>
        <p:nvSpPr>
          <p:cNvPr id="98" name="Text 96"/>
          <p:cNvSpPr/>
          <p:nvPr/>
        </p:nvSpPr>
        <p:spPr>
          <a:xfrm>
            <a:off x="6830568" y="2743200"/>
            <a:ext cx="1627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C757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</a:t>
            </a:r>
            <a:endParaRPr lang="en-US" sz="2200" dirty="0"/>
          </a:p>
        </p:txBody>
      </p:sp>
      <p:sp>
        <p:nvSpPr>
          <p:cNvPr id="99" name="Text 97"/>
          <p:cNvSpPr/>
          <p:nvPr/>
        </p:nvSpPr>
        <p:spPr>
          <a:xfrm>
            <a:off x="6830568" y="3136392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animaux × 4 doses</a:t>
            </a:r>
            <a:endParaRPr lang="en-US" sz="900" dirty="0"/>
          </a:p>
        </p:txBody>
      </p:sp>
      <p:sp>
        <p:nvSpPr>
          <p:cNvPr id="100" name="Text 98"/>
          <p:cNvSpPr/>
          <p:nvPr/>
        </p:nvSpPr>
        <p:spPr>
          <a:xfrm>
            <a:off x="4754880" y="3630168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Interprétation :</a:t>
            </a:r>
            <a:endParaRPr lang="en-US" sz="1100" dirty="0"/>
          </a:p>
        </p:txBody>
      </p:sp>
      <p:sp>
        <p:nvSpPr>
          <p:cNvPr id="101" name="Text 99"/>
          <p:cNvSpPr/>
          <p:nvPr/>
        </p:nvSpPr>
        <p:spPr>
          <a:xfrm>
            <a:off x="4754880" y="3858768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CL faible → profil anticorps typique (catabolisme lent)</a:t>
            </a:r>
            <a:endParaRPr lang="en-US" sz="1000" dirty="0"/>
          </a:p>
        </p:txBody>
      </p:sp>
      <p:sp>
        <p:nvSpPr>
          <p:cNvPr id="102" name="Text 100"/>
          <p:cNvSpPr/>
          <p:nvPr/>
        </p:nvSpPr>
        <p:spPr>
          <a:xfrm>
            <a:off x="4754880" y="4151376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V1 ≈ volume plasmatique souris — distribution limitée</a:t>
            </a:r>
            <a:endParaRPr lang="en-US" sz="1000" dirty="0"/>
          </a:p>
        </p:txBody>
      </p:sp>
      <p:sp>
        <p:nvSpPr>
          <p:cNvPr id="103" name="Text 101"/>
          <p:cNvSpPr/>
          <p:nvPr/>
        </p:nvSpPr>
        <p:spPr>
          <a:xfrm>
            <a:off x="4754880" y="4443984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Q/%RSE élevé → distribution 2e cpt peu contrainte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C348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17920" y="-914400"/>
            <a:ext cx="4114800" cy="4114800"/>
          </a:xfrm>
          <a:prstGeom prst="ellipse">
            <a:avLst/>
          </a:prstGeom>
          <a:solidFill>
            <a:srgbClr val="D7BDE2">
              <a:alpha val="25000"/>
            </a:srgbClr>
          </a:solidFill>
          <a:ln w="12700">
            <a:solidFill>
              <a:srgbClr val="D7BDE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1371600"/>
            <a:ext cx="5486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D7BD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7315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ADC</a:t>
            </a:r>
            <a:endParaRPr lang="en-US" sz="4200" dirty="0"/>
          </a:p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(Payload conjugué)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548640" y="30632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7BD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  ·  Modèle  ·  Paramètres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321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3A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Données PK — ADC (Payload conjugué)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896112"/>
            <a:ext cx="4023360" cy="3017520"/>
          </a:xfrm>
          <a:prstGeom prst="rect">
            <a:avLst/>
          </a:prstGeom>
          <a:solidFill>
            <a:srgbClr val="FFFFFF"/>
          </a:solidFill>
          <a:ln w="19050">
            <a:solidFill>
              <a:srgbClr val="6C348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969264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expérimental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335024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🐭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96112" y="1371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Espèce :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029968" y="137160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Souris — IV bolus dose unique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1764792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💉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96112" y="1801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Doses :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029968" y="1801368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10 / 20 / 30 mg/kg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219456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👥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96112" y="22311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Animaux :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029968" y="2231136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(mêmes animaux que TAb)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02920" y="2624328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96112" y="266090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obs :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029968" y="2660904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 points de concentration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" y="3054096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96112" y="309067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: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029968" y="309067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Jusqu'à 504h (~21 jours)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02920" y="3483864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🧪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96112" y="352044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Analyte :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029968" y="35204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Payload conjugué (ADC) — LC-MS/MS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663440" y="896112"/>
            <a:ext cx="4069080" cy="3017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C3A5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00600" y="969264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Paramètres NCA individuels (Cmax)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846320" y="1316736"/>
            <a:ext cx="731520" cy="256032"/>
          </a:xfrm>
          <a:prstGeom prst="rect">
            <a:avLst/>
          </a:prstGeom>
          <a:solidFill>
            <a:srgbClr val="1C3A5E"/>
          </a:solidFill>
          <a:ln w="12700">
            <a:solidFill>
              <a:srgbClr val="1C3A5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73752" y="1316736"/>
            <a:ext cx="67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Animal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623560" y="1316736"/>
            <a:ext cx="914400" cy="256032"/>
          </a:xfrm>
          <a:prstGeom prst="rect">
            <a:avLst/>
          </a:prstGeom>
          <a:solidFill>
            <a:srgbClr val="1C3A5E"/>
          </a:solidFill>
          <a:ln w="12700">
            <a:solidFill>
              <a:srgbClr val="1C3A5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650992" y="1316736"/>
            <a:ext cx="8595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583680" y="1316736"/>
            <a:ext cx="1143000" cy="256032"/>
          </a:xfrm>
          <a:prstGeom prst="rect">
            <a:avLst/>
          </a:prstGeom>
          <a:solidFill>
            <a:srgbClr val="1C3A5E"/>
          </a:solidFill>
          <a:ln w="12700">
            <a:solidFill>
              <a:srgbClr val="1C3A5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611112" y="1316736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Cmax (µg/mL)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7772400" y="1316736"/>
            <a:ext cx="914400" cy="256032"/>
          </a:xfrm>
          <a:prstGeom prst="rect">
            <a:avLst/>
          </a:prstGeom>
          <a:solidFill>
            <a:srgbClr val="1C3A5E"/>
          </a:solidFill>
          <a:ln w="12700">
            <a:solidFill>
              <a:srgbClr val="1C3A5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799832" y="1316736"/>
            <a:ext cx="8595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t½ (h)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846320" y="1600200"/>
            <a:ext cx="731520" cy="246888"/>
          </a:xfrm>
          <a:prstGeom prst="rect">
            <a:avLst/>
          </a:prstGeom>
          <a:solidFill>
            <a:srgbClr val="D6E4F0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73752" y="1600200"/>
            <a:ext cx="6766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623560" y="1600200"/>
            <a:ext cx="914400" cy="246888"/>
          </a:xfrm>
          <a:prstGeom prst="rect">
            <a:avLst/>
          </a:prstGeom>
          <a:solidFill>
            <a:srgbClr val="D6E4F0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650992" y="1600200"/>
            <a:ext cx="859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6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mg/kg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583680" y="1600200"/>
            <a:ext cx="1143000" cy="246888"/>
          </a:xfrm>
          <a:prstGeom prst="rect">
            <a:avLst/>
          </a:prstGeom>
          <a:solidFill>
            <a:srgbClr val="D6E4F0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611112" y="1600200"/>
            <a:ext cx="10881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69.8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772400" y="1600200"/>
            <a:ext cx="914400" cy="246888"/>
          </a:xfrm>
          <a:prstGeom prst="rect">
            <a:avLst/>
          </a:prstGeom>
          <a:solidFill>
            <a:srgbClr val="D6E4F0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799832" y="1600200"/>
            <a:ext cx="859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57.6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846320" y="1874520"/>
            <a:ext cx="731520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73752" y="1874520"/>
            <a:ext cx="6766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1002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623560" y="1874520"/>
            <a:ext cx="914400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650992" y="1874520"/>
            <a:ext cx="859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6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mg/kg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6583680" y="1874520"/>
            <a:ext cx="1143000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611112" y="1874520"/>
            <a:ext cx="10881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73.2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7772400" y="1874520"/>
            <a:ext cx="914400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799832" y="1874520"/>
            <a:ext cx="859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54.5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846320" y="2148840"/>
            <a:ext cx="731520" cy="246888"/>
          </a:xfrm>
          <a:prstGeom prst="rect">
            <a:avLst/>
          </a:prstGeom>
          <a:solidFill>
            <a:srgbClr val="D6E4F0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873752" y="2148840"/>
            <a:ext cx="6766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5623560" y="2148840"/>
            <a:ext cx="914400" cy="246888"/>
          </a:xfrm>
          <a:prstGeom prst="rect">
            <a:avLst/>
          </a:prstGeom>
          <a:solidFill>
            <a:srgbClr val="D6E4F0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650992" y="2148840"/>
            <a:ext cx="859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FA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mg/kg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6583680" y="2148840"/>
            <a:ext cx="1143000" cy="246888"/>
          </a:xfrm>
          <a:prstGeom prst="rect">
            <a:avLst/>
          </a:prstGeom>
          <a:solidFill>
            <a:srgbClr val="D6E4F0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611112" y="2148840"/>
            <a:ext cx="10881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236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7772400" y="2148840"/>
            <a:ext cx="914400" cy="246888"/>
          </a:xfrm>
          <a:prstGeom prst="rect">
            <a:avLst/>
          </a:prstGeom>
          <a:solidFill>
            <a:srgbClr val="D6E4F0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99832" y="2148840"/>
            <a:ext cx="859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36.3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846320" y="2423160"/>
            <a:ext cx="731520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873752" y="2423160"/>
            <a:ext cx="6766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2002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623560" y="2423160"/>
            <a:ext cx="914400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650992" y="2423160"/>
            <a:ext cx="859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FA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mg/kg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6583680" y="2423160"/>
            <a:ext cx="1143000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611112" y="2423160"/>
            <a:ext cx="10881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266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7772400" y="2423160"/>
            <a:ext cx="914400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799832" y="2423160"/>
            <a:ext cx="859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53.2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846320" y="2697480"/>
            <a:ext cx="731520" cy="246888"/>
          </a:xfrm>
          <a:prstGeom prst="rect">
            <a:avLst/>
          </a:prstGeom>
          <a:solidFill>
            <a:srgbClr val="D6E4F0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873752" y="2697480"/>
            <a:ext cx="6766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3002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5623560" y="2697480"/>
            <a:ext cx="914400" cy="246888"/>
          </a:xfrm>
          <a:prstGeom prst="rect">
            <a:avLst/>
          </a:prstGeom>
          <a:solidFill>
            <a:srgbClr val="D6E4F0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650992" y="2697480"/>
            <a:ext cx="859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BAC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mg/kg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6583680" y="2697480"/>
            <a:ext cx="1143000" cy="246888"/>
          </a:xfrm>
          <a:prstGeom prst="rect">
            <a:avLst/>
          </a:prstGeom>
          <a:solidFill>
            <a:srgbClr val="D6E4F0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611112" y="2697480"/>
            <a:ext cx="10881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717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7772400" y="2697480"/>
            <a:ext cx="914400" cy="246888"/>
          </a:xfrm>
          <a:prstGeom prst="rect">
            <a:avLst/>
          </a:prstGeom>
          <a:solidFill>
            <a:srgbClr val="D6E4F0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7799832" y="2697480"/>
            <a:ext cx="859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31.2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4846320" y="2971800"/>
            <a:ext cx="731520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873752" y="2971800"/>
            <a:ext cx="6766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5623560" y="2971800"/>
            <a:ext cx="914400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5650992" y="2971800"/>
            <a:ext cx="859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BAC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mg/kg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583680" y="2971800"/>
            <a:ext cx="1143000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611112" y="2971800"/>
            <a:ext cx="10881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735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772400" y="2971800"/>
            <a:ext cx="914400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799832" y="2971800"/>
            <a:ext cx="859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50.4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4846320" y="3246120"/>
            <a:ext cx="731520" cy="246888"/>
          </a:xfrm>
          <a:prstGeom prst="rect">
            <a:avLst/>
          </a:prstGeom>
          <a:solidFill>
            <a:srgbClr val="D6E4F0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4873752" y="3246120"/>
            <a:ext cx="6766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5623560" y="3246120"/>
            <a:ext cx="914400" cy="246888"/>
          </a:xfrm>
          <a:prstGeom prst="rect">
            <a:avLst/>
          </a:prstGeom>
          <a:solidFill>
            <a:srgbClr val="D6E4F0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5650992" y="3246120"/>
            <a:ext cx="859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E44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mg/kg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6583680" y="3246120"/>
            <a:ext cx="1143000" cy="246888"/>
          </a:xfrm>
          <a:prstGeom prst="rect">
            <a:avLst/>
          </a:prstGeom>
          <a:solidFill>
            <a:srgbClr val="D6E4F0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611112" y="3246120"/>
            <a:ext cx="10881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513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772400" y="3246120"/>
            <a:ext cx="914400" cy="246888"/>
          </a:xfrm>
          <a:prstGeom prst="rect">
            <a:avLst/>
          </a:prstGeom>
          <a:solidFill>
            <a:srgbClr val="D6E4F0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7799832" y="3246120"/>
            <a:ext cx="859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46.3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4846320" y="3520440"/>
            <a:ext cx="731520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4873752" y="3520440"/>
            <a:ext cx="6766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4002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5623560" y="3520440"/>
            <a:ext cx="914400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650992" y="3520440"/>
            <a:ext cx="859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E44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mg/kg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6583680" y="3520440"/>
            <a:ext cx="1143000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6611112" y="3520440"/>
            <a:ext cx="10881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393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7772400" y="3520440"/>
            <a:ext cx="914400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799832" y="3520440"/>
            <a:ext cx="859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365760" y="4041648"/>
            <a:ext cx="8366760" cy="777240"/>
          </a:xfrm>
          <a:prstGeom prst="rect">
            <a:avLst/>
          </a:prstGeom>
          <a:solidFill>
            <a:srgbClr val="D7BDE2">
              <a:alpha val="40000"/>
            </a:srgbClr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548640" y="4114800"/>
            <a:ext cx="8138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Observations : Cmax similaires TAb vs ADC (conjugaison conserve la distribution)  ·  t½ ADC légèrement plus courte (CL ADC &gt; CL TAb → élimination plus rapide du payload)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C3A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Modèle &amp; Paramètres — ADC (Payload conjugué)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68680"/>
            <a:ext cx="4023360" cy="1188720"/>
          </a:xfrm>
          <a:prstGeom prst="rect">
            <a:avLst/>
          </a:prstGeom>
          <a:solidFill>
            <a:srgbClr val="FFFFFF"/>
          </a:solidFill>
          <a:ln w="19050">
            <a:solidFill>
              <a:srgbClr val="6C348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93268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Sélection du modèle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1252728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240280" y="125272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AIC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200400" y="125272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BIC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02920" y="1508760"/>
            <a:ext cx="3639312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0352" y="1508760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compartiment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240280" y="150876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5.6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200400" y="150876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9.9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" y="1810512"/>
            <a:ext cx="3639312" cy="256032"/>
          </a:xfrm>
          <a:prstGeom prst="rect">
            <a:avLst/>
          </a:prstGeom>
          <a:solidFill>
            <a:srgbClr val="6C3483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0352" y="1810512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compartiments ✓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2240280" y="1810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−37.4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200400" y="1810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−28.8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65760" y="2176272"/>
            <a:ext cx="4023360" cy="2633472"/>
          </a:xfrm>
          <a:prstGeom prst="rect">
            <a:avLst/>
          </a:prstGeom>
          <a:solidFill>
            <a:srgbClr val="FFFFFF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223113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Paramètres estimés — modèle 2-cpt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2551176"/>
            <a:ext cx="1078992" cy="246888"/>
          </a:xfrm>
          <a:prstGeom prst="rect">
            <a:avLst/>
          </a:prstGeom>
          <a:solidFill>
            <a:srgbClr val="1C3A5E"/>
          </a:solidFill>
          <a:ln w="12700">
            <a:solidFill>
              <a:srgbClr val="1C3A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4632" y="2551176"/>
            <a:ext cx="102412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Paramètre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1572768" y="2551176"/>
            <a:ext cx="1133856" cy="246888"/>
          </a:xfrm>
          <a:prstGeom prst="rect">
            <a:avLst/>
          </a:prstGeom>
          <a:solidFill>
            <a:srgbClr val="1C3A5E"/>
          </a:solidFill>
          <a:ln w="12700">
            <a:solidFill>
              <a:srgbClr val="1C3A5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600200" y="2551176"/>
            <a:ext cx="10789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743200" y="2551176"/>
            <a:ext cx="1060704" cy="246888"/>
          </a:xfrm>
          <a:prstGeom prst="rect">
            <a:avLst/>
          </a:prstGeom>
          <a:solidFill>
            <a:srgbClr val="1C3A5E"/>
          </a:solidFill>
          <a:ln w="12700">
            <a:solidFill>
              <a:srgbClr val="1C3A5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70632" y="2551176"/>
            <a:ext cx="1005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Unité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840480" y="2551176"/>
            <a:ext cx="475488" cy="246888"/>
          </a:xfrm>
          <a:prstGeom prst="rect">
            <a:avLst/>
          </a:prstGeom>
          <a:solidFill>
            <a:srgbClr val="1C3A5E"/>
          </a:solidFill>
          <a:ln w="12700">
            <a:solidFill>
              <a:srgbClr val="1C3A5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867912" y="2551176"/>
            <a:ext cx="4206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%RSE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57200" y="2825496"/>
            <a:ext cx="1078992" cy="301752"/>
          </a:xfrm>
          <a:prstGeom prst="rect">
            <a:avLst/>
          </a:prstGeom>
          <a:solidFill>
            <a:srgbClr val="D6E4F0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4632" y="2825496"/>
            <a:ext cx="10241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1572768" y="2825496"/>
            <a:ext cx="1133856" cy="301752"/>
          </a:xfrm>
          <a:prstGeom prst="rect">
            <a:avLst/>
          </a:prstGeom>
          <a:solidFill>
            <a:srgbClr val="D6E4F0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600200" y="2825496"/>
            <a:ext cx="107899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3A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1.435e-03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743200" y="2825496"/>
            <a:ext cx="1060704" cy="301752"/>
          </a:xfrm>
          <a:prstGeom prst="rect">
            <a:avLst/>
          </a:prstGeom>
          <a:solidFill>
            <a:srgbClr val="D6E4F0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770632" y="2825496"/>
            <a:ext cx="1005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3A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mL/h/g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840480" y="2825496"/>
            <a:ext cx="475488" cy="301752"/>
          </a:xfrm>
          <a:prstGeom prst="rect">
            <a:avLst/>
          </a:prstGeom>
          <a:solidFill>
            <a:srgbClr val="D6E4F0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867912" y="2825496"/>
            <a:ext cx="4206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3A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10.0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57200" y="3163824"/>
            <a:ext cx="1078992" cy="301752"/>
          </a:xfrm>
          <a:prstGeom prst="rect">
            <a:avLst/>
          </a:prstGeom>
          <a:solidFill>
            <a:srgbClr val="FFFFFF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4632" y="3163824"/>
            <a:ext cx="10241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1572768" y="3163824"/>
            <a:ext cx="1133856" cy="301752"/>
          </a:xfrm>
          <a:prstGeom prst="rect">
            <a:avLst/>
          </a:prstGeom>
          <a:solidFill>
            <a:srgbClr val="FFFFFF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600200" y="3163824"/>
            <a:ext cx="107899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3A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4.501e-02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2743200" y="3163824"/>
            <a:ext cx="1060704" cy="301752"/>
          </a:xfrm>
          <a:prstGeom prst="rect">
            <a:avLst/>
          </a:prstGeom>
          <a:solidFill>
            <a:srgbClr val="FFFFFF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770632" y="3163824"/>
            <a:ext cx="1005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3A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mL/g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3840480" y="3163824"/>
            <a:ext cx="475488" cy="301752"/>
          </a:xfrm>
          <a:prstGeom prst="rect">
            <a:avLst/>
          </a:prstGeom>
          <a:solidFill>
            <a:srgbClr val="FFFFFF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867912" y="3163824"/>
            <a:ext cx="4206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3A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18.9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57200" y="3502152"/>
            <a:ext cx="1078992" cy="301752"/>
          </a:xfrm>
          <a:prstGeom prst="rect">
            <a:avLst/>
          </a:prstGeom>
          <a:solidFill>
            <a:srgbClr val="D6E4F0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4632" y="3502152"/>
            <a:ext cx="10241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1572768" y="3502152"/>
            <a:ext cx="1133856" cy="301752"/>
          </a:xfrm>
          <a:prstGeom prst="rect">
            <a:avLst/>
          </a:prstGeom>
          <a:solidFill>
            <a:srgbClr val="D6E4F0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600200" y="3502152"/>
            <a:ext cx="107899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3A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2.620e-02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2743200" y="3502152"/>
            <a:ext cx="1060704" cy="301752"/>
          </a:xfrm>
          <a:prstGeom prst="rect">
            <a:avLst/>
          </a:prstGeom>
          <a:solidFill>
            <a:srgbClr val="D6E4F0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770632" y="3502152"/>
            <a:ext cx="1005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3A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mL/g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3840480" y="3502152"/>
            <a:ext cx="475488" cy="301752"/>
          </a:xfrm>
          <a:prstGeom prst="rect">
            <a:avLst/>
          </a:prstGeom>
          <a:solidFill>
            <a:srgbClr val="D6E4F0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867912" y="3502152"/>
            <a:ext cx="4206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3A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39.1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457200" y="3840480"/>
            <a:ext cx="1078992" cy="301752"/>
          </a:xfrm>
          <a:prstGeom prst="rect">
            <a:avLst/>
          </a:prstGeom>
          <a:solidFill>
            <a:srgbClr val="FFFFFF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4632" y="3840480"/>
            <a:ext cx="10241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1572768" y="3840480"/>
            <a:ext cx="1133856" cy="301752"/>
          </a:xfrm>
          <a:prstGeom prst="rect">
            <a:avLst/>
          </a:prstGeom>
          <a:solidFill>
            <a:srgbClr val="FFFFFF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600200" y="3840480"/>
            <a:ext cx="107899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3A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4.530e-04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2743200" y="3840480"/>
            <a:ext cx="1060704" cy="301752"/>
          </a:xfrm>
          <a:prstGeom prst="rect">
            <a:avLst/>
          </a:prstGeom>
          <a:solidFill>
            <a:srgbClr val="FFFFFF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770632" y="3840480"/>
            <a:ext cx="1005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3A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mL/h/g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3840480" y="3840480"/>
            <a:ext cx="475488" cy="301752"/>
          </a:xfrm>
          <a:prstGeom prst="rect">
            <a:avLst/>
          </a:prstGeom>
          <a:solidFill>
            <a:srgbClr val="FFFFFF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867912" y="3840480"/>
            <a:ext cx="4206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3A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68.9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457200" y="4178808"/>
            <a:ext cx="1078992" cy="301752"/>
          </a:xfrm>
          <a:prstGeom prst="rect">
            <a:avLst/>
          </a:prstGeom>
          <a:solidFill>
            <a:srgbClr val="D6E4F0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84632" y="4178808"/>
            <a:ext cx="10241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t½α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1572768" y="4178808"/>
            <a:ext cx="1133856" cy="301752"/>
          </a:xfrm>
          <a:prstGeom prst="rect">
            <a:avLst/>
          </a:prstGeom>
          <a:solidFill>
            <a:srgbClr val="D6E4F0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600200" y="4178808"/>
            <a:ext cx="107899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3A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14.5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2743200" y="4178808"/>
            <a:ext cx="1060704" cy="301752"/>
          </a:xfrm>
          <a:prstGeom prst="rect">
            <a:avLst/>
          </a:prstGeom>
          <a:solidFill>
            <a:srgbClr val="D6E4F0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2770632" y="4178808"/>
            <a:ext cx="1005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3A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3840480" y="4178808"/>
            <a:ext cx="475488" cy="301752"/>
          </a:xfrm>
          <a:prstGeom prst="rect">
            <a:avLst/>
          </a:prstGeom>
          <a:solidFill>
            <a:srgbClr val="D6E4F0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3867912" y="4178808"/>
            <a:ext cx="4206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3A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457200" y="4517136"/>
            <a:ext cx="1078992" cy="301752"/>
          </a:xfrm>
          <a:prstGeom prst="rect">
            <a:avLst/>
          </a:prstGeom>
          <a:solidFill>
            <a:srgbClr val="FFFFFF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484632" y="4517136"/>
            <a:ext cx="10241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t½β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1572768" y="4517136"/>
            <a:ext cx="1133856" cy="301752"/>
          </a:xfrm>
          <a:prstGeom prst="rect">
            <a:avLst/>
          </a:prstGeom>
          <a:solidFill>
            <a:srgbClr val="FFFFFF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600200" y="4517136"/>
            <a:ext cx="107899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3A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59.9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2743200" y="4517136"/>
            <a:ext cx="1060704" cy="301752"/>
          </a:xfrm>
          <a:prstGeom prst="rect">
            <a:avLst/>
          </a:prstGeom>
          <a:solidFill>
            <a:srgbClr val="FFFFFF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2770632" y="4517136"/>
            <a:ext cx="1005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3A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3840480" y="4517136"/>
            <a:ext cx="475488" cy="301752"/>
          </a:xfrm>
          <a:prstGeom prst="rect">
            <a:avLst/>
          </a:prstGeom>
          <a:solidFill>
            <a:srgbClr val="FFFFFF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3867912" y="4517136"/>
            <a:ext cx="4206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3A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457200" y="4855464"/>
            <a:ext cx="1078992" cy="301752"/>
          </a:xfrm>
          <a:prstGeom prst="rect">
            <a:avLst/>
          </a:prstGeom>
          <a:solidFill>
            <a:srgbClr val="D6E4F0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484632" y="4855464"/>
            <a:ext cx="10241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Vss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1572768" y="4855464"/>
            <a:ext cx="1133856" cy="301752"/>
          </a:xfrm>
          <a:prstGeom prst="rect">
            <a:avLst/>
          </a:prstGeom>
          <a:solidFill>
            <a:srgbClr val="D6E4F0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600200" y="4855464"/>
            <a:ext cx="107899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3A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7.121e-02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2743200" y="4855464"/>
            <a:ext cx="1060704" cy="301752"/>
          </a:xfrm>
          <a:prstGeom prst="rect">
            <a:avLst/>
          </a:prstGeom>
          <a:solidFill>
            <a:srgbClr val="D6E4F0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2770632" y="4855464"/>
            <a:ext cx="1005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3A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mL/g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3840480" y="4855464"/>
            <a:ext cx="475488" cy="301752"/>
          </a:xfrm>
          <a:prstGeom prst="rect">
            <a:avLst/>
          </a:prstGeom>
          <a:solidFill>
            <a:srgbClr val="D6E4F0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3867912" y="4855464"/>
            <a:ext cx="4206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3A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4617720" y="868680"/>
            <a:ext cx="4114800" cy="3941064"/>
          </a:xfrm>
          <a:prstGeom prst="rect">
            <a:avLst/>
          </a:prstGeom>
          <a:solidFill>
            <a:srgbClr val="FFFFFF"/>
          </a:solidFill>
          <a:ln w="12700">
            <a:solidFill>
              <a:srgbClr val="1C3A5E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754880" y="93268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Caractéristiques PK — ADC</a:t>
            </a:r>
            <a:endParaRPr lang="en-US" sz="1200" dirty="0"/>
          </a:p>
        </p:txBody>
      </p:sp>
      <p:sp>
        <p:nvSpPr>
          <p:cNvPr id="84" name="Shape 82"/>
          <p:cNvSpPr/>
          <p:nvPr/>
        </p:nvSpPr>
        <p:spPr>
          <a:xfrm>
            <a:off x="4754880" y="1298448"/>
            <a:ext cx="1828800" cy="1005840"/>
          </a:xfrm>
          <a:prstGeom prst="rect">
            <a:avLst/>
          </a:prstGeom>
          <a:solidFill>
            <a:srgbClr val="F0F4F8"/>
          </a:solidFill>
          <a:ln w="19050">
            <a:solidFill>
              <a:srgbClr val="6C3483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864608" y="1371600"/>
            <a:ext cx="1627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AIC 2-cpt</a:t>
            </a:r>
            <a:endParaRPr lang="en-US" sz="1000" dirty="0"/>
          </a:p>
        </p:txBody>
      </p:sp>
      <p:sp>
        <p:nvSpPr>
          <p:cNvPr id="86" name="Text 84"/>
          <p:cNvSpPr/>
          <p:nvPr/>
        </p:nvSpPr>
        <p:spPr>
          <a:xfrm>
            <a:off x="4864608" y="1600200"/>
            <a:ext cx="1627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C348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−37.4</a:t>
            </a:r>
            <a:endParaRPr lang="en-US" sz="2200" dirty="0"/>
          </a:p>
        </p:txBody>
      </p:sp>
      <p:sp>
        <p:nvSpPr>
          <p:cNvPr id="87" name="Text 85"/>
          <p:cNvSpPr/>
          <p:nvPr/>
        </p:nvSpPr>
        <p:spPr>
          <a:xfrm>
            <a:off x="4864608" y="1993392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+5.6 (1-cpt) → ΔAIC = 43</a:t>
            </a:r>
            <a:endParaRPr lang="en-US" sz="900" dirty="0"/>
          </a:p>
        </p:txBody>
      </p:sp>
      <p:sp>
        <p:nvSpPr>
          <p:cNvPr id="88" name="Shape 86"/>
          <p:cNvSpPr/>
          <p:nvPr/>
        </p:nvSpPr>
        <p:spPr>
          <a:xfrm>
            <a:off x="6720840" y="1298448"/>
            <a:ext cx="1828800" cy="1005840"/>
          </a:xfrm>
          <a:prstGeom prst="rect">
            <a:avLst/>
          </a:prstGeom>
          <a:solidFill>
            <a:srgbClr val="F0F4F8"/>
          </a:solidFill>
          <a:ln w="19050">
            <a:solidFill>
              <a:srgbClr val="1C3A5E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6830568" y="1371600"/>
            <a:ext cx="1627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t½β moyen</a:t>
            </a:r>
            <a:endParaRPr lang="en-US" sz="1000" dirty="0"/>
          </a:p>
        </p:txBody>
      </p:sp>
      <p:sp>
        <p:nvSpPr>
          <p:cNvPr id="90" name="Text 88"/>
          <p:cNvSpPr/>
          <p:nvPr/>
        </p:nvSpPr>
        <p:spPr>
          <a:xfrm>
            <a:off x="6830568" y="1600200"/>
            <a:ext cx="1627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C3A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~60 h</a:t>
            </a:r>
            <a:endParaRPr lang="en-US" sz="2200" dirty="0"/>
          </a:p>
        </p:txBody>
      </p:sp>
      <p:sp>
        <p:nvSpPr>
          <p:cNvPr id="91" name="Text 89"/>
          <p:cNvSpPr/>
          <p:nvPr/>
        </p:nvSpPr>
        <p:spPr>
          <a:xfrm>
            <a:off x="6830568" y="1993392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Similaire au TAb (~2.5 jours)</a:t>
            </a:r>
            <a:endParaRPr lang="en-US" sz="900" dirty="0"/>
          </a:p>
        </p:txBody>
      </p:sp>
      <p:sp>
        <p:nvSpPr>
          <p:cNvPr id="92" name="Shape 90"/>
          <p:cNvSpPr/>
          <p:nvPr/>
        </p:nvSpPr>
        <p:spPr>
          <a:xfrm>
            <a:off x="4754880" y="2441448"/>
            <a:ext cx="1828800" cy="1005840"/>
          </a:xfrm>
          <a:prstGeom prst="rect">
            <a:avLst/>
          </a:prstGeom>
          <a:solidFill>
            <a:srgbClr val="F0F4F8"/>
          </a:solidFill>
          <a:ln w="19050">
            <a:solidFill>
              <a:srgbClr val="1A7A4A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4864608" y="2514600"/>
            <a:ext cx="1627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%RSE CL</a:t>
            </a:r>
            <a:endParaRPr lang="en-US" sz="1000" dirty="0"/>
          </a:p>
        </p:txBody>
      </p:sp>
      <p:sp>
        <p:nvSpPr>
          <p:cNvPr id="94" name="Text 92"/>
          <p:cNvSpPr/>
          <p:nvPr/>
        </p:nvSpPr>
        <p:spPr>
          <a:xfrm>
            <a:off x="4864608" y="2743200"/>
            <a:ext cx="1627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7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10.0%</a:t>
            </a:r>
            <a:endParaRPr lang="en-US" sz="2200" dirty="0"/>
          </a:p>
        </p:txBody>
      </p:sp>
      <p:sp>
        <p:nvSpPr>
          <p:cNvPr id="95" name="Text 93"/>
          <p:cNvSpPr/>
          <p:nvPr/>
        </p:nvSpPr>
        <p:spPr>
          <a:xfrm>
            <a:off x="4864608" y="3136392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Excellente précision</a:t>
            </a:r>
            <a:endParaRPr lang="en-US" sz="900" dirty="0"/>
          </a:p>
        </p:txBody>
      </p:sp>
      <p:sp>
        <p:nvSpPr>
          <p:cNvPr id="96" name="Shape 94"/>
          <p:cNvSpPr/>
          <p:nvPr/>
        </p:nvSpPr>
        <p:spPr>
          <a:xfrm>
            <a:off x="6720840" y="2441448"/>
            <a:ext cx="1828800" cy="1005840"/>
          </a:xfrm>
          <a:prstGeom prst="rect">
            <a:avLst/>
          </a:prstGeom>
          <a:solidFill>
            <a:srgbClr val="F0F4F8"/>
          </a:solidFill>
          <a:ln w="19050">
            <a:solidFill>
              <a:srgbClr val="6C757D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6830568" y="2514600"/>
            <a:ext cx="1627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obs</a:t>
            </a:r>
            <a:endParaRPr lang="en-US" sz="1000" dirty="0"/>
          </a:p>
        </p:txBody>
      </p:sp>
      <p:sp>
        <p:nvSpPr>
          <p:cNvPr id="98" name="Text 96"/>
          <p:cNvSpPr/>
          <p:nvPr/>
        </p:nvSpPr>
        <p:spPr>
          <a:xfrm>
            <a:off x="6830568" y="2743200"/>
            <a:ext cx="1627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C757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63</a:t>
            </a:r>
            <a:endParaRPr lang="en-US" sz="2200" dirty="0"/>
          </a:p>
        </p:txBody>
      </p:sp>
      <p:sp>
        <p:nvSpPr>
          <p:cNvPr id="99" name="Text 97"/>
          <p:cNvSpPr/>
          <p:nvPr/>
        </p:nvSpPr>
        <p:spPr>
          <a:xfrm>
            <a:off x="6830568" y="3136392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animaux × 4 doses</a:t>
            </a:r>
            <a:endParaRPr lang="en-US" sz="900" dirty="0"/>
          </a:p>
        </p:txBody>
      </p:sp>
      <p:sp>
        <p:nvSpPr>
          <p:cNvPr id="100" name="Text 98"/>
          <p:cNvSpPr/>
          <p:nvPr/>
        </p:nvSpPr>
        <p:spPr>
          <a:xfrm>
            <a:off x="4754880" y="3630168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Interprétation :</a:t>
            </a:r>
            <a:endParaRPr lang="en-US" sz="1100" dirty="0"/>
          </a:p>
        </p:txBody>
      </p:sp>
      <p:sp>
        <p:nvSpPr>
          <p:cNvPr id="101" name="Text 99"/>
          <p:cNvSpPr/>
          <p:nvPr/>
        </p:nvSpPr>
        <p:spPr>
          <a:xfrm>
            <a:off x="4754880" y="3858768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CL ADC &gt; CL TAb (+14%) → légère accélération élimination payload</a:t>
            </a:r>
            <a:endParaRPr lang="en-US" sz="1000" dirty="0"/>
          </a:p>
        </p:txBody>
      </p:sp>
      <p:sp>
        <p:nvSpPr>
          <p:cNvPr id="102" name="Text 100"/>
          <p:cNvSpPr/>
          <p:nvPr/>
        </p:nvSpPr>
        <p:spPr>
          <a:xfrm>
            <a:off x="4754880" y="4151376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V1 identique TAb → même distribution initiale attendue</a:t>
            </a:r>
            <a:endParaRPr lang="en-US" sz="1000" dirty="0"/>
          </a:p>
        </p:txBody>
      </p:sp>
      <p:sp>
        <p:nvSpPr>
          <p:cNvPr id="103" name="Text 101"/>
          <p:cNvSpPr/>
          <p:nvPr/>
        </p:nvSpPr>
        <p:spPr>
          <a:xfrm>
            <a:off x="4754880" y="4443984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V2 ADC &lt; V2 TAb → distribution périphérique plus limitée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3A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Comparaison TAb vs ADC — Paramètres PK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868680"/>
            <a:ext cx="836676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941832"/>
            <a:ext cx="914400" cy="274320"/>
          </a:xfrm>
          <a:prstGeom prst="rect">
            <a:avLst/>
          </a:prstGeom>
          <a:solidFill>
            <a:srgbClr val="1C3A5E"/>
          </a:solidFill>
          <a:ln w="12700">
            <a:solidFill>
              <a:srgbClr val="1C3A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93776" y="94183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Paramètre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417320" y="941832"/>
            <a:ext cx="1051560" cy="274320"/>
          </a:xfrm>
          <a:prstGeom prst="rect">
            <a:avLst/>
          </a:prstGeom>
          <a:solidFill>
            <a:srgbClr val="1C3A5E"/>
          </a:solidFill>
          <a:ln w="12700">
            <a:solidFill>
              <a:srgbClr val="1C3A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453896" y="941832"/>
            <a:ext cx="978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Unité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14600" y="941832"/>
            <a:ext cx="1508760" cy="274320"/>
          </a:xfrm>
          <a:prstGeom prst="rect">
            <a:avLst/>
          </a:prstGeom>
          <a:solidFill>
            <a:srgbClr val="1C3A5E"/>
          </a:solidFill>
          <a:ln w="12700">
            <a:solidFill>
              <a:srgbClr val="1C3A5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51176" y="941832"/>
            <a:ext cx="1435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 (16:05)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069080" y="941832"/>
            <a:ext cx="1463040" cy="274320"/>
          </a:xfrm>
          <a:prstGeom prst="rect">
            <a:avLst/>
          </a:prstGeom>
          <a:solidFill>
            <a:srgbClr val="1C3A5E"/>
          </a:solidFill>
          <a:ln w="12700">
            <a:solidFill>
              <a:srgbClr val="1C3A5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05656" y="941832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ADC (16:03)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577840" y="941832"/>
            <a:ext cx="868680" cy="274320"/>
          </a:xfrm>
          <a:prstGeom prst="rect">
            <a:avLst/>
          </a:prstGeom>
          <a:solidFill>
            <a:srgbClr val="1C3A5E"/>
          </a:solidFill>
          <a:ln w="12700">
            <a:solidFill>
              <a:srgbClr val="1C3A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14416" y="941832"/>
            <a:ext cx="795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 (%)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492240" y="941832"/>
            <a:ext cx="2194560" cy="274320"/>
          </a:xfrm>
          <a:prstGeom prst="rect">
            <a:avLst/>
          </a:prstGeom>
          <a:solidFill>
            <a:srgbClr val="1C3A5E"/>
          </a:solidFill>
          <a:ln w="12700">
            <a:solidFill>
              <a:srgbClr val="1C3A5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28816" y="941832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Interprétation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1252728"/>
            <a:ext cx="914400" cy="338328"/>
          </a:xfrm>
          <a:prstGeom prst="rect">
            <a:avLst/>
          </a:prstGeom>
          <a:solidFill>
            <a:srgbClr val="D6E4F0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3776" y="1252728"/>
            <a:ext cx="84124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417320" y="1252728"/>
            <a:ext cx="1051560" cy="338328"/>
          </a:xfrm>
          <a:prstGeom prst="rect">
            <a:avLst/>
          </a:prstGeom>
          <a:solidFill>
            <a:srgbClr val="D6E4F0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453896" y="1252728"/>
            <a:ext cx="97840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mL/h/g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514600" y="1252728"/>
            <a:ext cx="1508760" cy="338328"/>
          </a:xfrm>
          <a:prstGeom prst="rect">
            <a:avLst/>
          </a:prstGeom>
          <a:solidFill>
            <a:srgbClr val="D6E4F0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551176" y="1252728"/>
            <a:ext cx="143560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43A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1.262e-03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069080" y="1252728"/>
            <a:ext cx="1463040" cy="338328"/>
          </a:xfrm>
          <a:prstGeom prst="rect">
            <a:avLst/>
          </a:prstGeom>
          <a:solidFill>
            <a:srgbClr val="D6E4F0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105656" y="1252728"/>
            <a:ext cx="138988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43A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1.435e-03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577840" y="1252728"/>
            <a:ext cx="868680" cy="338328"/>
          </a:xfrm>
          <a:prstGeom prst="rect">
            <a:avLst/>
          </a:prstGeom>
          <a:solidFill>
            <a:srgbClr val="D6E4F0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14416" y="1252728"/>
            <a:ext cx="7955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7E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+13.7%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492240" y="1252728"/>
            <a:ext cx="2194560" cy="338328"/>
          </a:xfrm>
          <a:prstGeom prst="rect">
            <a:avLst/>
          </a:prstGeom>
          <a:solidFill>
            <a:srgbClr val="D6E4F0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28816" y="1252728"/>
            <a:ext cx="212140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3A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ADC éliminé plus rapidement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45352" y="1335024"/>
            <a:ext cx="164592" cy="164592"/>
          </a:xfrm>
          <a:prstGeom prst="ellipse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57200" y="1627632"/>
            <a:ext cx="91440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3776" y="1627632"/>
            <a:ext cx="84124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1417320" y="1627632"/>
            <a:ext cx="105156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453896" y="1627632"/>
            <a:ext cx="97840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mL/g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2514600" y="1627632"/>
            <a:ext cx="150876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51176" y="1627632"/>
            <a:ext cx="143560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43A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4.397e-02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069080" y="1627632"/>
            <a:ext cx="146304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05656" y="1627632"/>
            <a:ext cx="138988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43A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4.501e-02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5577840" y="1627632"/>
            <a:ext cx="86868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14416" y="1627632"/>
            <a:ext cx="7955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7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+2.4%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492240" y="1627632"/>
            <a:ext cx="219456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528816" y="1627632"/>
            <a:ext cx="212140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3A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Distribution initiale identique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6245352" y="1709928"/>
            <a:ext cx="164592" cy="164592"/>
          </a:xfrm>
          <a:prstGeom prst="ellipse">
            <a:avLst/>
          </a:prstGeom>
          <a:solidFill>
            <a:srgbClr val="1A7A4A"/>
          </a:solidFill>
          <a:ln w="12700">
            <a:solidFill>
              <a:srgbClr val="1A7A4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57200" y="2002536"/>
            <a:ext cx="914400" cy="338328"/>
          </a:xfrm>
          <a:prstGeom prst="rect">
            <a:avLst/>
          </a:prstGeom>
          <a:solidFill>
            <a:srgbClr val="D6E4F0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93776" y="2002536"/>
            <a:ext cx="84124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1417320" y="2002536"/>
            <a:ext cx="1051560" cy="338328"/>
          </a:xfrm>
          <a:prstGeom prst="rect">
            <a:avLst/>
          </a:prstGeom>
          <a:solidFill>
            <a:srgbClr val="D6E4F0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453896" y="2002536"/>
            <a:ext cx="97840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mL/g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2514600" y="2002536"/>
            <a:ext cx="1508760" cy="338328"/>
          </a:xfrm>
          <a:prstGeom prst="rect">
            <a:avLst/>
          </a:prstGeom>
          <a:solidFill>
            <a:srgbClr val="D6E4F0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51176" y="2002536"/>
            <a:ext cx="143560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43A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3.522e-02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4069080" y="2002536"/>
            <a:ext cx="1463040" cy="338328"/>
          </a:xfrm>
          <a:prstGeom prst="rect">
            <a:avLst/>
          </a:prstGeom>
          <a:solidFill>
            <a:srgbClr val="D6E4F0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05656" y="2002536"/>
            <a:ext cx="138988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43A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2.620e-02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5577840" y="2002536"/>
            <a:ext cx="868680" cy="338328"/>
          </a:xfrm>
          <a:prstGeom prst="rect">
            <a:avLst/>
          </a:prstGeom>
          <a:solidFill>
            <a:srgbClr val="D6E4F0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614416" y="2002536"/>
            <a:ext cx="7955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7E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−25.6%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6492240" y="2002536"/>
            <a:ext cx="2194560" cy="338328"/>
          </a:xfrm>
          <a:prstGeom prst="rect">
            <a:avLst/>
          </a:prstGeom>
          <a:solidFill>
            <a:srgbClr val="D6E4F0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528816" y="2002536"/>
            <a:ext cx="212140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3A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Distribution 2e cpt plus faible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6245352" y="2084832"/>
            <a:ext cx="164592" cy="164592"/>
          </a:xfrm>
          <a:prstGeom prst="ellipse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57200" y="2377440"/>
            <a:ext cx="91440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93776" y="2377440"/>
            <a:ext cx="84124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1417320" y="2377440"/>
            <a:ext cx="105156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453896" y="2377440"/>
            <a:ext cx="97840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mL/h/g</a:t>
            </a:r>
            <a:endParaRPr lang="en-US" sz="1050" dirty="0"/>
          </a:p>
        </p:txBody>
      </p:sp>
      <p:sp>
        <p:nvSpPr>
          <p:cNvPr id="59" name="Shape 57"/>
          <p:cNvSpPr/>
          <p:nvPr/>
        </p:nvSpPr>
        <p:spPr>
          <a:xfrm>
            <a:off x="2514600" y="2377440"/>
            <a:ext cx="150876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2551176" y="2377440"/>
            <a:ext cx="143560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43A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8.783e-04</a:t>
            </a:r>
            <a:endParaRPr lang="en-US" sz="1050" dirty="0"/>
          </a:p>
        </p:txBody>
      </p:sp>
      <p:sp>
        <p:nvSpPr>
          <p:cNvPr id="61" name="Shape 59"/>
          <p:cNvSpPr/>
          <p:nvPr/>
        </p:nvSpPr>
        <p:spPr>
          <a:xfrm>
            <a:off x="4069080" y="2377440"/>
            <a:ext cx="146304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105656" y="2377440"/>
            <a:ext cx="138988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43A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4.530e-04</a:t>
            </a:r>
            <a:endParaRPr lang="en-US" sz="1050" dirty="0"/>
          </a:p>
        </p:txBody>
      </p:sp>
      <p:sp>
        <p:nvSpPr>
          <p:cNvPr id="63" name="Shape 61"/>
          <p:cNvSpPr/>
          <p:nvPr/>
        </p:nvSpPr>
        <p:spPr>
          <a:xfrm>
            <a:off x="5577840" y="2377440"/>
            <a:ext cx="86868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614416" y="2377440"/>
            <a:ext cx="7955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7E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−48.4%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6492240" y="2377440"/>
            <a:ext cx="219456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528816" y="2377440"/>
            <a:ext cx="212140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3A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Échange inter-cpt plus lent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6245352" y="2459736"/>
            <a:ext cx="164592" cy="164592"/>
          </a:xfrm>
          <a:prstGeom prst="ellipse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57200" y="2752344"/>
            <a:ext cx="914400" cy="338328"/>
          </a:xfrm>
          <a:prstGeom prst="rect">
            <a:avLst/>
          </a:prstGeom>
          <a:solidFill>
            <a:srgbClr val="D6E4F0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93776" y="2752344"/>
            <a:ext cx="84124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t½β</a:t>
            </a:r>
            <a:endParaRPr lang="en-US" sz="1050" dirty="0"/>
          </a:p>
        </p:txBody>
      </p:sp>
      <p:sp>
        <p:nvSpPr>
          <p:cNvPr id="70" name="Shape 68"/>
          <p:cNvSpPr/>
          <p:nvPr/>
        </p:nvSpPr>
        <p:spPr>
          <a:xfrm>
            <a:off x="1417320" y="2752344"/>
            <a:ext cx="1051560" cy="338328"/>
          </a:xfrm>
          <a:prstGeom prst="rect">
            <a:avLst/>
          </a:prstGeom>
          <a:solidFill>
            <a:srgbClr val="D6E4F0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53896" y="2752344"/>
            <a:ext cx="97840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endParaRPr lang="en-US" sz="1050" dirty="0"/>
          </a:p>
        </p:txBody>
      </p:sp>
      <p:sp>
        <p:nvSpPr>
          <p:cNvPr id="72" name="Shape 70"/>
          <p:cNvSpPr/>
          <p:nvPr/>
        </p:nvSpPr>
        <p:spPr>
          <a:xfrm>
            <a:off x="2514600" y="2752344"/>
            <a:ext cx="1508760" cy="338328"/>
          </a:xfrm>
          <a:prstGeom prst="rect">
            <a:avLst/>
          </a:prstGeom>
          <a:solidFill>
            <a:srgbClr val="D6E4F0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2551176" y="2752344"/>
            <a:ext cx="143560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43A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60.1</a:t>
            </a:r>
            <a:endParaRPr lang="en-US" sz="1050" dirty="0"/>
          </a:p>
        </p:txBody>
      </p:sp>
      <p:sp>
        <p:nvSpPr>
          <p:cNvPr id="74" name="Shape 72"/>
          <p:cNvSpPr/>
          <p:nvPr/>
        </p:nvSpPr>
        <p:spPr>
          <a:xfrm>
            <a:off x="4069080" y="2752344"/>
            <a:ext cx="1463040" cy="338328"/>
          </a:xfrm>
          <a:prstGeom prst="rect">
            <a:avLst/>
          </a:prstGeom>
          <a:solidFill>
            <a:srgbClr val="D6E4F0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4105656" y="2752344"/>
            <a:ext cx="138988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43A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59.9</a:t>
            </a:r>
            <a:endParaRPr lang="en-US" sz="1050" dirty="0"/>
          </a:p>
        </p:txBody>
      </p:sp>
      <p:sp>
        <p:nvSpPr>
          <p:cNvPr id="76" name="Shape 74"/>
          <p:cNvSpPr/>
          <p:nvPr/>
        </p:nvSpPr>
        <p:spPr>
          <a:xfrm>
            <a:off x="5577840" y="2752344"/>
            <a:ext cx="868680" cy="338328"/>
          </a:xfrm>
          <a:prstGeom prst="rect">
            <a:avLst/>
          </a:prstGeom>
          <a:solidFill>
            <a:srgbClr val="D6E4F0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5614416" y="2752344"/>
            <a:ext cx="7955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7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−0.3%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6492240" y="2752344"/>
            <a:ext cx="2194560" cy="338328"/>
          </a:xfrm>
          <a:prstGeom prst="rect">
            <a:avLst/>
          </a:prstGeom>
          <a:solidFill>
            <a:srgbClr val="D6E4F0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6528816" y="2752344"/>
            <a:ext cx="212140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3A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Demi-vie terminale identique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6245352" y="2834640"/>
            <a:ext cx="164592" cy="164592"/>
          </a:xfrm>
          <a:prstGeom prst="ellipse">
            <a:avLst/>
          </a:prstGeom>
          <a:solidFill>
            <a:srgbClr val="1A7A4A"/>
          </a:solidFill>
          <a:ln w="12700">
            <a:solidFill>
              <a:srgbClr val="1A7A4A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457200" y="3127248"/>
            <a:ext cx="91440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493776" y="3127248"/>
            <a:ext cx="84124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Vss</a:t>
            </a:r>
            <a:endParaRPr lang="en-US" sz="1050" dirty="0"/>
          </a:p>
        </p:txBody>
      </p:sp>
      <p:sp>
        <p:nvSpPr>
          <p:cNvPr id="83" name="Shape 81"/>
          <p:cNvSpPr/>
          <p:nvPr/>
        </p:nvSpPr>
        <p:spPr>
          <a:xfrm>
            <a:off x="1417320" y="3127248"/>
            <a:ext cx="105156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1453896" y="3127248"/>
            <a:ext cx="97840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mL/g</a:t>
            </a:r>
            <a:endParaRPr lang="en-US" sz="1050" dirty="0"/>
          </a:p>
        </p:txBody>
      </p:sp>
      <p:sp>
        <p:nvSpPr>
          <p:cNvPr id="85" name="Shape 83"/>
          <p:cNvSpPr/>
          <p:nvPr/>
        </p:nvSpPr>
        <p:spPr>
          <a:xfrm>
            <a:off x="2514600" y="3127248"/>
            <a:ext cx="150876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2551176" y="3127248"/>
            <a:ext cx="143560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43A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7.919e-02</a:t>
            </a:r>
            <a:endParaRPr lang="en-US" sz="1050" dirty="0"/>
          </a:p>
        </p:txBody>
      </p:sp>
      <p:sp>
        <p:nvSpPr>
          <p:cNvPr id="87" name="Shape 85"/>
          <p:cNvSpPr/>
          <p:nvPr/>
        </p:nvSpPr>
        <p:spPr>
          <a:xfrm>
            <a:off x="4069080" y="3127248"/>
            <a:ext cx="146304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105656" y="3127248"/>
            <a:ext cx="138988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43A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7.121e-02</a:t>
            </a:r>
            <a:endParaRPr lang="en-US" sz="1050" dirty="0"/>
          </a:p>
        </p:txBody>
      </p:sp>
      <p:sp>
        <p:nvSpPr>
          <p:cNvPr id="89" name="Shape 87"/>
          <p:cNvSpPr/>
          <p:nvPr/>
        </p:nvSpPr>
        <p:spPr>
          <a:xfrm>
            <a:off x="5577840" y="3127248"/>
            <a:ext cx="86868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614416" y="3127248"/>
            <a:ext cx="7955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7E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−10.1%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6492240" y="3127248"/>
            <a:ext cx="219456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6528816" y="3127248"/>
            <a:ext cx="212140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3A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Volume distribué légèrement ↓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6245352" y="3209544"/>
            <a:ext cx="164592" cy="164592"/>
          </a:xfrm>
          <a:prstGeom prst="ellipse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457200" y="3502152"/>
            <a:ext cx="914400" cy="338328"/>
          </a:xfrm>
          <a:prstGeom prst="rect">
            <a:avLst/>
          </a:prstGeom>
          <a:solidFill>
            <a:srgbClr val="D6E4F0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493776" y="3502152"/>
            <a:ext cx="84124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AIC</a:t>
            </a:r>
            <a:endParaRPr lang="en-US" sz="1050" dirty="0"/>
          </a:p>
        </p:txBody>
      </p:sp>
      <p:sp>
        <p:nvSpPr>
          <p:cNvPr id="96" name="Shape 94"/>
          <p:cNvSpPr/>
          <p:nvPr/>
        </p:nvSpPr>
        <p:spPr>
          <a:xfrm>
            <a:off x="1417320" y="3502152"/>
            <a:ext cx="1051560" cy="338328"/>
          </a:xfrm>
          <a:prstGeom prst="rect">
            <a:avLst/>
          </a:prstGeom>
          <a:solidFill>
            <a:srgbClr val="D6E4F0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1453896" y="3502152"/>
            <a:ext cx="97840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98" name="Shape 96"/>
          <p:cNvSpPr/>
          <p:nvPr/>
        </p:nvSpPr>
        <p:spPr>
          <a:xfrm>
            <a:off x="2514600" y="3502152"/>
            <a:ext cx="1508760" cy="338328"/>
          </a:xfrm>
          <a:prstGeom prst="rect">
            <a:avLst/>
          </a:prstGeom>
          <a:solidFill>
            <a:srgbClr val="D6E4F0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2551176" y="3502152"/>
            <a:ext cx="143560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43A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−45.4</a:t>
            </a:r>
            <a:endParaRPr lang="en-US" sz="1050" dirty="0"/>
          </a:p>
        </p:txBody>
      </p:sp>
      <p:sp>
        <p:nvSpPr>
          <p:cNvPr id="100" name="Shape 98"/>
          <p:cNvSpPr/>
          <p:nvPr/>
        </p:nvSpPr>
        <p:spPr>
          <a:xfrm>
            <a:off x="4069080" y="3502152"/>
            <a:ext cx="1463040" cy="338328"/>
          </a:xfrm>
          <a:prstGeom prst="rect">
            <a:avLst/>
          </a:prstGeom>
          <a:solidFill>
            <a:srgbClr val="D6E4F0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4105656" y="3502152"/>
            <a:ext cx="138988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43A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−37.4</a:t>
            </a:r>
            <a:endParaRPr lang="en-US" sz="1050" dirty="0"/>
          </a:p>
        </p:txBody>
      </p:sp>
      <p:sp>
        <p:nvSpPr>
          <p:cNvPr id="102" name="Shape 100"/>
          <p:cNvSpPr/>
          <p:nvPr/>
        </p:nvSpPr>
        <p:spPr>
          <a:xfrm>
            <a:off x="5577840" y="3502152"/>
            <a:ext cx="868680" cy="338328"/>
          </a:xfrm>
          <a:prstGeom prst="rect">
            <a:avLst/>
          </a:prstGeom>
          <a:solidFill>
            <a:srgbClr val="D6E4F0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5614416" y="3502152"/>
            <a:ext cx="7955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86A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1000" dirty="0"/>
          </a:p>
        </p:txBody>
      </p:sp>
      <p:sp>
        <p:nvSpPr>
          <p:cNvPr id="104" name="Shape 102"/>
          <p:cNvSpPr/>
          <p:nvPr/>
        </p:nvSpPr>
        <p:spPr>
          <a:xfrm>
            <a:off x="6492240" y="3502152"/>
            <a:ext cx="2194560" cy="338328"/>
          </a:xfrm>
          <a:prstGeom prst="rect">
            <a:avLst/>
          </a:prstGeom>
          <a:solidFill>
            <a:srgbClr val="D6E4F0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6528816" y="3502152"/>
            <a:ext cx="212140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3A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 mieux contraint (N+2 obs)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365760" y="4370832"/>
            <a:ext cx="8366760" cy="475488"/>
          </a:xfrm>
          <a:prstGeom prst="rect">
            <a:avLst/>
          </a:prstGeom>
          <a:solidFill>
            <a:srgbClr val="D6E4F0">
              <a:alpha val="80000"/>
            </a:srgbClr>
          </a:solidFill>
          <a:ln w="12700">
            <a:solidFill>
              <a:srgbClr val="2E86AB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548640" y="4425696"/>
            <a:ext cx="8138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1C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: t½β identique pour TAb et ADC (~60h) → la conjugaison ne modifie pas la demi-vie terminale. CL ADC légèrement supérieure, cohérent avec déconjugaison partielle in vivo.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C3A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2926080"/>
            <a:ext cx="3657600" cy="3657600"/>
          </a:xfrm>
          <a:prstGeom prst="ellipse">
            <a:avLst/>
          </a:prstGeom>
          <a:solidFill>
            <a:srgbClr val="2E86AB">
              <a:alpha val="15000"/>
            </a:srgbClr>
          </a:solidFill>
          <a:ln w="12700">
            <a:solidFill>
              <a:srgbClr val="2E86A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Conclusions PK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005840"/>
            <a:ext cx="658368" cy="320040"/>
          </a:xfrm>
          <a:prstGeom prst="rect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005840"/>
            <a:ext cx="6583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3A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2920" y="138988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Modèle 2-cpt retenu — ΔAIC = 35 points vs 1-cpt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170992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CL = 1.26e-03 mL/h/g · t½β = 60h · %RSE CL = 9.7% (précis)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02920" y="202996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Profil anticorps typique — distribution limitée, élimination lente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2304288"/>
            <a:ext cx="658368" cy="320040"/>
          </a:xfrm>
          <a:prstGeom prst="rect">
            <a:avLst/>
          </a:prstGeom>
          <a:solidFill>
            <a:srgbClr val="D7BDE2"/>
          </a:solidFill>
          <a:ln w="12700">
            <a:solidFill>
              <a:srgbClr val="D7BDE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304288"/>
            <a:ext cx="6583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3A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ADC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02920" y="2688336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Modèle 2-cpt retenu — ΔAIC = 43 points vs 1-cpt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02920" y="3008376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CL ADC (+14%) et V2 ADC (−26%) vs TAb — payload modifie la distribution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02920" y="3328416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t½β identique (~60h) → cinétique terminale gouvernée par l'anticorps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" y="3602736"/>
            <a:ext cx="658368" cy="320040"/>
          </a:xfrm>
          <a:prstGeom prst="rect">
            <a:avLst/>
          </a:prstGeom>
          <a:solidFill>
            <a:srgbClr val="A8DADC"/>
          </a:solidFill>
          <a:ln w="12700">
            <a:solidFill>
              <a:srgbClr val="A8DA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3602736"/>
            <a:ext cx="6583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3A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02920" y="3986784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La conjugaison conserve la demi-vie terminale — expositions similaires TAb/ADC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2026-07-30T14:17:08Z</dcterms:created>
  <dcterms:modified xsi:type="dcterms:W3CDTF">2026-07-30T14:17:08Z</dcterms:modified>
</cp:coreProperties>
</file>