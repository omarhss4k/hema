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E86AB">
              <a:alpha val="7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PK/PD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Fc-silent FGFR2-huBPA-LP1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SNU — Xénogreffe souris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30175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Pharmacocinétique (PK)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2971800"/>
            <a:ext cx="301752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971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TGI — Simeoni (2004)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A8DADC">
              <a:alpha val="25000"/>
            </a:srgbClr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Pharmacocinétique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· Modèle · Résultats · Paramètres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PK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expérimental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081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84832" y="14081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 — IV bolus dose unique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18928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 / 3.5 / 5.9 / 11.8 mg/kg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observations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377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points (4 groupes)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437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862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8620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672h (28 jours)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2841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34670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— dosage ELISA/LC-MS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130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8313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Unités 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84832" y="38313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: mg/kg | Conc : µg/mL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4069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875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&amp; concentrations initiales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389888"/>
            <a:ext cx="10515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898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1389888"/>
            <a:ext cx="12801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(mg/kg)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1389888"/>
            <a:ext cx="137160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(µg/mL)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1691640"/>
            <a:ext cx="105156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6916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1691640"/>
            <a:ext cx="128016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691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1691640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1691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0756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0756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7880" y="207568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2075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23760" y="207568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2075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2459736"/>
            <a:ext cx="105156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4597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97880" y="2459736"/>
            <a:ext cx="128016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2459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2459736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2459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284378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28437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97880" y="284378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2843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284378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2843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167.8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Concentrations divisées par 1000 (ng/mL → µg/mL) pour présentation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PK — 2 compartiments IV bolus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2560320" cy="137160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(V1)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051560"/>
            <a:ext cx="2560320" cy="1371600"/>
          </a:xfrm>
          <a:prstGeom prst="rect">
            <a:avLst/>
          </a:prstGeom>
          <a:solidFill>
            <a:srgbClr val="D6E4F0">
              <a:alpha val="60000"/>
            </a:srgbClr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051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Périphérique (V2)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353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" y="14813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IV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32104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dA1/dt  =  -(CL/V1 + Q/V1) · A1  +  (Q/V2) · A2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dA2/dt  =   (Q/V1) · A1  -  (Q/V2) · A2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C1(t)  =  A1(t) / V1          [Concentration plasmatique]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 initiales :  A1(0) = Dose,  A2(0) =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: AIC 2-cpt (−59.8) &lt;&lt; AIC 1-cpt (−14.4)  →  modèle 2 compartiments retenu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PK estimés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1188720" cy="29260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987552"/>
            <a:ext cx="1188720" cy="29260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987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987552"/>
            <a:ext cx="1371600" cy="29260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9875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987552"/>
            <a:ext cx="914400" cy="29260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987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307592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07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1307592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307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7.318e-04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1307592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3075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1307592"/>
            <a:ext cx="9144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3075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691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169164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1691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7.413e-02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169164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691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1691640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691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075688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0756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91640" y="2075688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0756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1.404e-01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2075688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2075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2075688"/>
            <a:ext cx="9144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20756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45973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459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91640" y="245973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2459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1.343e-03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245973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459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mL/h/g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2459736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4597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843784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843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alpha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691640" y="2843784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2843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26080" y="2843784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2843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43400" y="2843784"/>
            <a:ext cx="9144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8437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22783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3227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beta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691640" y="322783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3227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926080" y="322783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71800" y="32278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343400" y="322783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227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3611880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691640" y="3611880"/>
            <a:ext cx="118872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736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2.145e-01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926080" y="3611880"/>
            <a:ext cx="13716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71800" y="3611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343400" y="3611880"/>
            <a:ext cx="9144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611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623560" y="914400"/>
            <a:ext cx="3108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978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fit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7607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2-cpt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40664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−59.8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76072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2-cpt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40664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−55.1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760720" y="2002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1-cpt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406640" y="2002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−14.4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76072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406640" y="2340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623560" y="2926080"/>
            <a:ext cx="3108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0" y="2990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760720" y="3337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t½β = 255h (~10.6j)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5760720" y="3675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Vss faible → distribution limitée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5760720" y="40142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 basse → anticorps typique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760720" y="4352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%RSE V1/V2 élevé → normal 2-cpt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TGI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Simeoni (2004) — Xénogreffe SNU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· Données · Résultats · Paramètres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TGI — Simeoni (2004)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78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Équations ODE — Compartiments de transit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dx1/dt = [g(w)/w − k2·C1] · x1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82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dx2/dt =  k2·C1·x1 − k1·x2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dx3/dt =  k1·x2 − k1·x3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dx4/dt =  k1·x3 − k1·x4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g(w) = L0·w / (1 + (L0·w/L1)²⁰)^(1/20)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x1 + x2 + x3 + x4   [volume tumoral total]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31546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9784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modèle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362456"/>
            <a:ext cx="256032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36245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16752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93408" y="13258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16752" y="15819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exponentielle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1746504"/>
            <a:ext cx="256032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74650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6752" y="17099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3408" y="17099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mm³/j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6752" y="19659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croissance linéaire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130552"/>
            <a:ext cx="256032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1305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16752" y="20939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93408" y="2093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23500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transit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2514600"/>
            <a:ext cx="256032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51460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16752" y="2478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3408" y="2478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L/µg/j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16752" y="27340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cytotoxicité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15000" y="2898648"/>
            <a:ext cx="256032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2898648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16752" y="28620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28620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31181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L0/k2 (dérivé)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15000" y="3282696"/>
            <a:ext cx="256032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28269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6752" y="32461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93408" y="3246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16752" y="350215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4/k1 (dérivé)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913632"/>
            <a:ext cx="8321040" cy="868680"/>
          </a:xfrm>
          <a:prstGeom prst="rect">
            <a:avLst/>
          </a:prstGeom>
          <a:solidFill>
            <a:srgbClr val="D6E4F0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séquentiel 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 → L0, L1 sur véhicule seul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97680" y="42702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B → k1, k2 sur groupes traités (L0/L1 fixés)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3995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 : DEoptim (global) + nlminb (local)  |  Coût : Σ Wᵢ × Σ (1/SEMᵢₜ²) × (log obs − log pred)²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tumorales utilisées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78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expérimentaux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6868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32588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325880"/>
            <a:ext cx="109728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13258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73736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132588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TGI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1005840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3258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W_DOSES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86868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6459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1645920"/>
            <a:ext cx="109728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16459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1645920"/>
            <a:ext cx="173736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6459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basale (Étape 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645920"/>
            <a:ext cx="100584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6459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868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1031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2103120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8176" y="2103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mg/kg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2103120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1031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Affiché — exclu du fit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2103120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21031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"/>
            <a:ext cx="86868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25603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2560320"/>
            <a:ext cx="109728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" y="25603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mg/kg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14600" y="2560320"/>
            <a:ext cx="173736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25603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prioritaire (Étape B)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2560320"/>
            <a:ext cx="1005840" cy="402336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34256" y="25603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017520"/>
            <a:ext cx="868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3017520"/>
            <a:ext cx="795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0" y="3017520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8176" y="30175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mg/kg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14600" y="3017520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51176" y="30175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partiel (Étape B)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3017520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4256" y="30175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3730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36192" y="3730752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 → J49 (véhicule/1.2: J0–J28)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0050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536192" y="4005072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tumoral moyen ± SEM (mm³)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427939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536192" y="4279392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TALL — 2 blocs (moy + SEM)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45537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TV0 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536192" y="4553712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mm³ (tous groupes, J0)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77840" y="914400"/>
            <a:ext cx="315468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978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modélisation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15000" y="1408176"/>
            <a:ext cx="256032" cy="2560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350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 pour 1.2 mg/kg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35040" y="1664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Cmax/TSC = 2.1 — effet trop faible pour contraindre k2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15000" y="2249424"/>
            <a:ext cx="256032" cy="2560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2249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0350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0.1 pour 11.8 mg/kg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035040" y="25054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k2 ne peut fitter toutes les doses optimalement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15000" y="3090672"/>
            <a:ext cx="256032" cy="2560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3054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SEM manquants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035040" y="3346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J28 véhicule : SEM absent → exclu du fit (biais 1/1²)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715000" y="3931920"/>
            <a:ext cx="256032" cy="2560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15000" y="3931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03504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des courbes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03504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simulées stoppées au dernier point observé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TGI — Ajustement Simeoni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49808"/>
            <a:ext cx="658368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86600" y="1051560"/>
            <a:ext cx="109728" cy="64008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42048" y="1051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 : croissance Gompertz — L0/L1 estimés (Étape A)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086600" y="2011680"/>
            <a:ext cx="10972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42048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mg/kg : prédit seulement (W=0), Cmax/TSC=2.1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086600" y="2971800"/>
            <a:ext cx="109728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42048" y="2971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mg/kg : fit prioritaire (W=1) — bon accord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086600" y="3931920"/>
            <a:ext cx="109728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3931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mg/kg : suppression totale — acceptable biologiquement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TGI estimés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548640" cy="5486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 — Croissance (véhicule)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0.1253 /j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Doublement tumoral = 5.5 j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928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1 372 mm³/j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89280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de croissance linéaire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690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960120"/>
            <a:ext cx="548640" cy="54864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960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1005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B — Efficacité (traités)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8112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0.2274 /j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transit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8196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17.6 j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819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4/k1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579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2157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7 927 µg/L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157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seuil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4963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1.58e-05 L/µg/j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L0/TSC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44368"/>
            <a:ext cx="83667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Cmax/TSC par groupe — indicateur d'efficacité pharmacologique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3375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417320" y="3337560"/>
            <a:ext cx="105156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44752" y="333756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14600" y="3337560"/>
            <a:ext cx="128016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33756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(µg/L)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3337560"/>
            <a:ext cx="123444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67912" y="33375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(µg/L)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20640" y="3337560"/>
            <a:ext cx="9144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333756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Cmax/TSC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3337560"/>
            <a:ext cx="2514600" cy="256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333756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621024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" y="362102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417320" y="3621024"/>
            <a:ext cx="105156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44752" y="3621024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mg/kg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3621024"/>
            <a:ext cx="128016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362102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16 784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40480" y="3621024"/>
            <a:ext cx="123444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67912" y="3621024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7 927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0" y="3621024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8072" y="362102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0760" y="3621024"/>
            <a:ext cx="25146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3621024"/>
            <a:ext cx="2459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limité — exclu du fit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895344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" y="389534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417320" y="3895344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44752" y="3895344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mg/kg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14600" y="3895344"/>
            <a:ext cx="12801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389534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66 547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840480" y="3895344"/>
            <a:ext cx="12344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67912" y="3895344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7 927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20640" y="3895344"/>
            <a:ext cx="9144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48072" y="389534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8.4×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3895344"/>
            <a:ext cx="2514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08192" y="3895344"/>
            <a:ext cx="2459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Efficace — fit prioritaire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4169664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" y="416966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 7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417320" y="4169664"/>
            <a:ext cx="105156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444752" y="4169664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mg/kg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514600" y="4169664"/>
            <a:ext cx="128016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42032" y="416966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167 844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840480" y="4169664"/>
            <a:ext cx="123444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67912" y="4169664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7 927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120640" y="4169664"/>
            <a:ext cx="9144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48072" y="416966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21.2×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080760" y="4169664"/>
            <a:ext cx="2514600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08192" y="4169664"/>
            <a:ext cx="2459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totale observée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731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Modèle 2 compartiments retenu (ΔAIC = 45 points vs 1-cpt)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t½β = 255h (~10.6j) — profil anticorps typique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Paramètres précis : %RSE CL = 17.6%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731520" cy="34747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632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TGI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50215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L0 = 0.125/j → doublement tumoral 5.5j (croissance rapide)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TSC = 7 927 µg/L → tous les groupes &gt; TSC (Cmax/TSC : 2.1×–21.2×)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2702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MTT = 17.6j → délai d'action pharmacologique attendu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2026-07-30T10:07:11Z</dcterms:created>
  <dcterms:modified xsi:type="dcterms:W3CDTF">2026-07-30T10:07:11Z</dcterms:modified>
</cp:coreProperties>
</file>